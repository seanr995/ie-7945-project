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3 turns individual work tasks into a taxonomy - a set of task topics. We started from 3,015 validated atomic tasks extracted from real job postings, turned them into semantic representations, and tried several clustering methods. The important twist is in the middle of this flow: before choosing a final method, we stopped and questioned an assumption most clustering work makes silently - that you decide the number of topics in advance. So Sprint 3 answers two questions: how should tasks be grouped, and how many groups should there be. Everything that follows is about answering the second question honestly so that the first one can be answered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went in. 188 real job postings gave us 3,015 deduplicated task statements, each one tied back to the posting text it came from. We represented every task with two different embedding models, Sentence-T5 and E5, so the result would not depend on a single model. One thing we deliberately kept out: O*NET. We did not use O*NET to build or label any topic. That matters because if we had, we would just be copying an existing taxonomy. Instead, the topics come from how employers actually describe work, and O*NET is saved for Sprint 4 as an independent reference to compare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our thinking changed. First we ran a controlled two-by-two: two embedding models crossed with K-Means and HDBSCAN. Then we added three stronger challengers: BERTopic, Leiden graph communities, and a Gaussian Mixture Model. The key lesson is in the amber box. Our earlier best result was K-Means with k equal to 100 - but K-Means only produces 100 topics because we tell it to. That number was an input, not a discovery. On top of that, every K-Means run was unstable when we re-ran it on slightly different data, and HDBSCAN collapsed into almost no clusters with mostly noise. So instead of picking a number, we used agentic discovery to find a principled granularity - it suggested 80 - and then compared all methods fairly around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agentic discovery process. Claude did not read and label all 3,015 tasks one by one - that would be expensive and unnecessary. The embeddings did the repetitive work: sampling a diverse set of tasks, retrieving similar ones, and assigning the clear cases automatically. Claude was used only where real judgement was needed: naming and defining types of work, resolving ambiguous tasks, and deciding whether topics should be merged, split or refined. Claude directly decided 139 tasks; embeddings handled the rest. We never told it how many topics to produce - it arrived at 80. The whole process stayed inside a hard budget: 19 of 20 Claude calls. One honest note: it stopped at its refinement-round limit rather than fully converging. And the key point in the box: agentic discovery is not the winner here - its value was giving us a defensible number of topics instead of an arbitrary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Every method is compared at the same granularity, about 80 topics, so nobody wins just by having more or fewer topics. Read it column by column; darker means better. Coverage is how many tasks get a topic. Stability is whether we get the same grouping when we re-run on 80 percent of the data - if a taxonomy changes every time you re-run it, nobody can rely on it. Persistence asks the same question topic by topic: what share of topics survive resampling. Paraphrase kappa checks something very practical: when Gemini and Groq described the same task in different words, do both wordings land in the same topic? That tells us topics follow meaning, not phrasing. Agentic and hybrid are the most stable, but 41 percent of their topics are tiny, which failed our quality check. K-Means and GMM have slightly higher cohesion, but they are much less stable. BERTopic leaves 27 percent of tasks as outliers, and HDBSCAN collapsed to three clusters. Leiden is the only one strong on everything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recommendation is Sentence-T5 with Leiden, at 80 topics. It covers every task, it is stable when re-run, 70 percent of its topics persist under resampling, it has the strongest paraphrase consistency at 0.80, and its cohesion is in a useful range. Why not pick the method with the highest cohesion? Because cohesion goes up almost automatically when you make topics smaller or more numerous, and the cohesive methods were the unstable ones - a tight but unrepeatable grouping is not a usable taxonomy. Only two of eleven candidates passed every check, both Leiden, and the 80-topic version kept more of its topics. And agentic discovery still mattered: without it, we would have compared methods at an arbitrary number like 100. It gave us 80 as a principled starting point, which is exactly where Leiden performed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Sprint 3: 3,015 tasks, represented with Sentence-T5, grouped with Leiden into 80 leaf task topics. But I want to be clear about the status. This is methodologically selected, not yet frozen. All our metrics are internal - they show the structure is stable and consistent, but they cannot show that a human would agree each topic is a coherent type of work. That is why a 66-task human review sample is prepared, with the human fields blank. Once that review is done, Sprint 4 builds on these 80 leaf topics: we name and describe each topic, build the parent hierarchy above them, and only then compare against O*NET as an external reference, followed by another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2"/>
                </a:solidFill>
              </a:rPr>
              <a:t>Sprint 3 · Task taxonomy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Sprint 3: From Atomic Tasks to a Task Taxonomy</a:t>
            </a:r>
            <a:endParaRPr lang="en-US" sz="3400" dirty="0"/>
          </a:p>
        </p:txBody>
      </p:sp>
      <p:sp>
        <p:nvSpPr>
          <p:cNvPr id="3" name="text_1"/>
          <p:cNvSpPr txBox="1"/>
          <p:nvPr/>
        </p:nvSpPr>
        <p:spPr>
          <a:xfrm>
            <a:off x="548640" y="1097280"/>
            <a:ext cx="10972800" cy="411480"/>
          </a:xfrm>
          <a:prstGeom prst="rect">
            <a:avLst/>
          </a:prstGeom>
          <a:noFill/>
          <a:ln/>
        </p:spPr>
        <p:txBody>
          <a:bodyPr wrap="square" lIns="0" tIns="0" rIns="0" bIns="0" rtlCol="0" anchor="ctr"/>
          <a:lstStyle/>
          <a:p>
            <a:pPr algn="l" indent="0" marL="0">
              <a:buNone/>
            </a:pPr>
            <a:r>
              <a:rPr lang="en-US" sz="1800" dirty="0">
                <a:solidFill>
                  <a:schemeClr val="accent2"/>
                </a:solidFill>
              </a:rPr>
              <a:t>Workhuman Taxonomy of Work · IE7945 Capstone</a:t>
            </a:r>
            <a:endParaRPr lang="en-US" sz="1800" dirty="0"/>
          </a:p>
        </p:txBody>
      </p:sp>
      <p:sp>
        <p:nvSpPr>
          <p:cNvPr id="4" name="card_2"/>
          <p:cNvSpPr/>
          <p:nvPr/>
        </p:nvSpPr>
        <p:spPr>
          <a:xfrm>
            <a:off x="548640" y="2240280"/>
            <a:ext cx="1627632" cy="1417320"/>
          </a:xfrm>
          <a:prstGeom prst="roundRect">
            <a:avLst>
              <a:gd name="adj" fmla="val 5161"/>
            </a:avLst>
          </a:prstGeom>
          <a:solidFill>
            <a:srgbClr val="EEF6F5"/>
          </a:solidFill>
          <a:ln/>
        </p:spPr>
      </p:sp>
      <p:sp>
        <p:nvSpPr>
          <p:cNvPr id="5" name="badge_3"/>
          <p:cNvSpPr/>
          <p:nvPr/>
        </p:nvSpPr>
        <p:spPr>
          <a:xfrm>
            <a:off x="1152144" y="2029968"/>
            <a:ext cx="420624" cy="420624"/>
          </a:xfrm>
          <a:prstGeom prst="ellipse">
            <a:avLst/>
          </a:prstGeom>
          <a:solidFill>
            <a:schemeClr val="accent1"/>
          </a:solidFill>
          <a:ln/>
        </p:spPr>
      </p:sp>
      <p:sp>
        <p:nvSpPr>
          <p:cNvPr id="6" name="text_4"/>
          <p:cNvSpPr txBox="1"/>
          <p:nvPr/>
        </p:nvSpPr>
        <p:spPr>
          <a:xfrm>
            <a:off x="1152144" y="20299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_5"/>
          <p:cNvSpPr txBox="1"/>
          <p:nvPr/>
        </p:nvSpPr>
        <p:spPr>
          <a:xfrm>
            <a:off x="640080" y="2514600"/>
            <a:ext cx="1444752" cy="1051560"/>
          </a:xfrm>
          <a:prstGeom prst="rect">
            <a:avLst/>
          </a:prstGeom>
          <a:noFill/>
          <a:ln/>
        </p:spPr>
        <p:txBody>
          <a:bodyPr wrap="square" lIns="1016" tIns="1016" rIns="1016" bIns="1016" rtlCol="0" anchor="ctr"/>
          <a:lstStyle/>
          <a:p>
            <a:pPr algn="ctr" indent="0" marL="0">
              <a:buNone/>
            </a:pPr>
            <a:r>
              <a:rPr lang="en-US" sz="1600" b="1" dirty="0">
                <a:solidFill>
                  <a:schemeClr val="tx1"/>
                </a:solidFill>
              </a:rPr>
              <a:t>3,015 validated atomic tasks</a:t>
            </a:r>
            <a:endParaRPr lang="en-US" sz="1600" dirty="0"/>
          </a:p>
        </p:txBody>
      </p:sp>
      <p:sp>
        <p:nvSpPr>
          <p:cNvPr id="8" name="arrow_6"/>
          <p:cNvSpPr/>
          <p:nvPr/>
        </p:nvSpPr>
        <p:spPr>
          <a:xfrm>
            <a:off x="2212848" y="2948940"/>
            <a:ext cx="210312" cy="914"/>
          </a:xfrm>
          <a:prstGeom prst="line">
            <a:avLst/>
          </a:prstGeom>
          <a:noFill/>
          <a:ln w="25400">
            <a:solidFill>
              <a:srgbClr val="64748B"/>
            </a:solidFill>
            <a:prstDash val="solid"/>
            <a:tailEnd type="triangle"/>
          </a:ln>
        </p:spPr>
      </p:sp>
      <p:sp>
        <p:nvSpPr>
          <p:cNvPr id="9" name="card_7"/>
          <p:cNvSpPr/>
          <p:nvPr/>
        </p:nvSpPr>
        <p:spPr>
          <a:xfrm>
            <a:off x="2459736" y="2240280"/>
            <a:ext cx="1627632" cy="1417320"/>
          </a:xfrm>
          <a:prstGeom prst="roundRect">
            <a:avLst>
              <a:gd name="adj" fmla="val 5161"/>
            </a:avLst>
          </a:prstGeom>
          <a:solidFill>
            <a:srgbClr val="EEF6F5"/>
          </a:solidFill>
          <a:ln/>
        </p:spPr>
      </p:sp>
      <p:sp>
        <p:nvSpPr>
          <p:cNvPr id="10" name="badge_8"/>
          <p:cNvSpPr/>
          <p:nvPr/>
        </p:nvSpPr>
        <p:spPr>
          <a:xfrm>
            <a:off x="3063240" y="2029968"/>
            <a:ext cx="420624" cy="420624"/>
          </a:xfrm>
          <a:prstGeom prst="ellipse">
            <a:avLst/>
          </a:prstGeom>
          <a:solidFill>
            <a:schemeClr val="accent1"/>
          </a:solidFill>
          <a:ln/>
        </p:spPr>
      </p:sp>
      <p:sp>
        <p:nvSpPr>
          <p:cNvPr id="11" name="text_9"/>
          <p:cNvSpPr txBox="1"/>
          <p:nvPr/>
        </p:nvSpPr>
        <p:spPr>
          <a:xfrm>
            <a:off x="3063240" y="20299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_10"/>
          <p:cNvSpPr txBox="1"/>
          <p:nvPr/>
        </p:nvSpPr>
        <p:spPr>
          <a:xfrm>
            <a:off x="2551176" y="2514600"/>
            <a:ext cx="1444752" cy="1051560"/>
          </a:xfrm>
          <a:prstGeom prst="rect">
            <a:avLst/>
          </a:prstGeom>
          <a:noFill/>
          <a:ln/>
        </p:spPr>
        <p:txBody>
          <a:bodyPr wrap="square" lIns="1016" tIns="1016" rIns="1016" bIns="1016" rtlCol="0" anchor="ctr"/>
          <a:lstStyle/>
          <a:p>
            <a:pPr algn="ctr" indent="0" marL="0">
              <a:buNone/>
            </a:pPr>
            <a:r>
              <a:rPr lang="en-US" sz="1600" b="1" dirty="0">
                <a:solidFill>
                  <a:schemeClr val="tx1"/>
                </a:solidFill>
              </a:rPr>
              <a:t>Semantic representations</a:t>
            </a:r>
            <a:endParaRPr lang="en-US" sz="1600" dirty="0"/>
          </a:p>
        </p:txBody>
      </p:sp>
      <p:sp>
        <p:nvSpPr>
          <p:cNvPr id="13" name="arrow_11"/>
          <p:cNvSpPr/>
          <p:nvPr/>
        </p:nvSpPr>
        <p:spPr>
          <a:xfrm>
            <a:off x="4123944" y="2948940"/>
            <a:ext cx="210312" cy="914"/>
          </a:xfrm>
          <a:prstGeom prst="line">
            <a:avLst/>
          </a:prstGeom>
          <a:noFill/>
          <a:ln w="25400">
            <a:solidFill>
              <a:srgbClr val="64748B"/>
            </a:solidFill>
            <a:prstDash val="solid"/>
            <a:tailEnd type="triangle"/>
          </a:ln>
        </p:spPr>
      </p:sp>
      <p:sp>
        <p:nvSpPr>
          <p:cNvPr id="14" name="card_12"/>
          <p:cNvSpPr/>
          <p:nvPr/>
        </p:nvSpPr>
        <p:spPr>
          <a:xfrm>
            <a:off x="4370832" y="2240280"/>
            <a:ext cx="1627632" cy="1417320"/>
          </a:xfrm>
          <a:prstGeom prst="roundRect">
            <a:avLst>
              <a:gd name="adj" fmla="val 5161"/>
            </a:avLst>
          </a:prstGeom>
          <a:solidFill>
            <a:srgbClr val="EEF6F5"/>
          </a:solidFill>
          <a:ln/>
        </p:spPr>
      </p:sp>
      <p:sp>
        <p:nvSpPr>
          <p:cNvPr id="15" name="badge_13"/>
          <p:cNvSpPr/>
          <p:nvPr/>
        </p:nvSpPr>
        <p:spPr>
          <a:xfrm>
            <a:off x="4974336" y="2029968"/>
            <a:ext cx="420624" cy="420624"/>
          </a:xfrm>
          <a:prstGeom prst="ellipse">
            <a:avLst/>
          </a:prstGeom>
          <a:solidFill>
            <a:schemeClr val="accent1"/>
          </a:solidFill>
          <a:ln/>
        </p:spPr>
      </p:sp>
      <p:sp>
        <p:nvSpPr>
          <p:cNvPr id="16" name="text_14"/>
          <p:cNvSpPr txBox="1"/>
          <p:nvPr/>
        </p:nvSpPr>
        <p:spPr>
          <a:xfrm>
            <a:off x="4974336" y="20299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_15"/>
          <p:cNvSpPr txBox="1"/>
          <p:nvPr/>
        </p:nvSpPr>
        <p:spPr>
          <a:xfrm>
            <a:off x="4462272" y="2514600"/>
            <a:ext cx="1444752" cy="1051560"/>
          </a:xfrm>
          <a:prstGeom prst="rect">
            <a:avLst/>
          </a:prstGeom>
          <a:noFill/>
          <a:ln/>
        </p:spPr>
        <p:txBody>
          <a:bodyPr wrap="square" lIns="1016" tIns="1016" rIns="1016" bIns="1016" rtlCol="0" anchor="ctr"/>
          <a:lstStyle/>
          <a:p>
            <a:pPr algn="ctr" indent="0" marL="0">
              <a:buNone/>
            </a:pPr>
            <a:r>
              <a:rPr lang="en-US" sz="1600" b="1" dirty="0">
                <a:solidFill>
                  <a:schemeClr val="tx1"/>
                </a:solidFill>
              </a:rPr>
              <a:t>Multiple clustering methods</a:t>
            </a:r>
            <a:endParaRPr lang="en-US" sz="1600" dirty="0"/>
          </a:p>
        </p:txBody>
      </p:sp>
      <p:sp>
        <p:nvSpPr>
          <p:cNvPr id="18" name="arrow_16"/>
          <p:cNvSpPr/>
          <p:nvPr/>
        </p:nvSpPr>
        <p:spPr>
          <a:xfrm>
            <a:off x="6035040" y="2948940"/>
            <a:ext cx="210312" cy="914"/>
          </a:xfrm>
          <a:prstGeom prst="line">
            <a:avLst/>
          </a:prstGeom>
          <a:noFill/>
          <a:ln w="25400">
            <a:solidFill>
              <a:srgbClr val="64748B"/>
            </a:solidFill>
            <a:prstDash val="solid"/>
            <a:tailEnd type="triangle"/>
          </a:ln>
        </p:spPr>
      </p:sp>
      <p:sp>
        <p:nvSpPr>
          <p:cNvPr id="19" name="card_17"/>
          <p:cNvSpPr/>
          <p:nvPr/>
        </p:nvSpPr>
        <p:spPr>
          <a:xfrm>
            <a:off x="6281928" y="2240280"/>
            <a:ext cx="1627632" cy="1417320"/>
          </a:xfrm>
          <a:prstGeom prst="roundRect">
            <a:avLst>
              <a:gd name="adj" fmla="val 5161"/>
            </a:avLst>
          </a:prstGeom>
          <a:solidFill>
            <a:srgbClr val="EEF6F5"/>
          </a:solidFill>
          <a:ln/>
        </p:spPr>
      </p:sp>
      <p:sp>
        <p:nvSpPr>
          <p:cNvPr id="20" name="badge_18"/>
          <p:cNvSpPr/>
          <p:nvPr/>
        </p:nvSpPr>
        <p:spPr>
          <a:xfrm>
            <a:off x="6885432" y="2029968"/>
            <a:ext cx="420624" cy="420624"/>
          </a:xfrm>
          <a:prstGeom prst="ellipse">
            <a:avLst/>
          </a:prstGeom>
          <a:solidFill>
            <a:schemeClr val="accent1"/>
          </a:solidFill>
          <a:ln/>
        </p:spPr>
      </p:sp>
      <p:sp>
        <p:nvSpPr>
          <p:cNvPr id="21" name="text_19"/>
          <p:cNvSpPr txBox="1"/>
          <p:nvPr/>
        </p:nvSpPr>
        <p:spPr>
          <a:xfrm>
            <a:off x="6885432" y="20299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_20"/>
          <p:cNvSpPr txBox="1"/>
          <p:nvPr/>
        </p:nvSpPr>
        <p:spPr>
          <a:xfrm>
            <a:off x="6373368" y="2514600"/>
            <a:ext cx="1444752" cy="1051560"/>
          </a:xfrm>
          <a:prstGeom prst="rect">
            <a:avLst/>
          </a:prstGeom>
          <a:noFill/>
          <a:ln/>
        </p:spPr>
        <p:txBody>
          <a:bodyPr wrap="square" lIns="1016" tIns="1016" rIns="1016" bIns="1016" rtlCol="0" anchor="ctr"/>
          <a:lstStyle/>
          <a:p>
            <a:pPr algn="ctr" indent="0" marL="0">
              <a:buNone/>
            </a:pPr>
            <a:r>
              <a:rPr lang="en-US" sz="1600" b="1" dirty="0">
                <a:solidFill>
                  <a:schemeClr val="tx1"/>
                </a:solidFill>
              </a:rPr>
              <a:t>Agentic discovery</a:t>
            </a:r>
            <a:endParaRPr lang="en-US" sz="1600" dirty="0"/>
          </a:p>
        </p:txBody>
      </p:sp>
      <p:sp>
        <p:nvSpPr>
          <p:cNvPr id="23" name="arrow_21"/>
          <p:cNvSpPr/>
          <p:nvPr/>
        </p:nvSpPr>
        <p:spPr>
          <a:xfrm>
            <a:off x="7946136" y="2948940"/>
            <a:ext cx="210312" cy="914"/>
          </a:xfrm>
          <a:prstGeom prst="line">
            <a:avLst/>
          </a:prstGeom>
          <a:noFill/>
          <a:ln w="25400">
            <a:solidFill>
              <a:srgbClr val="64748B"/>
            </a:solidFill>
            <a:prstDash val="solid"/>
            <a:tailEnd type="triangle"/>
          </a:ln>
        </p:spPr>
      </p:sp>
      <p:sp>
        <p:nvSpPr>
          <p:cNvPr id="24" name="card_22"/>
          <p:cNvSpPr/>
          <p:nvPr/>
        </p:nvSpPr>
        <p:spPr>
          <a:xfrm>
            <a:off x="8193024" y="2240280"/>
            <a:ext cx="1627632" cy="1417320"/>
          </a:xfrm>
          <a:prstGeom prst="roundRect">
            <a:avLst>
              <a:gd name="adj" fmla="val 5161"/>
            </a:avLst>
          </a:prstGeom>
          <a:solidFill>
            <a:srgbClr val="EEF6F5"/>
          </a:solidFill>
          <a:ln/>
        </p:spPr>
      </p:sp>
      <p:sp>
        <p:nvSpPr>
          <p:cNvPr id="25" name="badge_23"/>
          <p:cNvSpPr/>
          <p:nvPr/>
        </p:nvSpPr>
        <p:spPr>
          <a:xfrm>
            <a:off x="8796528" y="2029968"/>
            <a:ext cx="420624" cy="420624"/>
          </a:xfrm>
          <a:prstGeom prst="ellipse">
            <a:avLst/>
          </a:prstGeom>
          <a:solidFill>
            <a:schemeClr val="accent1"/>
          </a:solidFill>
          <a:ln/>
        </p:spPr>
      </p:sp>
      <p:sp>
        <p:nvSpPr>
          <p:cNvPr id="26" name="text_24"/>
          <p:cNvSpPr txBox="1"/>
          <p:nvPr/>
        </p:nvSpPr>
        <p:spPr>
          <a:xfrm>
            <a:off x="8796528" y="20299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_25"/>
          <p:cNvSpPr txBox="1"/>
          <p:nvPr/>
        </p:nvSpPr>
        <p:spPr>
          <a:xfrm>
            <a:off x="8284464" y="2514600"/>
            <a:ext cx="1444752" cy="1051560"/>
          </a:xfrm>
          <a:prstGeom prst="rect">
            <a:avLst/>
          </a:prstGeom>
          <a:noFill/>
          <a:ln/>
        </p:spPr>
        <p:txBody>
          <a:bodyPr wrap="square" lIns="1016" tIns="1016" rIns="1016" bIns="1016" rtlCol="0" anchor="ctr"/>
          <a:lstStyle/>
          <a:p>
            <a:pPr algn="ctr" indent="0" marL="0">
              <a:buNone/>
            </a:pPr>
            <a:r>
              <a:rPr lang="en-US" sz="1600" b="1" dirty="0">
                <a:solidFill>
                  <a:schemeClr val="tx1"/>
                </a:solidFill>
              </a:rPr>
              <a:t>Matched comparison</a:t>
            </a:r>
            <a:endParaRPr lang="en-US" sz="1600" dirty="0"/>
          </a:p>
        </p:txBody>
      </p:sp>
      <p:sp>
        <p:nvSpPr>
          <p:cNvPr id="28" name="arrow_26"/>
          <p:cNvSpPr/>
          <p:nvPr/>
        </p:nvSpPr>
        <p:spPr>
          <a:xfrm>
            <a:off x="9857232" y="2948940"/>
            <a:ext cx="210312" cy="914"/>
          </a:xfrm>
          <a:prstGeom prst="line">
            <a:avLst/>
          </a:prstGeom>
          <a:noFill/>
          <a:ln w="25400">
            <a:solidFill>
              <a:srgbClr val="64748B"/>
            </a:solidFill>
            <a:prstDash val="solid"/>
            <a:tailEnd type="triangle"/>
          </a:ln>
        </p:spPr>
      </p:sp>
      <p:sp>
        <p:nvSpPr>
          <p:cNvPr id="29" name="card_27"/>
          <p:cNvSpPr/>
          <p:nvPr/>
        </p:nvSpPr>
        <p:spPr>
          <a:xfrm>
            <a:off x="10104120" y="2240280"/>
            <a:ext cx="1627632" cy="1417320"/>
          </a:xfrm>
          <a:prstGeom prst="roundRect">
            <a:avLst>
              <a:gd name="adj" fmla="val 5161"/>
            </a:avLst>
          </a:prstGeom>
          <a:solidFill>
            <a:srgbClr val="0F766E"/>
          </a:solidFill>
          <a:ln/>
        </p:spPr>
      </p:sp>
      <p:sp>
        <p:nvSpPr>
          <p:cNvPr id="30" name="badge_28"/>
          <p:cNvSpPr/>
          <p:nvPr/>
        </p:nvSpPr>
        <p:spPr>
          <a:xfrm>
            <a:off x="10707624" y="2029968"/>
            <a:ext cx="420624" cy="420624"/>
          </a:xfrm>
          <a:prstGeom prst="ellipse">
            <a:avLst/>
          </a:prstGeom>
          <a:solidFill>
            <a:schemeClr val="tx2"/>
          </a:solidFill>
          <a:ln/>
        </p:spPr>
      </p:sp>
      <p:sp>
        <p:nvSpPr>
          <p:cNvPr id="31" name="text_29"/>
          <p:cNvSpPr txBox="1"/>
          <p:nvPr/>
        </p:nvSpPr>
        <p:spPr>
          <a:xfrm>
            <a:off x="10707624" y="20299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_30"/>
          <p:cNvSpPr txBox="1"/>
          <p:nvPr/>
        </p:nvSpPr>
        <p:spPr>
          <a:xfrm>
            <a:off x="10195560" y="2514600"/>
            <a:ext cx="1444752" cy="1051560"/>
          </a:xfrm>
          <a:prstGeom prst="rect">
            <a:avLst/>
          </a:prstGeom>
          <a:noFill/>
          <a:ln/>
        </p:spPr>
        <p:txBody>
          <a:bodyPr wrap="square" lIns="1016" tIns="1016" rIns="1016" bIns="1016" rtlCol="0" anchor="ctr"/>
          <a:lstStyle/>
          <a:p>
            <a:pPr algn="ctr" indent="0" marL="0">
              <a:buNone/>
            </a:pPr>
            <a:r>
              <a:rPr lang="en-US" sz="1600" b="1" dirty="0">
                <a:solidFill>
                  <a:schemeClr val="bg1"/>
                </a:solidFill>
              </a:rPr>
              <a:t>Final taxonomy</a:t>
            </a:r>
            <a:endParaRPr lang="en-US" sz="1600" dirty="0"/>
          </a:p>
        </p:txBody>
      </p:sp>
      <p:sp>
        <p:nvSpPr>
          <p:cNvPr id="33" name="card_31"/>
          <p:cNvSpPr/>
          <p:nvPr/>
        </p:nvSpPr>
        <p:spPr>
          <a:xfrm>
            <a:off x="548640" y="4343400"/>
            <a:ext cx="11064240" cy="1417320"/>
          </a:xfrm>
          <a:prstGeom prst="roundRect">
            <a:avLst>
              <a:gd name="adj" fmla="val 5161"/>
            </a:avLst>
          </a:prstGeom>
          <a:solidFill>
            <a:srgbClr val="F3F4F6"/>
          </a:solidFill>
          <a:ln/>
        </p:spPr>
      </p:sp>
      <p:sp>
        <p:nvSpPr>
          <p:cNvPr id="34" name="text_32"/>
          <p:cNvSpPr txBox="1"/>
          <p:nvPr/>
        </p:nvSpPr>
        <p:spPr>
          <a:xfrm>
            <a:off x="914400" y="4434840"/>
            <a:ext cx="10332720" cy="1234440"/>
          </a:xfrm>
          <a:prstGeom prst="rect">
            <a:avLst/>
          </a:prstGeom>
          <a:noFill/>
          <a:ln/>
        </p:spPr>
        <p:txBody>
          <a:bodyPr wrap="square" lIns="1016" tIns="1016" rIns="1016" bIns="1016" rtlCol="0" anchor="ctr"/>
          <a:lstStyle/>
          <a:p>
            <a:pPr algn="ctr" indent="0" marL="0">
              <a:buNone/>
            </a:pPr>
            <a:r>
              <a:rPr lang="en-US" sz="2400" i="1" dirty="0">
                <a:solidFill>
                  <a:schemeClr val="tx2"/>
                </a:solidFill>
                <a:latin typeface="Cambria" pitchFamily="34" charset="0"/>
                <a:ea typeface="Cambria" pitchFamily="34" charset="-122"/>
                <a:cs typeface="Cambria" pitchFamily="34" charset="-120"/>
              </a:rPr>
              <a:t>“We tested not only how to cluster tasks, but also whether the number of topics should be imposed beforehand.”</a:t>
            </a:r>
            <a:endParaRPr lang="en-US" sz="2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What entered Sprint 3</a:t>
            </a:r>
            <a:endParaRPr lang="en-US" sz="3400" dirty="0"/>
          </a:p>
        </p:txBody>
      </p:sp>
      <p:sp>
        <p:nvSpPr>
          <p:cNvPr id="3" name="card_33"/>
          <p:cNvSpPr/>
          <p:nvPr/>
        </p:nvSpPr>
        <p:spPr>
          <a:xfrm>
            <a:off x="548640" y="1417320"/>
            <a:ext cx="2377440" cy="2148840"/>
          </a:xfrm>
          <a:prstGeom prst="roundRect">
            <a:avLst>
              <a:gd name="adj" fmla="val 3404"/>
            </a:avLst>
          </a:prstGeom>
          <a:solidFill>
            <a:srgbClr val="EEF6F5"/>
          </a:solidFill>
          <a:ln/>
        </p:spPr>
      </p:sp>
      <p:sp>
        <p:nvSpPr>
          <p:cNvPr id="4" name="text_34"/>
          <p:cNvSpPr txBox="1"/>
          <p:nvPr/>
        </p:nvSpPr>
        <p:spPr>
          <a:xfrm>
            <a:off x="548640" y="1554480"/>
            <a:ext cx="2377440" cy="914400"/>
          </a:xfrm>
          <a:prstGeom prst="rect">
            <a:avLst/>
          </a:prstGeom>
          <a:noFill/>
          <a:ln/>
        </p:spPr>
        <p:txBody>
          <a:bodyPr wrap="square" lIns="1016" tIns="1016" rIns="1016" bIns="1016" rtlCol="0" anchor="ctr"/>
          <a:lstStyle/>
          <a:p>
            <a:pPr algn="ctr" indent="0" marL="0">
              <a:buNone/>
            </a:pPr>
            <a:r>
              <a:rPr lang="en-US" sz="5000" b="1" dirty="0">
                <a:solidFill>
                  <a:schemeClr val="accent1"/>
                </a:solidFill>
                <a:latin typeface="Cambria" pitchFamily="34" charset="0"/>
                <a:ea typeface="Cambria" pitchFamily="34" charset="-122"/>
                <a:cs typeface="Cambria" pitchFamily="34" charset="-120"/>
              </a:rPr>
              <a:t>188</a:t>
            </a:r>
            <a:endParaRPr lang="en-US" sz="5000" dirty="0"/>
          </a:p>
        </p:txBody>
      </p:sp>
      <p:sp>
        <p:nvSpPr>
          <p:cNvPr id="5" name="text_35"/>
          <p:cNvSpPr txBox="1"/>
          <p:nvPr/>
        </p:nvSpPr>
        <p:spPr>
          <a:xfrm>
            <a:off x="640080" y="2468880"/>
            <a:ext cx="2194560" cy="457200"/>
          </a:xfrm>
          <a:prstGeom prst="rect">
            <a:avLst/>
          </a:prstGeom>
          <a:noFill/>
          <a:ln/>
        </p:spPr>
        <p:txBody>
          <a:bodyPr wrap="square" lIns="1016" tIns="1016" rIns="1016" bIns="1016" rtlCol="0" anchor="ctr"/>
          <a:lstStyle/>
          <a:p>
            <a:pPr algn="ctr" indent="0" marL="0">
              <a:buNone/>
            </a:pPr>
            <a:r>
              <a:rPr lang="en-US" sz="1600" b="1" dirty="0">
                <a:solidFill>
                  <a:schemeClr val="tx1"/>
                </a:solidFill>
              </a:rPr>
              <a:t>job postings</a:t>
            </a:r>
            <a:endParaRPr lang="en-US" sz="1600" dirty="0"/>
          </a:p>
        </p:txBody>
      </p:sp>
      <p:sp>
        <p:nvSpPr>
          <p:cNvPr id="6" name="text_36"/>
          <p:cNvSpPr txBox="1"/>
          <p:nvPr/>
        </p:nvSpPr>
        <p:spPr>
          <a:xfrm>
            <a:off x="640080" y="2926080"/>
            <a:ext cx="2194560" cy="457200"/>
          </a:xfrm>
          <a:prstGeom prst="rect">
            <a:avLst/>
          </a:prstGeom>
          <a:noFill/>
          <a:ln/>
        </p:spPr>
        <p:txBody>
          <a:bodyPr wrap="square" lIns="1016" tIns="1016" rIns="1016" bIns="1016" rtlCol="0" anchor="ctr"/>
          <a:lstStyle/>
          <a:p>
            <a:pPr algn="ctr" indent="0" marL="0">
              <a:buNone/>
            </a:pPr>
            <a:r>
              <a:rPr lang="en-US" sz="1400" dirty="0">
                <a:solidFill>
                  <a:schemeClr val="accent2"/>
                </a:solidFill>
              </a:rPr>
              <a:t>real NYC Jobs + Arbeitnow postings</a:t>
            </a:r>
            <a:endParaRPr lang="en-US" sz="1400" dirty="0"/>
          </a:p>
        </p:txBody>
      </p:sp>
      <p:sp>
        <p:nvSpPr>
          <p:cNvPr id="7" name="arrow_37"/>
          <p:cNvSpPr/>
          <p:nvPr/>
        </p:nvSpPr>
        <p:spPr>
          <a:xfrm>
            <a:off x="2999232" y="2491740"/>
            <a:ext cx="356616" cy="914"/>
          </a:xfrm>
          <a:prstGeom prst="line">
            <a:avLst/>
          </a:prstGeom>
          <a:noFill/>
          <a:ln w="25400">
            <a:solidFill>
              <a:srgbClr val="64748B"/>
            </a:solidFill>
            <a:prstDash val="solid"/>
            <a:tailEnd type="triangle"/>
          </a:ln>
        </p:spPr>
      </p:sp>
      <p:sp>
        <p:nvSpPr>
          <p:cNvPr id="8" name="card_38"/>
          <p:cNvSpPr/>
          <p:nvPr/>
        </p:nvSpPr>
        <p:spPr>
          <a:xfrm>
            <a:off x="3429000" y="1417320"/>
            <a:ext cx="2377440" cy="2148840"/>
          </a:xfrm>
          <a:prstGeom prst="roundRect">
            <a:avLst>
              <a:gd name="adj" fmla="val 3404"/>
            </a:avLst>
          </a:prstGeom>
          <a:solidFill>
            <a:srgbClr val="EEF6F5"/>
          </a:solidFill>
          <a:ln/>
        </p:spPr>
      </p:sp>
      <p:sp>
        <p:nvSpPr>
          <p:cNvPr id="9" name="text_39"/>
          <p:cNvSpPr txBox="1"/>
          <p:nvPr/>
        </p:nvSpPr>
        <p:spPr>
          <a:xfrm>
            <a:off x="3429000" y="1554480"/>
            <a:ext cx="2377440" cy="914400"/>
          </a:xfrm>
          <a:prstGeom prst="rect">
            <a:avLst/>
          </a:prstGeom>
          <a:noFill/>
          <a:ln/>
        </p:spPr>
        <p:txBody>
          <a:bodyPr wrap="square" lIns="1016" tIns="1016" rIns="1016" bIns="1016" rtlCol="0" anchor="ctr"/>
          <a:lstStyle/>
          <a:p>
            <a:pPr algn="ctr" indent="0" marL="0">
              <a:buNone/>
            </a:pPr>
            <a:r>
              <a:rPr lang="en-US" sz="5000" b="1" dirty="0">
                <a:solidFill>
                  <a:schemeClr val="accent1"/>
                </a:solidFill>
                <a:latin typeface="Cambria" pitchFamily="34" charset="0"/>
                <a:ea typeface="Cambria" pitchFamily="34" charset="-122"/>
                <a:cs typeface="Cambria" pitchFamily="34" charset="-120"/>
              </a:rPr>
              <a:t>3,015</a:t>
            </a:r>
            <a:endParaRPr lang="en-US" sz="5000" dirty="0"/>
          </a:p>
        </p:txBody>
      </p:sp>
      <p:sp>
        <p:nvSpPr>
          <p:cNvPr id="10" name="text_40"/>
          <p:cNvSpPr txBox="1"/>
          <p:nvPr/>
        </p:nvSpPr>
        <p:spPr>
          <a:xfrm>
            <a:off x="3520440" y="2468880"/>
            <a:ext cx="2194560" cy="457200"/>
          </a:xfrm>
          <a:prstGeom prst="rect">
            <a:avLst/>
          </a:prstGeom>
          <a:noFill/>
          <a:ln/>
        </p:spPr>
        <p:txBody>
          <a:bodyPr wrap="square" lIns="1016" tIns="1016" rIns="1016" bIns="1016" rtlCol="0" anchor="ctr"/>
          <a:lstStyle/>
          <a:p>
            <a:pPr algn="ctr" indent="0" marL="0">
              <a:buNone/>
            </a:pPr>
            <a:r>
              <a:rPr lang="en-US" sz="1600" b="1" dirty="0">
                <a:solidFill>
                  <a:schemeClr val="tx1"/>
                </a:solidFill>
              </a:rPr>
              <a:t>validated task statements</a:t>
            </a:r>
            <a:endParaRPr lang="en-US" sz="1600" dirty="0"/>
          </a:p>
        </p:txBody>
      </p:sp>
      <p:sp>
        <p:nvSpPr>
          <p:cNvPr id="11" name="text_41"/>
          <p:cNvSpPr txBox="1"/>
          <p:nvPr/>
        </p:nvSpPr>
        <p:spPr>
          <a:xfrm>
            <a:off x="3520440" y="2926080"/>
            <a:ext cx="2194560" cy="457200"/>
          </a:xfrm>
          <a:prstGeom prst="rect">
            <a:avLst/>
          </a:prstGeom>
          <a:noFill/>
          <a:ln/>
        </p:spPr>
        <p:txBody>
          <a:bodyPr wrap="square" lIns="1016" tIns="1016" rIns="1016" bIns="1016" rtlCol="0" anchor="ctr"/>
          <a:lstStyle/>
          <a:p>
            <a:pPr algn="ctr" indent="0" marL="0">
              <a:buNone/>
            </a:pPr>
            <a:r>
              <a:rPr lang="en-US" sz="1400" dirty="0">
                <a:solidFill>
                  <a:schemeClr val="accent2"/>
                </a:solidFill>
              </a:rPr>
              <a:t>deduplicated, each tied to its posting</a:t>
            </a:r>
            <a:endParaRPr lang="en-US" sz="1400" dirty="0"/>
          </a:p>
        </p:txBody>
      </p:sp>
      <p:sp>
        <p:nvSpPr>
          <p:cNvPr id="12" name="arrow_42"/>
          <p:cNvSpPr/>
          <p:nvPr/>
        </p:nvSpPr>
        <p:spPr>
          <a:xfrm>
            <a:off x="5879592" y="2491740"/>
            <a:ext cx="356616" cy="914"/>
          </a:xfrm>
          <a:prstGeom prst="line">
            <a:avLst/>
          </a:prstGeom>
          <a:noFill/>
          <a:ln w="25400">
            <a:solidFill>
              <a:srgbClr val="64748B"/>
            </a:solidFill>
            <a:prstDash val="solid"/>
            <a:tailEnd type="triangle"/>
          </a:ln>
        </p:spPr>
      </p:sp>
      <p:sp>
        <p:nvSpPr>
          <p:cNvPr id="13" name="card_43"/>
          <p:cNvSpPr/>
          <p:nvPr/>
        </p:nvSpPr>
        <p:spPr>
          <a:xfrm>
            <a:off x="6309360" y="1417320"/>
            <a:ext cx="2377440" cy="2148840"/>
          </a:xfrm>
          <a:prstGeom prst="roundRect">
            <a:avLst>
              <a:gd name="adj" fmla="val 3404"/>
            </a:avLst>
          </a:prstGeom>
          <a:solidFill>
            <a:srgbClr val="EEF6F5"/>
          </a:solidFill>
          <a:ln/>
        </p:spPr>
      </p:sp>
      <p:sp>
        <p:nvSpPr>
          <p:cNvPr id="14" name="text_44"/>
          <p:cNvSpPr txBox="1"/>
          <p:nvPr/>
        </p:nvSpPr>
        <p:spPr>
          <a:xfrm>
            <a:off x="6309360" y="1554480"/>
            <a:ext cx="2377440" cy="914400"/>
          </a:xfrm>
          <a:prstGeom prst="rect">
            <a:avLst/>
          </a:prstGeom>
          <a:noFill/>
          <a:ln/>
        </p:spPr>
        <p:txBody>
          <a:bodyPr wrap="square" lIns="1016" tIns="1016" rIns="1016" bIns="1016" rtlCol="0" anchor="ctr"/>
          <a:lstStyle/>
          <a:p>
            <a:pPr algn="ctr" indent="0" marL="0">
              <a:buNone/>
            </a:pPr>
            <a:r>
              <a:rPr lang="en-US" sz="5000" b="1" dirty="0">
                <a:solidFill>
                  <a:schemeClr val="accent1"/>
                </a:solidFill>
                <a:latin typeface="Cambria" pitchFamily="34" charset="0"/>
                <a:ea typeface="Cambria" pitchFamily="34" charset="-122"/>
                <a:cs typeface="Cambria" pitchFamily="34" charset="-120"/>
              </a:rPr>
              <a:t>2</a:t>
            </a:r>
            <a:endParaRPr lang="en-US" sz="5000" dirty="0"/>
          </a:p>
        </p:txBody>
      </p:sp>
      <p:sp>
        <p:nvSpPr>
          <p:cNvPr id="15" name="text_45"/>
          <p:cNvSpPr txBox="1"/>
          <p:nvPr/>
        </p:nvSpPr>
        <p:spPr>
          <a:xfrm>
            <a:off x="6400800" y="2468880"/>
            <a:ext cx="2194560" cy="457200"/>
          </a:xfrm>
          <a:prstGeom prst="rect">
            <a:avLst/>
          </a:prstGeom>
          <a:noFill/>
          <a:ln/>
        </p:spPr>
        <p:txBody>
          <a:bodyPr wrap="square" lIns="1016" tIns="1016" rIns="1016" bIns="1016" rtlCol="0" anchor="ctr"/>
          <a:lstStyle/>
          <a:p>
            <a:pPr algn="ctr" indent="0" marL="0">
              <a:buNone/>
            </a:pPr>
            <a:r>
              <a:rPr lang="en-US" sz="1600" b="1" dirty="0">
                <a:solidFill>
                  <a:schemeClr val="tx1"/>
                </a:solidFill>
              </a:rPr>
              <a:t>semantic representations</a:t>
            </a:r>
            <a:endParaRPr lang="en-US" sz="1600" dirty="0"/>
          </a:p>
        </p:txBody>
      </p:sp>
      <p:sp>
        <p:nvSpPr>
          <p:cNvPr id="16" name="text_46"/>
          <p:cNvSpPr txBox="1"/>
          <p:nvPr/>
        </p:nvSpPr>
        <p:spPr>
          <a:xfrm>
            <a:off x="6400800" y="2926080"/>
            <a:ext cx="2194560" cy="457200"/>
          </a:xfrm>
          <a:prstGeom prst="rect">
            <a:avLst/>
          </a:prstGeom>
          <a:noFill/>
          <a:ln/>
        </p:spPr>
        <p:txBody>
          <a:bodyPr wrap="square" lIns="1016" tIns="1016" rIns="1016" bIns="1016" rtlCol="0" anchor="ctr"/>
          <a:lstStyle/>
          <a:p>
            <a:pPr algn="ctr" indent="0" marL="0">
              <a:buNone/>
            </a:pPr>
            <a:r>
              <a:rPr lang="en-US" sz="1400" dirty="0">
                <a:solidFill>
                  <a:schemeClr val="accent2"/>
                </a:solidFill>
              </a:rPr>
              <a:t>Sentence-T5 · E5</a:t>
            </a:r>
            <a:endParaRPr lang="en-US" sz="1400" dirty="0"/>
          </a:p>
        </p:txBody>
      </p:sp>
      <p:sp>
        <p:nvSpPr>
          <p:cNvPr id="17" name="arrow_47"/>
          <p:cNvSpPr/>
          <p:nvPr/>
        </p:nvSpPr>
        <p:spPr>
          <a:xfrm>
            <a:off x="8759952" y="2491740"/>
            <a:ext cx="356616" cy="914"/>
          </a:xfrm>
          <a:prstGeom prst="line">
            <a:avLst/>
          </a:prstGeom>
          <a:noFill/>
          <a:ln w="25400">
            <a:solidFill>
              <a:srgbClr val="64748B"/>
            </a:solidFill>
            <a:prstDash val="solid"/>
            <a:tailEnd type="triangle"/>
          </a:ln>
        </p:spPr>
      </p:sp>
      <p:sp>
        <p:nvSpPr>
          <p:cNvPr id="18" name="card_48"/>
          <p:cNvSpPr/>
          <p:nvPr/>
        </p:nvSpPr>
        <p:spPr>
          <a:xfrm>
            <a:off x="9189720" y="1417320"/>
            <a:ext cx="2377440" cy="2148840"/>
          </a:xfrm>
          <a:prstGeom prst="roundRect">
            <a:avLst>
              <a:gd name="adj" fmla="val 3404"/>
            </a:avLst>
          </a:prstGeom>
          <a:solidFill>
            <a:srgbClr val="0F766E"/>
          </a:solidFill>
          <a:ln/>
        </p:spPr>
      </p:sp>
      <p:sp>
        <p:nvSpPr>
          <p:cNvPr id="19" name="text_49"/>
          <p:cNvSpPr txBox="1"/>
          <p:nvPr/>
        </p:nvSpPr>
        <p:spPr>
          <a:xfrm>
            <a:off x="9326880" y="1417320"/>
            <a:ext cx="2103120" cy="2148840"/>
          </a:xfrm>
          <a:prstGeom prst="rect">
            <a:avLst/>
          </a:prstGeom>
          <a:noFill/>
          <a:ln/>
        </p:spPr>
        <p:txBody>
          <a:bodyPr wrap="square" lIns="1016" tIns="1016" rIns="1016" bIns="1016" rtlCol="0" anchor="ctr"/>
          <a:lstStyle/>
          <a:p>
            <a:pPr algn="ctr" indent="0" marL="0">
              <a:buNone/>
            </a:pPr>
            <a:r>
              <a:rPr lang="en-US" sz="2000" b="1" dirty="0">
                <a:solidFill>
                  <a:schemeClr val="bg1"/>
                </a:solidFill>
              </a:rPr>
              <a:t>Learned task topics</a:t>
            </a:r>
            <a:endParaRPr lang="en-US" sz="2000" dirty="0"/>
          </a:p>
        </p:txBody>
      </p:sp>
      <p:sp>
        <p:nvSpPr>
          <p:cNvPr id="20" name="card_50"/>
          <p:cNvSpPr/>
          <p:nvPr/>
        </p:nvSpPr>
        <p:spPr>
          <a:xfrm>
            <a:off x="548640" y="3977640"/>
            <a:ext cx="11064240" cy="868680"/>
          </a:xfrm>
          <a:prstGeom prst="roundRect">
            <a:avLst>
              <a:gd name="adj" fmla="val 8421"/>
            </a:avLst>
          </a:prstGeom>
          <a:solidFill>
            <a:srgbClr val="FFFFFF"/>
          </a:solidFill>
          <a:ln w="12700">
            <a:solidFill>
              <a:srgbClr val="CBD5E1"/>
            </a:solidFill>
            <a:prstDash val="solid"/>
          </a:ln>
        </p:spPr>
      </p:sp>
      <p:sp>
        <p:nvSpPr>
          <p:cNvPr id="21" name="x_51"/>
          <p:cNvSpPr/>
          <p:nvPr/>
        </p:nvSpPr>
        <p:spPr>
          <a:xfrm>
            <a:off x="777240" y="4160520"/>
            <a:ext cx="502920" cy="502920"/>
          </a:xfrm>
          <a:prstGeom prst="ellipse">
            <a:avLst/>
          </a:prstGeom>
          <a:solidFill>
            <a:srgbClr val="FDF3E7"/>
          </a:solidFill>
          <a:ln w="19050">
            <a:solidFill>
              <a:srgbClr val="B45309"/>
            </a:solidFill>
            <a:prstDash val="solid"/>
          </a:ln>
        </p:spPr>
      </p:sp>
      <p:sp>
        <p:nvSpPr>
          <p:cNvPr id="22" name="text_52"/>
          <p:cNvSpPr txBox="1"/>
          <p:nvPr/>
        </p:nvSpPr>
        <p:spPr>
          <a:xfrm>
            <a:off x="777240" y="4160520"/>
            <a:ext cx="502920" cy="502920"/>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23" name="text_53"/>
          <p:cNvSpPr txBox="1"/>
          <p:nvPr/>
        </p:nvSpPr>
        <p:spPr>
          <a:xfrm>
            <a:off x="1463040" y="4023360"/>
            <a:ext cx="9966960" cy="777240"/>
          </a:xfrm>
          <a:prstGeom prst="rect">
            <a:avLst/>
          </a:prstGeom>
          <a:noFill/>
          <a:ln/>
        </p:spPr>
        <p:txBody>
          <a:bodyPr wrap="square" lIns="1016" tIns="1016" rIns="1016" bIns="1016" rtlCol="0" anchor="ctr"/>
          <a:lstStyle/>
          <a:p>
            <a:pPr algn="l" indent="0" marL="0">
              <a:buNone/>
            </a:pPr>
            <a:r>
              <a:rPr lang="en-US" sz="1800" b="1" dirty="0">
                <a:solidFill>
                  <a:schemeClr val="tx1"/>
                </a:solidFill>
              </a:rPr>
              <a:t>O*NET intentionally excluded from topic creation</a:t>
            </a:r>
            <a:pPr algn="l" indent="0" marL="0">
              <a:buNone/>
            </a:pPr>
            <a:r>
              <a:rPr lang="en-US" sz="1800" dirty="0">
                <a:solidFill>
                  <a:srgbClr val="64748B"/>
                </a:solidFill>
              </a:rPr>
              <a:t>  —  kept for Sprint 4 as an external reference</a:t>
            </a:r>
            <a:endParaRPr lang="en-US" sz="1800" dirty="0"/>
          </a:p>
        </p:txBody>
      </p:sp>
      <p:sp>
        <p:nvSpPr>
          <p:cNvPr id="24" name="card_54"/>
          <p:cNvSpPr/>
          <p:nvPr/>
        </p:nvSpPr>
        <p:spPr>
          <a:xfrm>
            <a:off x="548640" y="5120640"/>
            <a:ext cx="11064240" cy="960120"/>
          </a:xfrm>
          <a:prstGeom prst="roundRect">
            <a:avLst>
              <a:gd name="adj" fmla="val 7619"/>
            </a:avLst>
          </a:prstGeom>
          <a:solidFill>
            <a:srgbClr val="F3F4F6"/>
          </a:solidFill>
          <a:ln/>
        </p:spPr>
      </p:sp>
      <p:sp>
        <p:nvSpPr>
          <p:cNvPr id="25" name="text_55"/>
          <p:cNvSpPr txBox="1"/>
          <p:nvPr/>
        </p:nvSpPr>
        <p:spPr>
          <a:xfrm>
            <a:off x="822960" y="5166360"/>
            <a:ext cx="10515600" cy="868680"/>
          </a:xfrm>
          <a:prstGeom prst="rect">
            <a:avLst/>
          </a:prstGeom>
          <a:noFill/>
          <a:ln/>
        </p:spPr>
        <p:txBody>
          <a:bodyPr wrap="square" lIns="1016" tIns="1016" rIns="1016" bIns="1016" rtlCol="0" anchor="ctr"/>
          <a:lstStyle/>
          <a:p>
            <a:pPr algn="ctr" indent="0" marL="0">
              <a:buNone/>
            </a:pPr>
            <a:r>
              <a:rPr lang="en-US" sz="2200" i="1" dirty="0">
                <a:solidFill>
                  <a:schemeClr val="tx2"/>
                </a:solidFill>
                <a:latin typeface="Cambria" pitchFamily="34" charset="0"/>
                <a:ea typeface="Cambria" pitchFamily="34" charset="-122"/>
                <a:cs typeface="Cambria" pitchFamily="34" charset="-120"/>
              </a:rPr>
              <a:t>Topics were learned from real job-posting tasks rather than copied from O*NET.</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How the decision evolved</a:t>
            </a:r>
            <a:endParaRPr lang="en-US" sz="3400" dirty="0"/>
          </a:p>
        </p:txBody>
      </p:sp>
      <p:sp>
        <p:nvSpPr>
          <p:cNvPr id="3" name="card_56"/>
          <p:cNvSpPr/>
          <p:nvPr/>
        </p:nvSpPr>
        <p:spPr>
          <a:xfrm>
            <a:off x="548640" y="1325880"/>
            <a:ext cx="3246120" cy="2651760"/>
          </a:xfrm>
          <a:prstGeom prst="roundRect">
            <a:avLst>
              <a:gd name="adj" fmla="val 2759"/>
            </a:avLst>
          </a:prstGeom>
          <a:solidFill>
            <a:srgbClr val="EEF6F5"/>
          </a:solidFill>
          <a:ln/>
        </p:spPr>
      </p:sp>
      <p:sp>
        <p:nvSpPr>
          <p:cNvPr id="4" name="badge_57"/>
          <p:cNvSpPr/>
          <p:nvPr/>
        </p:nvSpPr>
        <p:spPr>
          <a:xfrm>
            <a:off x="731520" y="1508760"/>
            <a:ext cx="420624" cy="420624"/>
          </a:xfrm>
          <a:prstGeom prst="ellipse">
            <a:avLst/>
          </a:prstGeom>
          <a:solidFill>
            <a:schemeClr val="accent1"/>
          </a:solidFill>
          <a:ln/>
        </p:spPr>
      </p:sp>
      <p:sp>
        <p:nvSpPr>
          <p:cNvPr id="5" name="text_58"/>
          <p:cNvSpPr txBox="1"/>
          <p:nvPr/>
        </p:nvSpPr>
        <p:spPr>
          <a:xfrm>
            <a:off x="73152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_59"/>
          <p:cNvSpPr txBox="1"/>
          <p:nvPr/>
        </p:nvSpPr>
        <p:spPr>
          <a:xfrm>
            <a:off x="1280160" y="1463040"/>
            <a:ext cx="2423160" cy="502920"/>
          </a:xfrm>
          <a:prstGeom prst="rect">
            <a:avLst/>
          </a:prstGeom>
          <a:noFill/>
          <a:ln/>
        </p:spPr>
        <p:txBody>
          <a:bodyPr wrap="square" lIns="1016" tIns="1016" rIns="1016" bIns="1016" rtlCol="0" anchor="ctr"/>
          <a:lstStyle/>
          <a:p>
            <a:pPr algn="l" indent="0" marL="0">
              <a:buNone/>
            </a:pPr>
            <a:r>
              <a:rPr lang="en-US" sz="1700" b="1" dirty="0">
                <a:solidFill>
                  <a:schemeClr val="tx1"/>
                </a:solidFill>
              </a:rPr>
              <a:t>Initial 2 × 2 experiment</a:t>
            </a:r>
            <a:endParaRPr lang="en-US" sz="1700" dirty="0"/>
          </a:p>
        </p:txBody>
      </p:sp>
      <p:sp>
        <p:nvSpPr>
          <p:cNvPr id="7" name="text_60"/>
          <p:cNvSpPr txBox="1"/>
          <p:nvPr/>
        </p:nvSpPr>
        <p:spPr>
          <a:xfrm>
            <a:off x="822960" y="2103120"/>
            <a:ext cx="2788920" cy="1737360"/>
          </a:xfrm>
          <a:prstGeom prst="rect">
            <a:avLst/>
          </a:prstGeom>
          <a:noFill/>
          <a:ln/>
        </p:spPr>
        <p:txBody>
          <a:bodyPr wrap="square" lIns="1016" tIns="1016" rIns="1016" bIns="1016" rtlCol="0" anchor="t"/>
          <a:lstStyle/>
          <a:p>
            <a:pPr algn="l" marL="342900" indent="-342900">
              <a:spcAft>
                <a:spcPts val="600"/>
              </a:spcAft>
              <a:buSzPct val="100000"/>
              <a:buChar char="•"/>
            </a:pPr>
            <a:r>
              <a:rPr lang="en-US" sz="1600" dirty="0">
                <a:solidFill>
                  <a:schemeClr val="tx1"/>
                </a:solidFill>
              </a:rPr>
              <a:t>E5 + K-Means</a:t>
            </a:r>
            <a:endParaRPr lang="en-US" sz="1600" dirty="0"/>
          </a:p>
          <a:p>
            <a:pPr algn="l" marL="342900" indent="-342900">
              <a:spcAft>
                <a:spcPts val="600"/>
              </a:spcAft>
              <a:buSzPct val="100000"/>
              <a:buChar char="•"/>
            </a:pPr>
            <a:r>
              <a:rPr lang="en-US" sz="1600" dirty="0">
                <a:solidFill>
                  <a:schemeClr val="tx1"/>
                </a:solidFill>
              </a:rPr>
              <a:t>E5 + HDBSCAN</a:t>
            </a:r>
            <a:endParaRPr lang="en-US" sz="1600" dirty="0"/>
          </a:p>
          <a:p>
            <a:pPr algn="l" marL="342900" indent="-342900">
              <a:spcAft>
                <a:spcPts val="600"/>
              </a:spcAft>
              <a:buSzPct val="100000"/>
              <a:buChar char="•"/>
            </a:pPr>
            <a:r>
              <a:rPr lang="en-US" sz="1600" dirty="0">
                <a:solidFill>
                  <a:schemeClr val="tx1"/>
                </a:solidFill>
              </a:rPr>
              <a:t>Sentence-T5 + K-Means</a:t>
            </a:r>
            <a:endParaRPr lang="en-US" sz="1600" dirty="0"/>
          </a:p>
          <a:p>
            <a:pPr algn="l" marL="342900" indent="-342900">
              <a:spcAft>
                <a:spcPts val="600"/>
              </a:spcAft>
              <a:buSzPct val="100000"/>
              <a:buChar char="•"/>
            </a:pPr>
            <a:r>
              <a:rPr lang="en-US" sz="1600" dirty="0">
                <a:solidFill>
                  <a:schemeClr val="tx1"/>
                </a:solidFill>
              </a:rPr>
              <a:t>Sentence-T5 + HDBSCAN</a:t>
            </a:r>
            <a:endParaRPr lang="en-US" sz="1600" dirty="0"/>
          </a:p>
        </p:txBody>
      </p:sp>
      <p:sp>
        <p:nvSpPr>
          <p:cNvPr id="8" name="card_61"/>
          <p:cNvSpPr/>
          <p:nvPr/>
        </p:nvSpPr>
        <p:spPr>
          <a:xfrm>
            <a:off x="4114800" y="1325880"/>
            <a:ext cx="3246120" cy="2651760"/>
          </a:xfrm>
          <a:prstGeom prst="roundRect">
            <a:avLst>
              <a:gd name="adj" fmla="val 2759"/>
            </a:avLst>
          </a:prstGeom>
          <a:solidFill>
            <a:srgbClr val="EEF6F5"/>
          </a:solidFill>
          <a:ln/>
        </p:spPr>
      </p:sp>
      <p:sp>
        <p:nvSpPr>
          <p:cNvPr id="9" name="badge_62"/>
          <p:cNvSpPr/>
          <p:nvPr/>
        </p:nvSpPr>
        <p:spPr>
          <a:xfrm>
            <a:off x="4297680" y="1508760"/>
            <a:ext cx="420624" cy="420624"/>
          </a:xfrm>
          <a:prstGeom prst="ellipse">
            <a:avLst/>
          </a:prstGeom>
          <a:solidFill>
            <a:schemeClr val="accent1"/>
          </a:solidFill>
          <a:ln/>
        </p:spPr>
      </p:sp>
      <p:sp>
        <p:nvSpPr>
          <p:cNvPr id="10" name="text_63"/>
          <p:cNvSpPr txBox="1"/>
          <p:nvPr/>
        </p:nvSpPr>
        <p:spPr>
          <a:xfrm>
            <a:off x="429768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_64"/>
          <p:cNvSpPr txBox="1"/>
          <p:nvPr/>
        </p:nvSpPr>
        <p:spPr>
          <a:xfrm>
            <a:off x="4846320" y="1463040"/>
            <a:ext cx="2423160" cy="502920"/>
          </a:xfrm>
          <a:prstGeom prst="rect">
            <a:avLst/>
          </a:prstGeom>
          <a:noFill/>
          <a:ln/>
        </p:spPr>
        <p:txBody>
          <a:bodyPr wrap="square" lIns="1016" tIns="1016" rIns="1016" bIns="1016" rtlCol="0" anchor="ctr"/>
          <a:lstStyle/>
          <a:p>
            <a:pPr algn="l" indent="0" marL="0">
              <a:buNone/>
            </a:pPr>
            <a:r>
              <a:rPr lang="en-US" sz="1700" b="1" dirty="0">
                <a:solidFill>
                  <a:schemeClr val="tx1"/>
                </a:solidFill>
              </a:rPr>
              <a:t>Advanced challengers</a:t>
            </a:r>
            <a:endParaRPr lang="en-US" sz="1700" dirty="0"/>
          </a:p>
        </p:txBody>
      </p:sp>
      <p:sp>
        <p:nvSpPr>
          <p:cNvPr id="12" name="text_65"/>
          <p:cNvSpPr txBox="1"/>
          <p:nvPr/>
        </p:nvSpPr>
        <p:spPr>
          <a:xfrm>
            <a:off x="4389120" y="2103120"/>
            <a:ext cx="2788920" cy="1737360"/>
          </a:xfrm>
          <a:prstGeom prst="rect">
            <a:avLst/>
          </a:prstGeom>
          <a:noFill/>
          <a:ln/>
        </p:spPr>
        <p:txBody>
          <a:bodyPr wrap="square" lIns="1016" tIns="1016" rIns="1016" bIns="1016" rtlCol="0" anchor="t"/>
          <a:lstStyle/>
          <a:p>
            <a:pPr algn="l" marL="342900" indent="-342900">
              <a:spcAft>
                <a:spcPts val="600"/>
              </a:spcAft>
              <a:buSzPct val="100000"/>
              <a:buChar char="•"/>
            </a:pPr>
            <a:r>
              <a:rPr lang="en-US" sz="1600" dirty="0">
                <a:solidFill>
                  <a:schemeClr val="tx1"/>
                </a:solidFill>
              </a:rPr>
              <a:t>BERTopic</a:t>
            </a:r>
            <a:endParaRPr lang="en-US" sz="1600" dirty="0"/>
          </a:p>
          <a:p>
            <a:pPr algn="l" marL="342900" indent="-342900">
              <a:spcAft>
                <a:spcPts val="600"/>
              </a:spcAft>
              <a:buSzPct val="100000"/>
              <a:buChar char="•"/>
            </a:pPr>
            <a:r>
              <a:rPr lang="en-US" sz="1600" dirty="0">
                <a:solidFill>
                  <a:schemeClr val="tx1"/>
                </a:solidFill>
              </a:rPr>
              <a:t>Leiden (graph communities)</a:t>
            </a:r>
            <a:endParaRPr lang="en-US" sz="1600" dirty="0"/>
          </a:p>
          <a:p>
            <a:pPr algn="l" marL="342900" indent="-342900">
              <a:spcAft>
                <a:spcPts val="600"/>
              </a:spcAft>
              <a:buSzPct val="100000"/>
              <a:buChar char="•"/>
            </a:pPr>
            <a:r>
              <a:rPr lang="en-US" sz="1600" dirty="0">
                <a:solidFill>
                  <a:schemeClr val="tx1"/>
                </a:solidFill>
              </a:rPr>
              <a:t>Gaussian Mixture Model</a:t>
            </a:r>
            <a:endParaRPr lang="en-US" sz="1600" dirty="0"/>
          </a:p>
        </p:txBody>
      </p:sp>
      <p:sp>
        <p:nvSpPr>
          <p:cNvPr id="13" name="card_66"/>
          <p:cNvSpPr/>
          <p:nvPr/>
        </p:nvSpPr>
        <p:spPr>
          <a:xfrm>
            <a:off x="7680960" y="1325880"/>
            <a:ext cx="3931920" cy="2651760"/>
          </a:xfrm>
          <a:prstGeom prst="roundRect">
            <a:avLst>
              <a:gd name="adj" fmla="val 2759"/>
            </a:avLst>
          </a:prstGeom>
          <a:solidFill>
            <a:srgbClr val="FDF3E7"/>
          </a:solidFill>
          <a:ln/>
        </p:spPr>
      </p:sp>
      <p:sp>
        <p:nvSpPr>
          <p:cNvPr id="14" name="badge_67"/>
          <p:cNvSpPr/>
          <p:nvPr/>
        </p:nvSpPr>
        <p:spPr>
          <a:xfrm>
            <a:off x="7863840" y="1508760"/>
            <a:ext cx="420624" cy="420624"/>
          </a:xfrm>
          <a:prstGeom prst="ellipse">
            <a:avLst/>
          </a:prstGeom>
          <a:solidFill>
            <a:schemeClr val="accent3"/>
          </a:solidFill>
          <a:ln/>
        </p:spPr>
      </p:sp>
      <p:sp>
        <p:nvSpPr>
          <p:cNvPr id="15" name="text_68"/>
          <p:cNvSpPr txBox="1"/>
          <p:nvPr/>
        </p:nvSpPr>
        <p:spPr>
          <a:xfrm>
            <a:off x="7863840" y="150876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6" name="text_69"/>
          <p:cNvSpPr txBox="1"/>
          <p:nvPr/>
        </p:nvSpPr>
        <p:spPr>
          <a:xfrm>
            <a:off x="8412480" y="1463040"/>
            <a:ext cx="3108960" cy="502920"/>
          </a:xfrm>
          <a:prstGeom prst="rect">
            <a:avLst/>
          </a:prstGeom>
          <a:noFill/>
          <a:ln/>
        </p:spPr>
        <p:txBody>
          <a:bodyPr wrap="square" lIns="1016" tIns="1016" rIns="1016" bIns="1016" rtlCol="0" anchor="ctr"/>
          <a:lstStyle/>
          <a:p>
            <a:pPr algn="l" indent="0" marL="0">
              <a:buNone/>
            </a:pPr>
            <a:r>
              <a:rPr lang="en-US" sz="1700" b="1" dirty="0">
                <a:solidFill>
                  <a:schemeClr val="accent3"/>
                </a:solidFill>
              </a:rPr>
              <a:t>What we learned</a:t>
            </a:r>
            <a:endParaRPr lang="en-US" sz="1700" dirty="0"/>
          </a:p>
        </p:txBody>
      </p:sp>
      <p:sp>
        <p:nvSpPr>
          <p:cNvPr id="17" name="text_70"/>
          <p:cNvSpPr txBox="1"/>
          <p:nvPr/>
        </p:nvSpPr>
        <p:spPr>
          <a:xfrm>
            <a:off x="7955280" y="2057400"/>
            <a:ext cx="3474720" cy="1828800"/>
          </a:xfrm>
          <a:prstGeom prst="rect">
            <a:avLst/>
          </a:prstGeom>
          <a:noFill/>
          <a:ln/>
        </p:spPr>
        <p:txBody>
          <a:bodyPr wrap="square" lIns="1016" tIns="1016" rIns="1016" bIns="1016" rtlCol="0" anchor="t"/>
          <a:lstStyle/>
          <a:p>
            <a:pPr algn="l" indent="0" marL="0">
              <a:spcAft>
                <a:spcPts val="800"/>
              </a:spcAft>
              <a:buNone/>
            </a:pPr>
            <a:r>
              <a:rPr lang="en-US" sz="1500" b="1" dirty="0">
                <a:solidFill>
                  <a:schemeClr val="tx1"/>
                </a:solidFill>
              </a:rPr>
              <a:t>K-Means needs K before fitting — </a:t>
            </a:r>
            <a:pPr algn="l" indent="0" marL="0">
              <a:spcAft>
                <a:spcPts val="800"/>
              </a:spcAft>
              <a:buNone/>
            </a:pPr>
            <a:r>
              <a:rPr lang="en-US" sz="1500" dirty="0">
                <a:solidFill>
                  <a:schemeClr val="tx1"/>
                </a:solidFill>
              </a:rPr>
              <a:t>k = 100 was an input, not proof of 100 natural topics</a:t>
            </a:r>
            <a:endParaRPr lang="en-US" sz="1500" dirty="0"/>
          </a:p>
          <a:p>
            <a:pPr algn="l" indent="0" marL="0">
              <a:spcAft>
                <a:spcPts val="800"/>
              </a:spcAft>
              <a:buNone/>
            </a:pPr>
            <a:r>
              <a:rPr lang="en-US" sz="1500" b="1" dirty="0">
                <a:solidFill>
                  <a:schemeClr val="tx1"/>
                </a:solidFill>
              </a:rPr>
              <a:t>All K-Means runs were unstable </a:t>
            </a:r>
            <a:pPr algn="l" indent="0" marL="0">
              <a:spcAft>
                <a:spcPts val="800"/>
              </a:spcAft>
              <a:buNone/>
            </a:pPr>
            <a:r>
              <a:rPr lang="en-US" sz="1500" dirty="0">
                <a:solidFill>
                  <a:schemeClr val="tx1"/>
                </a:solidFill>
              </a:rPr>
              <a:t>(subsample ARI 0.38–0.47)</a:t>
            </a:r>
            <a:endParaRPr lang="en-US" sz="1500" dirty="0"/>
          </a:p>
          <a:p>
            <a:pPr algn="l" indent="0" marL="0">
              <a:spcAft>
                <a:spcPts val="800"/>
              </a:spcAft>
              <a:buNone/>
            </a:pPr>
            <a:r>
              <a:rPr lang="en-US" sz="1500" b="1" dirty="0">
                <a:solidFill>
                  <a:schemeClr val="tx1"/>
                </a:solidFill>
              </a:rPr>
              <a:t>HDBSCAN collapsed </a:t>
            </a:r>
            <a:pPr algn="l" indent="0" marL="0">
              <a:spcAft>
                <a:spcPts val="800"/>
              </a:spcAft>
              <a:buNone/>
            </a:pPr>
            <a:r>
              <a:rPr lang="en-US" sz="1500" dirty="0">
                <a:solidFill>
                  <a:schemeClr val="tx1"/>
                </a:solidFill>
              </a:rPr>
              <a:t>to 0–4 clusters,</a:t>
            </a:r>
            <a:br/>
            <a:pPr algn="l" indent="0" marL="0">
              <a:spcAft>
                <a:spcPts val="800"/>
              </a:spcAft>
              <a:buNone/>
            </a:pPr>
            <a:r>
              <a:rPr lang="en-US" sz="1500" dirty="0">
                <a:solidFill>
                  <a:schemeClr val="tx1"/>
                </a:solidFill>
              </a:rPr>
              <a:t>with 60–100% of tasks as noise</a:t>
            </a:r>
            <a:endParaRPr lang="en-US" sz="1500" dirty="0"/>
          </a:p>
        </p:txBody>
      </p:sp>
      <p:sp>
        <p:nvSpPr>
          <p:cNvPr id="18" name="card_71"/>
          <p:cNvSpPr/>
          <p:nvPr/>
        </p:nvSpPr>
        <p:spPr>
          <a:xfrm>
            <a:off x="548640" y="4572000"/>
            <a:ext cx="1664208" cy="1097280"/>
          </a:xfrm>
          <a:prstGeom prst="roundRect">
            <a:avLst>
              <a:gd name="adj" fmla="val 6667"/>
            </a:avLst>
          </a:prstGeom>
          <a:solidFill>
            <a:srgbClr val="F3F4F6"/>
          </a:solidFill>
          <a:ln w="12700">
            <a:solidFill>
              <a:srgbClr val="CBD5E1"/>
            </a:solidFill>
            <a:prstDash val="solid"/>
          </a:ln>
        </p:spPr>
      </p:sp>
      <p:sp>
        <p:nvSpPr>
          <p:cNvPr id="19" name="text_72"/>
          <p:cNvSpPr txBox="1"/>
          <p:nvPr/>
        </p:nvSpPr>
        <p:spPr>
          <a:xfrm>
            <a:off x="594360" y="4572000"/>
            <a:ext cx="1572768" cy="1097280"/>
          </a:xfrm>
          <a:prstGeom prst="rect">
            <a:avLst/>
          </a:prstGeom>
          <a:noFill/>
          <a:ln/>
        </p:spPr>
        <p:txBody>
          <a:bodyPr wrap="square" lIns="1016" tIns="1016" rIns="1016" bIns="1016" rtlCol="0" anchor="ctr"/>
          <a:lstStyle/>
          <a:p>
            <a:pPr algn="ctr" indent="0" marL="0">
              <a:buNone/>
            </a:pPr>
            <a:r>
              <a:rPr lang="en-US" sz="1500" b="1" dirty="0">
                <a:solidFill>
                  <a:schemeClr val="accent2"/>
                </a:solidFill>
              </a:rPr>
              <a:t>Fixed K = 100</a:t>
            </a:r>
            <a:endParaRPr lang="en-US" sz="1500" dirty="0"/>
          </a:p>
        </p:txBody>
      </p:sp>
      <p:sp>
        <p:nvSpPr>
          <p:cNvPr id="20" name="arrow_73"/>
          <p:cNvSpPr/>
          <p:nvPr/>
        </p:nvSpPr>
        <p:spPr>
          <a:xfrm>
            <a:off x="2231136" y="5120640"/>
            <a:ext cx="182880" cy="914"/>
          </a:xfrm>
          <a:prstGeom prst="line">
            <a:avLst/>
          </a:prstGeom>
          <a:noFill/>
          <a:ln w="25400">
            <a:solidFill>
              <a:srgbClr val="64748B"/>
            </a:solidFill>
            <a:prstDash val="solid"/>
            <a:tailEnd type="triangle"/>
          </a:ln>
        </p:spPr>
      </p:sp>
      <p:sp>
        <p:nvSpPr>
          <p:cNvPr id="21" name="card_74"/>
          <p:cNvSpPr/>
          <p:nvPr/>
        </p:nvSpPr>
        <p:spPr>
          <a:xfrm>
            <a:off x="2432304" y="4572000"/>
            <a:ext cx="1664208" cy="1097280"/>
          </a:xfrm>
          <a:prstGeom prst="roundRect">
            <a:avLst>
              <a:gd name="adj" fmla="val 6667"/>
            </a:avLst>
          </a:prstGeom>
          <a:solidFill>
            <a:srgbClr val="FFFFFF"/>
          </a:solidFill>
          <a:ln w="12700">
            <a:solidFill>
              <a:srgbClr val="CBD5E1"/>
            </a:solidFill>
            <a:prstDash val="solid"/>
          </a:ln>
        </p:spPr>
      </p:sp>
      <p:sp>
        <p:nvSpPr>
          <p:cNvPr id="22" name="text_75"/>
          <p:cNvSpPr txBox="1"/>
          <p:nvPr/>
        </p:nvSpPr>
        <p:spPr>
          <a:xfrm>
            <a:off x="2478024" y="4572000"/>
            <a:ext cx="1572768" cy="1097280"/>
          </a:xfrm>
          <a:prstGeom prst="rect">
            <a:avLst/>
          </a:prstGeom>
          <a:noFill/>
          <a:ln/>
        </p:spPr>
        <p:txBody>
          <a:bodyPr wrap="square" lIns="1016" tIns="1016" rIns="1016" bIns="1016" rtlCol="0" anchor="ctr"/>
          <a:lstStyle/>
          <a:p>
            <a:pPr algn="ctr" indent="0" marL="0">
              <a:buNone/>
            </a:pPr>
            <a:r>
              <a:rPr lang="en-US" sz="1500" b="1" dirty="0">
                <a:solidFill>
                  <a:schemeClr val="tx1"/>
                </a:solidFill>
              </a:rPr>
              <a:t>Granularity &amp; stability concern</a:t>
            </a:r>
            <a:endParaRPr lang="en-US" sz="1500" dirty="0"/>
          </a:p>
        </p:txBody>
      </p:sp>
      <p:sp>
        <p:nvSpPr>
          <p:cNvPr id="23" name="arrow_76"/>
          <p:cNvSpPr/>
          <p:nvPr/>
        </p:nvSpPr>
        <p:spPr>
          <a:xfrm>
            <a:off x="4114800" y="5120640"/>
            <a:ext cx="182880" cy="914"/>
          </a:xfrm>
          <a:prstGeom prst="line">
            <a:avLst/>
          </a:prstGeom>
          <a:noFill/>
          <a:ln w="25400">
            <a:solidFill>
              <a:srgbClr val="64748B"/>
            </a:solidFill>
            <a:prstDash val="solid"/>
            <a:tailEnd type="triangle"/>
          </a:ln>
        </p:spPr>
      </p:sp>
      <p:sp>
        <p:nvSpPr>
          <p:cNvPr id="24" name="card_77"/>
          <p:cNvSpPr/>
          <p:nvPr/>
        </p:nvSpPr>
        <p:spPr>
          <a:xfrm>
            <a:off x="4315968" y="4572000"/>
            <a:ext cx="1664208" cy="1097280"/>
          </a:xfrm>
          <a:prstGeom prst="roundRect">
            <a:avLst>
              <a:gd name="adj" fmla="val 6667"/>
            </a:avLst>
          </a:prstGeom>
          <a:solidFill>
            <a:srgbClr val="FFFFFF"/>
          </a:solidFill>
          <a:ln w="12700">
            <a:solidFill>
              <a:srgbClr val="CBD5E1"/>
            </a:solidFill>
            <a:prstDash val="solid"/>
          </a:ln>
        </p:spPr>
      </p:sp>
      <p:sp>
        <p:nvSpPr>
          <p:cNvPr id="25" name="text_78"/>
          <p:cNvSpPr txBox="1"/>
          <p:nvPr/>
        </p:nvSpPr>
        <p:spPr>
          <a:xfrm>
            <a:off x="4361688" y="4572000"/>
            <a:ext cx="1572768" cy="1097280"/>
          </a:xfrm>
          <a:prstGeom prst="rect">
            <a:avLst/>
          </a:prstGeom>
          <a:noFill/>
          <a:ln/>
        </p:spPr>
        <p:txBody>
          <a:bodyPr wrap="square" lIns="1016" tIns="1016" rIns="1016" bIns="1016" rtlCol="0" anchor="ctr"/>
          <a:lstStyle/>
          <a:p>
            <a:pPr algn="ctr" indent="0" marL="0">
              <a:buNone/>
            </a:pPr>
            <a:r>
              <a:rPr lang="en-US" sz="1500" b="1" dirty="0">
                <a:solidFill>
                  <a:schemeClr val="tx1"/>
                </a:solidFill>
              </a:rPr>
              <a:t>Agentic discovery</a:t>
            </a:r>
            <a:endParaRPr lang="en-US" sz="1500" dirty="0"/>
          </a:p>
        </p:txBody>
      </p:sp>
      <p:sp>
        <p:nvSpPr>
          <p:cNvPr id="26" name="arrow_79"/>
          <p:cNvSpPr/>
          <p:nvPr/>
        </p:nvSpPr>
        <p:spPr>
          <a:xfrm>
            <a:off x="5998464" y="5120640"/>
            <a:ext cx="182880" cy="914"/>
          </a:xfrm>
          <a:prstGeom prst="line">
            <a:avLst/>
          </a:prstGeom>
          <a:noFill/>
          <a:ln w="25400">
            <a:solidFill>
              <a:srgbClr val="64748B"/>
            </a:solidFill>
            <a:prstDash val="solid"/>
            <a:tailEnd type="triangle"/>
          </a:ln>
        </p:spPr>
      </p:sp>
      <p:sp>
        <p:nvSpPr>
          <p:cNvPr id="27" name="card_80"/>
          <p:cNvSpPr/>
          <p:nvPr/>
        </p:nvSpPr>
        <p:spPr>
          <a:xfrm>
            <a:off x="6199632" y="4572000"/>
            <a:ext cx="1664208" cy="1097280"/>
          </a:xfrm>
          <a:prstGeom prst="roundRect">
            <a:avLst>
              <a:gd name="adj" fmla="val 6667"/>
            </a:avLst>
          </a:prstGeom>
          <a:solidFill>
            <a:srgbClr val="FFFFFF"/>
          </a:solidFill>
          <a:ln w="12700">
            <a:solidFill>
              <a:srgbClr val="CBD5E1"/>
            </a:solidFill>
            <a:prstDash val="solid"/>
          </a:ln>
        </p:spPr>
      </p:sp>
      <p:sp>
        <p:nvSpPr>
          <p:cNvPr id="28" name="text_81"/>
          <p:cNvSpPr txBox="1"/>
          <p:nvPr/>
        </p:nvSpPr>
        <p:spPr>
          <a:xfrm>
            <a:off x="6245352" y="4572000"/>
            <a:ext cx="1572768" cy="1097280"/>
          </a:xfrm>
          <a:prstGeom prst="rect">
            <a:avLst/>
          </a:prstGeom>
          <a:noFill/>
          <a:ln/>
        </p:spPr>
        <p:txBody>
          <a:bodyPr wrap="square" lIns="1016" tIns="1016" rIns="1016" bIns="1016" rtlCol="0" anchor="ctr"/>
          <a:lstStyle/>
          <a:p>
            <a:pPr algn="ctr" indent="0" marL="0">
              <a:buNone/>
            </a:pPr>
            <a:r>
              <a:rPr lang="en-US" sz="1500" b="1" dirty="0">
                <a:solidFill>
                  <a:schemeClr val="tx1"/>
                </a:solidFill>
              </a:rPr>
              <a:t>N_AGENTIC = 80</a:t>
            </a:r>
            <a:endParaRPr lang="en-US" sz="1500" dirty="0"/>
          </a:p>
        </p:txBody>
      </p:sp>
      <p:sp>
        <p:nvSpPr>
          <p:cNvPr id="29" name="arrow_82"/>
          <p:cNvSpPr/>
          <p:nvPr/>
        </p:nvSpPr>
        <p:spPr>
          <a:xfrm>
            <a:off x="7882128" y="5120640"/>
            <a:ext cx="182880" cy="914"/>
          </a:xfrm>
          <a:prstGeom prst="line">
            <a:avLst/>
          </a:prstGeom>
          <a:noFill/>
          <a:ln w="25400">
            <a:solidFill>
              <a:srgbClr val="64748B"/>
            </a:solidFill>
            <a:prstDash val="solid"/>
            <a:tailEnd type="triangle"/>
          </a:ln>
        </p:spPr>
      </p:sp>
      <p:sp>
        <p:nvSpPr>
          <p:cNvPr id="30" name="card_83"/>
          <p:cNvSpPr/>
          <p:nvPr/>
        </p:nvSpPr>
        <p:spPr>
          <a:xfrm>
            <a:off x="8083296" y="4572000"/>
            <a:ext cx="1664208" cy="1097280"/>
          </a:xfrm>
          <a:prstGeom prst="roundRect">
            <a:avLst>
              <a:gd name="adj" fmla="val 6667"/>
            </a:avLst>
          </a:prstGeom>
          <a:solidFill>
            <a:srgbClr val="FFFFFF"/>
          </a:solidFill>
          <a:ln w="12700">
            <a:solidFill>
              <a:srgbClr val="CBD5E1"/>
            </a:solidFill>
            <a:prstDash val="solid"/>
          </a:ln>
        </p:spPr>
      </p:sp>
      <p:sp>
        <p:nvSpPr>
          <p:cNvPr id="31" name="text_84"/>
          <p:cNvSpPr txBox="1"/>
          <p:nvPr/>
        </p:nvSpPr>
        <p:spPr>
          <a:xfrm>
            <a:off x="8129016" y="4572000"/>
            <a:ext cx="1572768" cy="1097280"/>
          </a:xfrm>
          <a:prstGeom prst="rect">
            <a:avLst/>
          </a:prstGeom>
          <a:noFill/>
          <a:ln/>
        </p:spPr>
        <p:txBody>
          <a:bodyPr wrap="square" lIns="1016" tIns="1016" rIns="1016" bIns="1016" rtlCol="0" anchor="ctr"/>
          <a:lstStyle/>
          <a:p>
            <a:pPr algn="ctr" indent="0" marL="0">
              <a:buNone/>
            </a:pPr>
            <a:r>
              <a:rPr lang="en-US" sz="1500" b="1" dirty="0">
                <a:solidFill>
                  <a:schemeClr val="tx1"/>
                </a:solidFill>
              </a:rPr>
              <a:t>Matched benchmark</a:t>
            </a:r>
            <a:endParaRPr lang="en-US" sz="1500" dirty="0"/>
          </a:p>
        </p:txBody>
      </p:sp>
      <p:sp>
        <p:nvSpPr>
          <p:cNvPr id="32" name="arrow_85"/>
          <p:cNvSpPr/>
          <p:nvPr/>
        </p:nvSpPr>
        <p:spPr>
          <a:xfrm>
            <a:off x="9765792" y="5120640"/>
            <a:ext cx="182880" cy="914"/>
          </a:xfrm>
          <a:prstGeom prst="line">
            <a:avLst/>
          </a:prstGeom>
          <a:noFill/>
          <a:ln w="25400">
            <a:solidFill>
              <a:srgbClr val="64748B"/>
            </a:solidFill>
            <a:prstDash val="solid"/>
            <a:tailEnd type="triangle"/>
          </a:ln>
        </p:spPr>
      </p:sp>
      <p:sp>
        <p:nvSpPr>
          <p:cNvPr id="33" name="card_86"/>
          <p:cNvSpPr/>
          <p:nvPr/>
        </p:nvSpPr>
        <p:spPr>
          <a:xfrm>
            <a:off x="9966960" y="4572000"/>
            <a:ext cx="1664208" cy="1097280"/>
          </a:xfrm>
          <a:prstGeom prst="roundRect">
            <a:avLst>
              <a:gd name="adj" fmla="val 6667"/>
            </a:avLst>
          </a:prstGeom>
          <a:solidFill>
            <a:srgbClr val="0F766E"/>
          </a:solidFill>
          <a:ln/>
        </p:spPr>
      </p:sp>
      <p:sp>
        <p:nvSpPr>
          <p:cNvPr id="34" name="text_87"/>
          <p:cNvSpPr txBox="1"/>
          <p:nvPr/>
        </p:nvSpPr>
        <p:spPr>
          <a:xfrm>
            <a:off x="10012680" y="4572000"/>
            <a:ext cx="1572768" cy="1097280"/>
          </a:xfrm>
          <a:prstGeom prst="rect">
            <a:avLst/>
          </a:prstGeom>
          <a:noFill/>
          <a:ln/>
        </p:spPr>
        <p:txBody>
          <a:bodyPr wrap="square" lIns="1016" tIns="1016" rIns="1016" bIns="1016" rtlCol="0" anchor="ctr"/>
          <a:lstStyle/>
          <a:p>
            <a:pPr algn="ctr" indent="0" marL="0">
              <a:buNone/>
            </a:pPr>
            <a:r>
              <a:rPr lang="en-US" sz="1500" b="1" dirty="0">
                <a:solidFill>
                  <a:schemeClr val="bg1"/>
                </a:solidFill>
              </a:rPr>
              <a:t>Leiden @ 80 selected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Agentic topic discovery</a:t>
            </a:r>
            <a:endParaRPr lang="en-US" sz="3400" dirty="0"/>
          </a:p>
        </p:txBody>
      </p:sp>
      <p:sp>
        <p:nvSpPr>
          <p:cNvPr id="3" name="card_88"/>
          <p:cNvSpPr/>
          <p:nvPr/>
        </p:nvSpPr>
        <p:spPr>
          <a:xfrm>
            <a:off x="548640" y="1325880"/>
            <a:ext cx="2011680" cy="868680"/>
          </a:xfrm>
          <a:prstGeom prst="roundRect">
            <a:avLst>
              <a:gd name="adj" fmla="val 8421"/>
            </a:avLst>
          </a:prstGeom>
          <a:solidFill>
            <a:srgbClr val="EEF6F5"/>
          </a:solidFill>
          <a:ln/>
        </p:spPr>
      </p:sp>
      <p:sp>
        <p:nvSpPr>
          <p:cNvPr id="4" name="text_89"/>
          <p:cNvSpPr txBox="1"/>
          <p:nvPr/>
        </p:nvSpPr>
        <p:spPr>
          <a:xfrm>
            <a:off x="621792" y="1325880"/>
            <a:ext cx="1865376" cy="868680"/>
          </a:xfrm>
          <a:prstGeom prst="rect">
            <a:avLst/>
          </a:prstGeom>
          <a:noFill/>
          <a:ln/>
        </p:spPr>
        <p:txBody>
          <a:bodyPr wrap="square" lIns="1016" tIns="1016" rIns="1016" bIns="1016" rtlCol="0" anchor="ctr"/>
          <a:lstStyle/>
          <a:p>
            <a:pPr algn="ctr" indent="0" marL="0">
              <a:buNone/>
            </a:pPr>
            <a:r>
              <a:rPr lang="en-US" sz="1400" b="1" dirty="0">
                <a:solidFill>
                  <a:schemeClr val="tx1"/>
                </a:solidFill>
              </a:rPr>
              <a:t>3,015 tasks</a:t>
            </a:r>
            <a:endParaRPr lang="en-US" sz="1400" dirty="0"/>
          </a:p>
        </p:txBody>
      </p:sp>
      <p:sp>
        <p:nvSpPr>
          <p:cNvPr id="5" name="arrow_90"/>
          <p:cNvSpPr/>
          <p:nvPr/>
        </p:nvSpPr>
        <p:spPr>
          <a:xfrm>
            <a:off x="2578608" y="1760220"/>
            <a:ext cx="214884" cy="914"/>
          </a:xfrm>
          <a:prstGeom prst="line">
            <a:avLst/>
          </a:prstGeom>
          <a:noFill/>
          <a:ln w="25400">
            <a:solidFill>
              <a:srgbClr val="64748B"/>
            </a:solidFill>
            <a:prstDash val="solid"/>
            <a:tailEnd type="triangle"/>
          </a:ln>
        </p:spPr>
      </p:sp>
      <p:sp>
        <p:nvSpPr>
          <p:cNvPr id="6" name="card_91"/>
          <p:cNvSpPr/>
          <p:nvPr/>
        </p:nvSpPr>
        <p:spPr>
          <a:xfrm>
            <a:off x="2811780" y="1325880"/>
            <a:ext cx="2011680" cy="868680"/>
          </a:xfrm>
          <a:prstGeom prst="roundRect">
            <a:avLst>
              <a:gd name="adj" fmla="val 8421"/>
            </a:avLst>
          </a:prstGeom>
          <a:solidFill>
            <a:srgbClr val="EEF6F5"/>
          </a:solidFill>
          <a:ln/>
        </p:spPr>
      </p:sp>
      <p:sp>
        <p:nvSpPr>
          <p:cNvPr id="7" name="text_92"/>
          <p:cNvSpPr txBox="1"/>
          <p:nvPr/>
        </p:nvSpPr>
        <p:spPr>
          <a:xfrm>
            <a:off x="2884932" y="1325880"/>
            <a:ext cx="1865376" cy="868680"/>
          </a:xfrm>
          <a:prstGeom prst="rect">
            <a:avLst/>
          </a:prstGeom>
          <a:noFill/>
          <a:ln/>
        </p:spPr>
        <p:txBody>
          <a:bodyPr wrap="square" lIns="1016" tIns="1016" rIns="1016" bIns="1016" rtlCol="0" anchor="ctr"/>
          <a:lstStyle/>
          <a:p>
            <a:pPr algn="ctr" indent="0" marL="0">
              <a:buNone/>
            </a:pPr>
            <a:r>
              <a:rPr lang="en-US" sz="1400" b="1" dirty="0">
                <a:solidFill>
                  <a:schemeClr val="tx1"/>
                </a:solidFill>
              </a:rPr>
              <a:t>Existing Sentence-T5 embeddings</a:t>
            </a:r>
            <a:endParaRPr lang="en-US" sz="1400" dirty="0"/>
          </a:p>
        </p:txBody>
      </p:sp>
      <p:sp>
        <p:nvSpPr>
          <p:cNvPr id="8" name="arrow_93"/>
          <p:cNvSpPr/>
          <p:nvPr/>
        </p:nvSpPr>
        <p:spPr>
          <a:xfrm>
            <a:off x="4841748" y="1760220"/>
            <a:ext cx="214884" cy="914"/>
          </a:xfrm>
          <a:prstGeom prst="line">
            <a:avLst/>
          </a:prstGeom>
          <a:noFill/>
          <a:ln w="25400">
            <a:solidFill>
              <a:srgbClr val="64748B"/>
            </a:solidFill>
            <a:prstDash val="solid"/>
            <a:tailEnd type="triangle"/>
          </a:ln>
        </p:spPr>
      </p:sp>
      <p:sp>
        <p:nvSpPr>
          <p:cNvPr id="9" name="card_94"/>
          <p:cNvSpPr/>
          <p:nvPr/>
        </p:nvSpPr>
        <p:spPr>
          <a:xfrm>
            <a:off x="5074920" y="1325880"/>
            <a:ext cx="2011680" cy="868680"/>
          </a:xfrm>
          <a:prstGeom prst="roundRect">
            <a:avLst>
              <a:gd name="adj" fmla="val 8421"/>
            </a:avLst>
          </a:prstGeom>
          <a:solidFill>
            <a:srgbClr val="EEF6F5"/>
          </a:solidFill>
          <a:ln/>
        </p:spPr>
      </p:sp>
      <p:sp>
        <p:nvSpPr>
          <p:cNvPr id="10" name="text_95"/>
          <p:cNvSpPr txBox="1"/>
          <p:nvPr/>
        </p:nvSpPr>
        <p:spPr>
          <a:xfrm>
            <a:off x="5148072" y="1325880"/>
            <a:ext cx="1865376" cy="868680"/>
          </a:xfrm>
          <a:prstGeom prst="rect">
            <a:avLst/>
          </a:prstGeom>
          <a:noFill/>
          <a:ln/>
        </p:spPr>
        <p:txBody>
          <a:bodyPr wrap="square" lIns="1016" tIns="1016" rIns="1016" bIns="1016" rtlCol="0" anchor="ctr"/>
          <a:lstStyle/>
          <a:p>
            <a:pPr algn="ctr" indent="0" marL="0">
              <a:buNone/>
            </a:pPr>
            <a:r>
              <a:rPr lang="en-US" sz="1400" b="1" dirty="0">
                <a:solidFill>
                  <a:schemeClr val="tx1"/>
                </a:solidFill>
              </a:rPr>
              <a:t>Semantic diversity sampling</a:t>
            </a:r>
            <a:endParaRPr lang="en-US" sz="1400" dirty="0"/>
          </a:p>
        </p:txBody>
      </p:sp>
      <p:sp>
        <p:nvSpPr>
          <p:cNvPr id="11" name="arrow_96"/>
          <p:cNvSpPr/>
          <p:nvPr/>
        </p:nvSpPr>
        <p:spPr>
          <a:xfrm>
            <a:off x="7104888" y="1760220"/>
            <a:ext cx="214884" cy="914"/>
          </a:xfrm>
          <a:prstGeom prst="line">
            <a:avLst/>
          </a:prstGeom>
          <a:noFill/>
          <a:ln w="25400">
            <a:solidFill>
              <a:srgbClr val="64748B"/>
            </a:solidFill>
            <a:prstDash val="solid"/>
            <a:tailEnd type="triangle"/>
          </a:ln>
        </p:spPr>
      </p:sp>
      <p:sp>
        <p:nvSpPr>
          <p:cNvPr id="12" name="card_97"/>
          <p:cNvSpPr/>
          <p:nvPr/>
        </p:nvSpPr>
        <p:spPr>
          <a:xfrm>
            <a:off x="7338060" y="1325880"/>
            <a:ext cx="2011680" cy="868680"/>
          </a:xfrm>
          <a:prstGeom prst="roundRect">
            <a:avLst>
              <a:gd name="adj" fmla="val 8421"/>
            </a:avLst>
          </a:prstGeom>
          <a:solidFill>
            <a:srgbClr val="0F766E"/>
          </a:solidFill>
          <a:ln/>
        </p:spPr>
      </p:sp>
      <p:sp>
        <p:nvSpPr>
          <p:cNvPr id="13" name="text_98"/>
          <p:cNvSpPr txBox="1"/>
          <p:nvPr/>
        </p:nvSpPr>
        <p:spPr>
          <a:xfrm>
            <a:off x="7411212" y="1325880"/>
            <a:ext cx="1865376" cy="868680"/>
          </a:xfrm>
          <a:prstGeom prst="rect">
            <a:avLst/>
          </a:prstGeom>
          <a:noFill/>
          <a:ln/>
        </p:spPr>
        <p:txBody>
          <a:bodyPr wrap="square" lIns="1016" tIns="1016" rIns="1016" bIns="1016" rtlCol="0" anchor="ctr"/>
          <a:lstStyle/>
          <a:p>
            <a:pPr algn="ctr" indent="0" marL="0">
              <a:buNone/>
            </a:pPr>
            <a:r>
              <a:rPr lang="en-US" sz="1400" b="1" dirty="0">
                <a:solidFill>
                  <a:schemeClr val="bg1"/>
                </a:solidFill>
              </a:rPr>
              <a:t>Claude concept discovery</a:t>
            </a:r>
            <a:endParaRPr lang="en-US" sz="1400" dirty="0"/>
          </a:p>
        </p:txBody>
      </p:sp>
      <p:sp>
        <p:nvSpPr>
          <p:cNvPr id="14" name="arrow_99"/>
          <p:cNvSpPr/>
          <p:nvPr/>
        </p:nvSpPr>
        <p:spPr>
          <a:xfrm>
            <a:off x="9368028" y="1760220"/>
            <a:ext cx="214884" cy="914"/>
          </a:xfrm>
          <a:prstGeom prst="line">
            <a:avLst/>
          </a:prstGeom>
          <a:noFill/>
          <a:ln w="25400">
            <a:solidFill>
              <a:srgbClr val="64748B"/>
            </a:solidFill>
            <a:prstDash val="solid"/>
            <a:tailEnd type="triangle"/>
          </a:ln>
        </p:spPr>
      </p:sp>
      <p:sp>
        <p:nvSpPr>
          <p:cNvPr id="15" name="card_100"/>
          <p:cNvSpPr/>
          <p:nvPr/>
        </p:nvSpPr>
        <p:spPr>
          <a:xfrm>
            <a:off x="9601200" y="1325880"/>
            <a:ext cx="2011680" cy="868680"/>
          </a:xfrm>
          <a:prstGeom prst="roundRect">
            <a:avLst>
              <a:gd name="adj" fmla="val 8421"/>
            </a:avLst>
          </a:prstGeom>
          <a:solidFill>
            <a:srgbClr val="EEF6F5"/>
          </a:solidFill>
          <a:ln/>
        </p:spPr>
      </p:sp>
      <p:sp>
        <p:nvSpPr>
          <p:cNvPr id="16" name="text_101"/>
          <p:cNvSpPr txBox="1"/>
          <p:nvPr/>
        </p:nvSpPr>
        <p:spPr>
          <a:xfrm>
            <a:off x="9674352" y="1325880"/>
            <a:ext cx="1865376" cy="868680"/>
          </a:xfrm>
          <a:prstGeom prst="rect">
            <a:avLst/>
          </a:prstGeom>
          <a:noFill/>
          <a:ln/>
        </p:spPr>
        <p:txBody>
          <a:bodyPr wrap="square" lIns="1016" tIns="1016" rIns="1016" bIns="1016" rtlCol="0" anchor="ctr"/>
          <a:lstStyle/>
          <a:p>
            <a:pPr algn="ctr" indent="0" marL="0">
              <a:buNone/>
            </a:pPr>
            <a:r>
              <a:rPr lang="en-US" sz="1400" b="1" dirty="0">
                <a:solidFill>
                  <a:schemeClr val="tx1"/>
                </a:solidFill>
              </a:rPr>
              <a:t>Topic registry</a:t>
            </a:r>
            <a:endParaRPr lang="en-US" sz="1400" dirty="0"/>
          </a:p>
        </p:txBody>
      </p:sp>
      <p:sp>
        <p:nvSpPr>
          <p:cNvPr id="17" name="arrow_102"/>
          <p:cNvSpPr/>
          <p:nvPr/>
        </p:nvSpPr>
        <p:spPr>
          <a:xfrm>
            <a:off x="10607040" y="2212848"/>
            <a:ext cx="914" cy="374904"/>
          </a:xfrm>
          <a:prstGeom prst="line">
            <a:avLst/>
          </a:prstGeom>
          <a:noFill/>
          <a:ln w="25400">
            <a:solidFill>
              <a:srgbClr val="64748B"/>
            </a:solidFill>
            <a:prstDash val="solid"/>
            <a:tailEnd type="triangle"/>
          </a:ln>
        </p:spPr>
      </p:sp>
      <p:sp>
        <p:nvSpPr>
          <p:cNvPr id="18" name="card_103"/>
          <p:cNvSpPr/>
          <p:nvPr/>
        </p:nvSpPr>
        <p:spPr>
          <a:xfrm>
            <a:off x="9601200" y="2606040"/>
            <a:ext cx="2011680" cy="868680"/>
          </a:xfrm>
          <a:prstGeom prst="roundRect">
            <a:avLst>
              <a:gd name="adj" fmla="val 8421"/>
            </a:avLst>
          </a:prstGeom>
          <a:solidFill>
            <a:srgbClr val="EEF6F5"/>
          </a:solidFill>
          <a:ln/>
        </p:spPr>
      </p:sp>
      <p:sp>
        <p:nvSpPr>
          <p:cNvPr id="19" name="text_104"/>
          <p:cNvSpPr txBox="1"/>
          <p:nvPr/>
        </p:nvSpPr>
        <p:spPr>
          <a:xfrm>
            <a:off x="9674352" y="2606040"/>
            <a:ext cx="1865376" cy="868680"/>
          </a:xfrm>
          <a:prstGeom prst="rect">
            <a:avLst/>
          </a:prstGeom>
          <a:noFill/>
          <a:ln/>
        </p:spPr>
        <p:txBody>
          <a:bodyPr wrap="square" lIns="1016" tIns="1016" rIns="1016" bIns="1016" rtlCol="0" anchor="ctr"/>
          <a:lstStyle/>
          <a:p>
            <a:pPr algn="ctr" indent="0" marL="0">
              <a:buNone/>
            </a:pPr>
            <a:r>
              <a:rPr lang="en-US" sz="1400" b="1" dirty="0">
                <a:solidFill>
                  <a:schemeClr val="tx1"/>
                </a:solidFill>
              </a:rPr>
              <a:t>Automatic high-confidence assignment</a:t>
            </a:r>
            <a:endParaRPr lang="en-US" sz="1400" dirty="0"/>
          </a:p>
        </p:txBody>
      </p:sp>
      <p:sp>
        <p:nvSpPr>
          <p:cNvPr id="20" name="arrow_105"/>
          <p:cNvSpPr/>
          <p:nvPr/>
        </p:nvSpPr>
        <p:spPr>
          <a:xfrm flipH="1">
            <a:off x="9368028" y="3040380"/>
            <a:ext cx="214884" cy="914"/>
          </a:xfrm>
          <a:prstGeom prst="line">
            <a:avLst/>
          </a:prstGeom>
          <a:noFill/>
          <a:ln w="25400">
            <a:solidFill>
              <a:srgbClr val="64748B"/>
            </a:solidFill>
            <a:prstDash val="solid"/>
            <a:tailEnd type="triangle"/>
          </a:ln>
        </p:spPr>
      </p:sp>
      <p:sp>
        <p:nvSpPr>
          <p:cNvPr id="21" name="card_106"/>
          <p:cNvSpPr/>
          <p:nvPr/>
        </p:nvSpPr>
        <p:spPr>
          <a:xfrm>
            <a:off x="7338060" y="2606040"/>
            <a:ext cx="2011680" cy="868680"/>
          </a:xfrm>
          <a:prstGeom prst="roundRect">
            <a:avLst>
              <a:gd name="adj" fmla="val 8421"/>
            </a:avLst>
          </a:prstGeom>
          <a:solidFill>
            <a:srgbClr val="0F766E"/>
          </a:solidFill>
          <a:ln/>
        </p:spPr>
      </p:sp>
      <p:sp>
        <p:nvSpPr>
          <p:cNvPr id="22" name="text_107"/>
          <p:cNvSpPr txBox="1"/>
          <p:nvPr/>
        </p:nvSpPr>
        <p:spPr>
          <a:xfrm>
            <a:off x="7411212" y="2606040"/>
            <a:ext cx="1865376" cy="868680"/>
          </a:xfrm>
          <a:prstGeom prst="rect">
            <a:avLst/>
          </a:prstGeom>
          <a:noFill/>
          <a:ln/>
        </p:spPr>
        <p:txBody>
          <a:bodyPr wrap="square" lIns="1016" tIns="1016" rIns="1016" bIns="1016" rtlCol="0" anchor="ctr"/>
          <a:lstStyle/>
          <a:p>
            <a:pPr algn="ctr" indent="0" marL="0">
              <a:buNone/>
            </a:pPr>
            <a:r>
              <a:rPr lang="en-US" sz="1400" b="1" dirty="0">
                <a:solidFill>
                  <a:schemeClr val="bg1"/>
                </a:solidFill>
              </a:rPr>
              <a:t>Claude only for ambiguous / novel cases</a:t>
            </a:r>
            <a:endParaRPr lang="en-US" sz="1400" dirty="0"/>
          </a:p>
        </p:txBody>
      </p:sp>
      <p:sp>
        <p:nvSpPr>
          <p:cNvPr id="23" name="arrow_108"/>
          <p:cNvSpPr/>
          <p:nvPr/>
        </p:nvSpPr>
        <p:spPr>
          <a:xfrm flipH="1">
            <a:off x="7104888" y="3040380"/>
            <a:ext cx="214884" cy="914"/>
          </a:xfrm>
          <a:prstGeom prst="line">
            <a:avLst/>
          </a:prstGeom>
          <a:noFill/>
          <a:ln w="25400">
            <a:solidFill>
              <a:srgbClr val="64748B"/>
            </a:solidFill>
            <a:prstDash val="solid"/>
            <a:tailEnd type="triangle"/>
          </a:ln>
        </p:spPr>
      </p:sp>
      <p:sp>
        <p:nvSpPr>
          <p:cNvPr id="24" name="card_109"/>
          <p:cNvSpPr/>
          <p:nvPr/>
        </p:nvSpPr>
        <p:spPr>
          <a:xfrm>
            <a:off x="5074920" y="2606040"/>
            <a:ext cx="2011680" cy="868680"/>
          </a:xfrm>
          <a:prstGeom prst="roundRect">
            <a:avLst>
              <a:gd name="adj" fmla="val 8421"/>
            </a:avLst>
          </a:prstGeom>
          <a:solidFill>
            <a:srgbClr val="0F766E"/>
          </a:solidFill>
          <a:ln/>
        </p:spPr>
      </p:sp>
      <p:sp>
        <p:nvSpPr>
          <p:cNvPr id="25" name="text_110"/>
          <p:cNvSpPr txBox="1"/>
          <p:nvPr/>
        </p:nvSpPr>
        <p:spPr>
          <a:xfrm>
            <a:off x="5148072" y="2606040"/>
            <a:ext cx="1865376" cy="868680"/>
          </a:xfrm>
          <a:prstGeom prst="rect">
            <a:avLst/>
          </a:prstGeom>
          <a:noFill/>
          <a:ln/>
        </p:spPr>
        <p:txBody>
          <a:bodyPr wrap="square" lIns="1016" tIns="1016" rIns="1016" bIns="1016" rtlCol="0" anchor="ctr"/>
          <a:lstStyle/>
          <a:p>
            <a:pPr algn="ctr" indent="0" marL="0">
              <a:buNone/>
            </a:pPr>
            <a:r>
              <a:rPr lang="en-US" sz="1400" b="1" dirty="0">
                <a:solidFill>
                  <a:schemeClr val="bg1"/>
                </a:solidFill>
              </a:rPr>
              <a:t>Merge / split / refine review</a:t>
            </a:r>
            <a:endParaRPr lang="en-US" sz="1400" dirty="0"/>
          </a:p>
        </p:txBody>
      </p:sp>
      <p:sp>
        <p:nvSpPr>
          <p:cNvPr id="26" name="arrow_111"/>
          <p:cNvSpPr/>
          <p:nvPr/>
        </p:nvSpPr>
        <p:spPr>
          <a:xfrm flipH="1">
            <a:off x="4841748" y="3040380"/>
            <a:ext cx="214884" cy="914"/>
          </a:xfrm>
          <a:prstGeom prst="line">
            <a:avLst/>
          </a:prstGeom>
          <a:noFill/>
          <a:ln w="25400">
            <a:solidFill>
              <a:srgbClr val="64748B"/>
            </a:solidFill>
            <a:prstDash val="solid"/>
            <a:tailEnd type="triangle"/>
          </a:ln>
        </p:spPr>
      </p:sp>
      <p:sp>
        <p:nvSpPr>
          <p:cNvPr id="27" name="card_112"/>
          <p:cNvSpPr/>
          <p:nvPr/>
        </p:nvSpPr>
        <p:spPr>
          <a:xfrm>
            <a:off x="2811780" y="2606040"/>
            <a:ext cx="2011680" cy="868680"/>
          </a:xfrm>
          <a:prstGeom prst="roundRect">
            <a:avLst>
              <a:gd name="adj" fmla="val 8421"/>
            </a:avLst>
          </a:prstGeom>
          <a:solidFill>
            <a:srgbClr val="134E4A"/>
          </a:solidFill>
          <a:ln/>
        </p:spPr>
      </p:sp>
      <p:sp>
        <p:nvSpPr>
          <p:cNvPr id="28" name="text_113"/>
          <p:cNvSpPr txBox="1"/>
          <p:nvPr/>
        </p:nvSpPr>
        <p:spPr>
          <a:xfrm>
            <a:off x="2884932" y="2606040"/>
            <a:ext cx="1865376" cy="868680"/>
          </a:xfrm>
          <a:prstGeom prst="rect">
            <a:avLst/>
          </a:prstGeom>
          <a:noFill/>
          <a:ln/>
        </p:spPr>
        <p:txBody>
          <a:bodyPr wrap="square" lIns="1016" tIns="1016" rIns="1016" bIns="1016" rtlCol="0" anchor="ctr"/>
          <a:lstStyle/>
          <a:p>
            <a:pPr algn="ctr" indent="0" marL="0">
              <a:buNone/>
            </a:pPr>
            <a:r>
              <a:rPr lang="en-US" sz="1400" b="1" dirty="0">
                <a:solidFill>
                  <a:schemeClr val="bg1"/>
                </a:solidFill>
              </a:rPr>
              <a:t>N_AGENTIC = 80</a:t>
            </a:r>
            <a:endParaRPr lang="en-US" sz="1400" dirty="0"/>
          </a:p>
        </p:txBody>
      </p:sp>
      <p:sp>
        <p:nvSpPr>
          <p:cNvPr id="29" name="lg_114"/>
          <p:cNvSpPr/>
          <p:nvPr/>
        </p:nvSpPr>
        <p:spPr>
          <a:xfrm>
            <a:off x="548640" y="3657600"/>
            <a:ext cx="228600" cy="228600"/>
          </a:xfrm>
          <a:prstGeom prst="rect">
            <a:avLst/>
          </a:prstGeom>
          <a:solidFill>
            <a:srgbClr val="0F766E"/>
          </a:solidFill>
          <a:ln/>
        </p:spPr>
      </p:sp>
      <p:sp>
        <p:nvSpPr>
          <p:cNvPr id="30" name="text_115"/>
          <p:cNvSpPr txBox="1"/>
          <p:nvPr/>
        </p:nvSpPr>
        <p:spPr>
          <a:xfrm>
            <a:off x="822960" y="3593592"/>
            <a:ext cx="2194560" cy="365760"/>
          </a:xfrm>
          <a:prstGeom prst="rect">
            <a:avLst/>
          </a:prstGeom>
          <a:noFill/>
          <a:ln/>
        </p:spPr>
        <p:txBody>
          <a:bodyPr wrap="square" lIns="1016" tIns="1016" rIns="1016" bIns="1016" rtlCol="0" anchor="ctr"/>
          <a:lstStyle/>
          <a:p>
            <a:pPr algn="l" indent="0" marL="0">
              <a:buNone/>
            </a:pPr>
            <a:r>
              <a:rPr lang="en-US" sz="1300" dirty="0">
                <a:solidFill>
                  <a:schemeClr val="accent2"/>
                </a:solidFill>
              </a:rPr>
              <a:t>Claude reasoning</a:t>
            </a:r>
            <a:endParaRPr lang="en-US" sz="1300" dirty="0"/>
          </a:p>
        </p:txBody>
      </p:sp>
      <p:sp>
        <p:nvSpPr>
          <p:cNvPr id="31" name="lg_116"/>
          <p:cNvSpPr/>
          <p:nvPr/>
        </p:nvSpPr>
        <p:spPr>
          <a:xfrm>
            <a:off x="2926080" y="3657600"/>
            <a:ext cx="228600" cy="228600"/>
          </a:xfrm>
          <a:prstGeom prst="rect">
            <a:avLst/>
          </a:prstGeom>
          <a:solidFill>
            <a:srgbClr val="EEF6F5"/>
          </a:solidFill>
          <a:ln w="12700">
            <a:solidFill>
              <a:srgbClr val="CBD5E1"/>
            </a:solidFill>
            <a:prstDash val="solid"/>
          </a:ln>
        </p:spPr>
      </p:sp>
      <p:sp>
        <p:nvSpPr>
          <p:cNvPr id="32" name="text_117"/>
          <p:cNvSpPr txBox="1"/>
          <p:nvPr/>
        </p:nvSpPr>
        <p:spPr>
          <a:xfrm>
            <a:off x="3200400" y="3593592"/>
            <a:ext cx="3291840" cy="365760"/>
          </a:xfrm>
          <a:prstGeom prst="rect">
            <a:avLst/>
          </a:prstGeom>
          <a:noFill/>
          <a:ln/>
        </p:spPr>
        <p:txBody>
          <a:bodyPr wrap="square" lIns="1016" tIns="1016" rIns="1016" bIns="1016" rtlCol="0" anchor="ctr"/>
          <a:lstStyle/>
          <a:p>
            <a:pPr algn="l" indent="0" marL="0">
              <a:buNone/>
            </a:pPr>
            <a:r>
              <a:rPr lang="en-US" sz="1300" dirty="0">
                <a:solidFill>
                  <a:schemeClr val="accent2"/>
                </a:solidFill>
              </a:rPr>
              <a:t>Local embeddings &amp; computation</a:t>
            </a:r>
            <a:endParaRPr lang="en-US" sz="1300" dirty="0"/>
          </a:p>
        </p:txBody>
      </p:sp>
      <p:sp>
        <p:nvSpPr>
          <p:cNvPr id="33" name="dot_118"/>
          <p:cNvSpPr/>
          <p:nvPr/>
        </p:nvSpPr>
        <p:spPr>
          <a:xfrm>
            <a:off x="548640" y="4233672"/>
            <a:ext cx="274320" cy="274320"/>
          </a:xfrm>
          <a:prstGeom prst="ellipse">
            <a:avLst/>
          </a:prstGeom>
          <a:solidFill>
            <a:srgbClr val="0F766E"/>
          </a:solidFill>
          <a:ln/>
        </p:spPr>
      </p:sp>
      <p:sp>
        <p:nvSpPr>
          <p:cNvPr id="34" name="text_119"/>
          <p:cNvSpPr txBox="1"/>
          <p:nvPr/>
        </p:nvSpPr>
        <p:spPr>
          <a:xfrm>
            <a:off x="960120" y="4160520"/>
            <a:ext cx="6400800" cy="457200"/>
          </a:xfrm>
          <a:prstGeom prst="rect">
            <a:avLst/>
          </a:prstGeom>
          <a:noFill/>
          <a:ln/>
        </p:spPr>
        <p:txBody>
          <a:bodyPr wrap="square" lIns="1016" tIns="1016" rIns="1016" bIns="1016" rtlCol="0" anchor="ctr"/>
          <a:lstStyle/>
          <a:p>
            <a:pPr algn="l" indent="0" marL="0">
              <a:buNone/>
            </a:pPr>
            <a:r>
              <a:rPr lang="en-US" sz="1500" b="1" dirty="0">
                <a:solidFill>
                  <a:schemeClr val="tx1"/>
                </a:solidFill>
              </a:rPr>
              <a:t>No predefined topic count</a:t>
            </a:r>
            <a:pPr algn="l" indent="0" marL="0">
              <a:buNone/>
            </a:pPr>
            <a:r>
              <a:rPr lang="en-US" sz="1500" dirty="0">
                <a:solidFill>
                  <a:srgbClr val="64748B"/>
                </a:solidFill>
              </a:rPr>
              <a:t>  —  the number of topics was an output, never an input</a:t>
            </a:r>
            <a:endParaRPr lang="en-US" sz="1500" dirty="0"/>
          </a:p>
        </p:txBody>
      </p:sp>
      <p:sp>
        <p:nvSpPr>
          <p:cNvPr id="35" name="dot_120"/>
          <p:cNvSpPr/>
          <p:nvPr/>
        </p:nvSpPr>
        <p:spPr>
          <a:xfrm>
            <a:off x="548640" y="4855464"/>
            <a:ext cx="274320" cy="274320"/>
          </a:xfrm>
          <a:prstGeom prst="ellipse">
            <a:avLst/>
          </a:prstGeom>
          <a:solidFill>
            <a:srgbClr val="0F766E"/>
          </a:solidFill>
          <a:ln/>
        </p:spPr>
      </p:sp>
      <p:sp>
        <p:nvSpPr>
          <p:cNvPr id="36" name="text_121"/>
          <p:cNvSpPr txBox="1"/>
          <p:nvPr/>
        </p:nvSpPr>
        <p:spPr>
          <a:xfrm>
            <a:off x="960120" y="4782312"/>
            <a:ext cx="6400800" cy="457200"/>
          </a:xfrm>
          <a:prstGeom prst="rect">
            <a:avLst/>
          </a:prstGeom>
          <a:noFill/>
          <a:ln/>
        </p:spPr>
        <p:txBody>
          <a:bodyPr wrap="square" lIns="1016" tIns="1016" rIns="1016" bIns="1016" rtlCol="0" anchor="ctr"/>
          <a:lstStyle/>
          <a:p>
            <a:pPr algn="l" indent="0" marL="0">
              <a:buNone/>
            </a:pPr>
            <a:r>
              <a:rPr lang="en-US" sz="1500" b="1" dirty="0">
                <a:solidFill>
                  <a:schemeClr val="tx1"/>
                </a:solidFill>
              </a:rPr>
              <a:t>Claude did not classify every task</a:t>
            </a:r>
            <a:pPr algn="l" indent="0" marL="0">
              <a:buNone/>
            </a:pPr>
            <a:r>
              <a:rPr lang="en-US" sz="1500" dirty="0">
                <a:solidFill>
                  <a:srgbClr val="64748B"/>
                </a:solidFill>
              </a:rPr>
              <a:t>  —  it decided 139 of 3,015 directly; embeddings assigned the rest</a:t>
            </a:r>
            <a:endParaRPr lang="en-US" sz="1500" dirty="0"/>
          </a:p>
        </p:txBody>
      </p:sp>
      <p:sp>
        <p:nvSpPr>
          <p:cNvPr id="37" name="dot_122"/>
          <p:cNvSpPr/>
          <p:nvPr/>
        </p:nvSpPr>
        <p:spPr>
          <a:xfrm>
            <a:off x="548640" y="5477256"/>
            <a:ext cx="274320" cy="274320"/>
          </a:xfrm>
          <a:prstGeom prst="ellipse">
            <a:avLst/>
          </a:prstGeom>
          <a:solidFill>
            <a:srgbClr val="0F766E"/>
          </a:solidFill>
          <a:ln/>
        </p:spPr>
      </p:sp>
      <p:sp>
        <p:nvSpPr>
          <p:cNvPr id="38" name="text_123"/>
          <p:cNvSpPr txBox="1"/>
          <p:nvPr/>
        </p:nvSpPr>
        <p:spPr>
          <a:xfrm>
            <a:off x="960120" y="5404104"/>
            <a:ext cx="6400800" cy="457200"/>
          </a:xfrm>
          <a:prstGeom prst="rect">
            <a:avLst/>
          </a:prstGeom>
          <a:noFill/>
          <a:ln/>
        </p:spPr>
        <p:txBody>
          <a:bodyPr wrap="square" lIns="1016" tIns="1016" rIns="1016" bIns="1016" rtlCol="0" anchor="ctr"/>
          <a:lstStyle/>
          <a:p>
            <a:pPr algn="l" indent="0" marL="0">
              <a:buNone/>
            </a:pPr>
            <a:r>
              <a:rPr lang="en-US" sz="1500" b="1" dirty="0">
                <a:solidFill>
                  <a:schemeClr val="tx1"/>
                </a:solidFill>
              </a:rPr>
              <a:t>Claude reserved for semantic reasoning</a:t>
            </a:r>
            <a:pPr algn="l" indent="0" marL="0">
              <a:buNone/>
            </a:pPr>
            <a:r>
              <a:rPr lang="en-US" sz="1500" dirty="0">
                <a:solidFill>
                  <a:srgbClr val="64748B"/>
                </a:solidFill>
              </a:rPr>
              <a:t>  —  naming concepts, hard cases, merge / split decisions</a:t>
            </a:r>
            <a:endParaRPr lang="en-US" sz="1500" dirty="0"/>
          </a:p>
        </p:txBody>
      </p:sp>
      <p:sp>
        <p:nvSpPr>
          <p:cNvPr id="39" name="card_124"/>
          <p:cNvSpPr/>
          <p:nvPr/>
        </p:nvSpPr>
        <p:spPr>
          <a:xfrm>
            <a:off x="7635240" y="4069080"/>
            <a:ext cx="3977640" cy="868680"/>
          </a:xfrm>
          <a:prstGeom prst="roundRect">
            <a:avLst>
              <a:gd name="adj" fmla="val 8421"/>
            </a:avLst>
          </a:prstGeom>
          <a:solidFill>
            <a:srgbClr val="EEF6F5"/>
          </a:solidFill>
          <a:ln/>
        </p:spPr>
      </p:sp>
      <p:sp>
        <p:nvSpPr>
          <p:cNvPr id="40" name="text_125"/>
          <p:cNvSpPr txBox="1"/>
          <p:nvPr/>
        </p:nvSpPr>
        <p:spPr>
          <a:xfrm>
            <a:off x="7726680" y="4069080"/>
            <a:ext cx="3794760" cy="868680"/>
          </a:xfrm>
          <a:prstGeom prst="rect">
            <a:avLst/>
          </a:prstGeom>
          <a:noFill/>
          <a:ln/>
        </p:spPr>
        <p:txBody>
          <a:bodyPr wrap="square" lIns="1016" tIns="1016" rIns="1016" bIns="1016" rtlCol="0" anchor="ctr"/>
          <a:lstStyle/>
          <a:p>
            <a:pPr algn="ctr" indent="0" marL="0">
              <a:buNone/>
            </a:pPr>
            <a:r>
              <a:rPr lang="en-US" sz="3000" b="1" dirty="0">
                <a:solidFill>
                  <a:srgbClr val="0F766E"/>
                </a:solidFill>
              </a:rPr>
              <a:t>19 / 20</a:t>
            </a:r>
            <a:pPr algn="ctr" indent="0" marL="0">
              <a:buNone/>
            </a:pPr>
            <a:r>
              <a:rPr lang="en-US" sz="1500" dirty="0">
                <a:solidFill>
                  <a:schemeClr val="tx1"/>
                </a:solidFill>
              </a:rPr>
              <a:t>  recorded Claude calls</a:t>
            </a:r>
            <a:endParaRPr lang="en-US" sz="1600" dirty="0"/>
          </a:p>
        </p:txBody>
      </p:sp>
      <p:sp>
        <p:nvSpPr>
          <p:cNvPr id="41" name="card_126"/>
          <p:cNvSpPr/>
          <p:nvPr/>
        </p:nvSpPr>
        <p:spPr>
          <a:xfrm>
            <a:off x="7635240" y="5074920"/>
            <a:ext cx="3977640" cy="1143000"/>
          </a:xfrm>
          <a:prstGeom prst="roundRect">
            <a:avLst>
              <a:gd name="adj" fmla="val 6400"/>
            </a:avLst>
          </a:prstGeom>
          <a:solidFill>
            <a:srgbClr val="FDF3E7"/>
          </a:solidFill>
          <a:ln/>
        </p:spPr>
      </p:sp>
      <p:sp>
        <p:nvSpPr>
          <p:cNvPr id="42" name="text_127"/>
          <p:cNvSpPr txBox="1"/>
          <p:nvPr/>
        </p:nvSpPr>
        <p:spPr>
          <a:xfrm>
            <a:off x="7772400" y="5074920"/>
            <a:ext cx="3703320" cy="1143000"/>
          </a:xfrm>
          <a:prstGeom prst="rect">
            <a:avLst/>
          </a:prstGeom>
          <a:noFill/>
          <a:ln/>
        </p:spPr>
        <p:txBody>
          <a:bodyPr wrap="square" lIns="1016" tIns="1016" rIns="1016" bIns="1016" rtlCol="0" anchor="ctr"/>
          <a:lstStyle/>
          <a:p>
            <a:pPr algn="l" indent="0" marL="0">
              <a:buNone/>
            </a:pPr>
            <a:r>
              <a:rPr lang="en-US" sz="1400" i="1" dirty="0">
                <a:solidFill>
                  <a:schemeClr val="tx1"/>
                </a:solidFill>
              </a:rPr>
              <a:t>Agentic discovery did not win the final partition; its value was removing the arbitrary topic-count assumption.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Fair comparison around 80 topics</a:t>
            </a:r>
            <a:endParaRPr lang="en-US" sz="3400" dirty="0"/>
          </a:p>
        </p:txBody>
      </p:sp>
      <p:graphicFrame>
        <p:nvGraphicFramePr>
          <p:cNvPr id="6" name="comparison_table"/>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2148840"/>
                <a:gridCol w="685800"/>
                <a:gridCol w="914400"/>
                <a:gridCol w="1005840"/>
                <a:gridCol w="1188720"/>
                <a:gridCol w="1051560"/>
                <a:gridCol w="1005840"/>
                <a:gridCol w="3063240"/>
              </a:tblGrid>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34E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Topics</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34E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Coverage</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34E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Stability ARI</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34E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Persistence ≥50%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34E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Paraphrase κ</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34E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Cohesion lift</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34E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34E4A"/>
                    </a:solidFill>
                  </a:tcPr>
                </a:tc>
              </a:tr>
              <a:tr h="384048">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 Leiden · T5 @80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5ECE8"/>
                    </a:solidFill>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5ECE8"/>
                    </a:solidFill>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9FD5CC"/>
                    </a:solidFill>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0.567</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3DED7"/>
                    </a:solidFill>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0.700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AE1DA"/>
                    </a:solidFill>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0.800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9FD5CC"/>
                    </a:solidFill>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0.256</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A6D8D0"/>
                    </a:solidFill>
                  </a:tcPr>
                </a:tc>
                <a:tc>
                  <a:txBody>
                    <a:bodyPr/>
                    <a:lstStyle/>
                    <a:p>
                      <a:pPr algn="l" indent="0" marL="0">
                        <a:buNone/>
                      </a:pPr>
                      <a:r>
                        <a:rPr lang="en-US" sz="1300" b="1" dirty="0">
                          <a:solidFill>
                            <a:srgbClr val="134E4A"/>
                          </a:solidFill>
                          <a:latin typeface="Calibri" pitchFamily="34" charset="0"/>
                          <a:ea typeface="Calibri" pitchFamily="34" charset="-122"/>
                          <a:cs typeface="Calibri" pitchFamily="34" charset="-120"/>
                        </a:rPr>
                        <a:t>Best balance; passed all checks</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5ECE8"/>
                    </a:solidFill>
                  </a:tcPr>
                </a:tc>
              </a:tr>
              <a:tr h="384048">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Agentic @80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98.8%</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A3D7CE"/>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0.679</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9FD5CC"/>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0.975</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9FD5CC"/>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0.614</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5DFD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0.184</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FE3DD"/>
                    </a:solidFill>
                  </a:tcPr>
                </a:tc>
                <a:tc>
                  <a:txBody>
                    <a:bodyPr/>
                    <a:lstStyle/>
                    <a:p>
                      <a:pPr algn="l" indent="0" marL="0">
                        <a:buNone/>
                      </a:pPr>
                      <a:r>
                        <a:rPr lang="en-US" sz="1300" dirty="0">
                          <a:solidFill>
                            <a:srgbClr val="64748B"/>
                          </a:solidFill>
                          <a:latin typeface="Calibri" pitchFamily="34" charset="0"/>
                          <a:ea typeface="Calibri" pitchFamily="34" charset="-122"/>
                          <a:cs typeface="Calibri" pitchFamily="34" charset="-120"/>
                        </a:rPr>
                        <a:t>Most stable; 41% tiny topics</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Hybrid @80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99.7%</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A0D5CD"/>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0.676</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A0D5CC"/>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0.975</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9FD5CC"/>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0.612</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6DFD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0.184</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FE3DD"/>
                    </a:solidFill>
                  </a:tcPr>
                </a:tc>
                <a:tc>
                  <a:txBody>
                    <a:bodyPr/>
                    <a:lstStyle/>
                    <a:p>
                      <a:pPr algn="l" indent="0" marL="0">
                        <a:buNone/>
                      </a:pPr>
                      <a:r>
                        <a:rPr lang="en-US" sz="1300" dirty="0">
                          <a:solidFill>
                            <a:srgbClr val="64748B"/>
                          </a:solidFill>
                          <a:latin typeface="Calibri" pitchFamily="34" charset="0"/>
                          <a:ea typeface="Calibri" pitchFamily="34" charset="-122"/>
                          <a:cs typeface="Calibri" pitchFamily="34" charset="-120"/>
                        </a:rPr>
                        <a:t>Same concepts; 41% tiny topics</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K-Means · T5 @80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9FD5CC"/>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0.391</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3ECE8"/>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0.313</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0F2E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0.622</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4DED7"/>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0.275</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9FD5CC"/>
                    </a:solidFill>
                  </a:tcPr>
                </a:tc>
                <a:tc>
                  <a:txBody>
                    <a:bodyPr/>
                    <a:lstStyle/>
                    <a:p>
                      <a:pPr algn="l" indent="0" marL="0">
                        <a:buNone/>
                      </a:pPr>
                      <a:r>
                        <a:rPr lang="en-US" sz="1300" dirty="0">
                          <a:solidFill>
                            <a:srgbClr val="64748B"/>
                          </a:solidFill>
                          <a:latin typeface="Calibri" pitchFamily="34" charset="0"/>
                          <a:ea typeface="Calibri" pitchFamily="34" charset="-122"/>
                          <a:cs typeface="Calibri" pitchFamily="34" charset="-120"/>
                        </a:rPr>
                        <a:t>Cohesive but unstable</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K-Means · E5 @80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9FD5CC"/>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0.420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EEAE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0.363</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BEFEC"/>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0.575</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AE1DA"/>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0.267</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A2D6CE"/>
                    </a:solidFill>
                  </a:tcPr>
                </a:tc>
                <a:tc>
                  <a:txBody>
                    <a:bodyPr/>
                    <a:lstStyle/>
                    <a:p>
                      <a:pPr algn="l" indent="0" marL="0">
                        <a:buNone/>
                      </a:pPr>
                      <a:r>
                        <a:rPr lang="en-US" sz="1300" dirty="0">
                          <a:solidFill>
                            <a:srgbClr val="64748B"/>
                          </a:solidFill>
                          <a:latin typeface="Calibri" pitchFamily="34" charset="0"/>
                          <a:ea typeface="Calibri" pitchFamily="34" charset="-122"/>
                          <a:cs typeface="Calibri" pitchFamily="34" charset="-120"/>
                        </a:rPr>
                        <a:t>Unstable</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GMM · T5 @80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9FD5CC"/>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0.396</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2EBE7"/>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0.388</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9EEE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0.728</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A8D9D1"/>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0.268</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A1D6CD"/>
                    </a:solidFill>
                  </a:tcPr>
                </a:tc>
                <a:tc>
                  <a:txBody>
                    <a:bodyPr/>
                    <a:lstStyle/>
                    <a:p>
                      <a:pPr algn="l" indent="0" marL="0">
                        <a:buNone/>
                      </a:pPr>
                      <a:r>
                        <a:rPr lang="en-US" sz="1300" dirty="0">
                          <a:solidFill>
                            <a:srgbClr val="64748B"/>
                          </a:solidFill>
                          <a:latin typeface="Calibri" pitchFamily="34" charset="0"/>
                          <a:ea typeface="Calibri" pitchFamily="34" charset="-122"/>
                          <a:cs typeface="Calibri" pitchFamily="34" charset="-120"/>
                        </a:rPr>
                        <a:t>Cohesive but unstable</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BERTopic (natural)</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72.8%</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0.341</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F0ED"/>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0.586</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C5E6E0"/>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0.653</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B1DDD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0.253</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A7D8D0"/>
                    </a:solidFill>
                  </a:tcPr>
                </a:tc>
                <a:tc>
                  <a:txBody>
                    <a:bodyPr/>
                    <a:lstStyle/>
                    <a:p>
                      <a:pPr algn="l" indent="0" marL="0">
                        <a:buNone/>
                      </a:pPr>
                      <a:r>
                        <a:rPr lang="en-US" sz="1300" dirty="0">
                          <a:solidFill>
                            <a:srgbClr val="64748B"/>
                          </a:solidFill>
                          <a:latin typeface="Calibri" pitchFamily="34" charset="0"/>
                          <a:ea typeface="Calibri" pitchFamily="34" charset="-122"/>
                          <a:cs typeface="Calibri" pitchFamily="34" charset="-120"/>
                        </a:rPr>
                        <a:t>27% left as outliers</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HDBSCAN (closest usable)</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78.7%</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AF6F4"/>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0.149</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0.000</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-8.96†</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0.005</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64748B"/>
                          </a:solidFill>
                          <a:latin typeface="Calibri" pitchFamily="34" charset="0"/>
                          <a:ea typeface="Calibri" pitchFamily="34" charset="-122"/>
                          <a:cs typeface="Calibri" pitchFamily="34" charset="-120"/>
                        </a:rPr>
                        <a:t>Collapsed to 3 clusters</a:t>
                      </a:r>
                      <a:endParaRPr lang="en-US" sz="1300" dirty="0">
                        <a:latin typeface="Calibri" charset="0"/>
                        <a:ea typeface="Calibri" charset="0"/>
                        <a:cs typeface="Calibri" charset="0"/>
                      </a:endParaRPr>
                    </a:p>
                  </a:txBody>
                  <a:tcPr marL="73152" marR="73152" marT="27432" marB="2743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final_row_outline"/>
          <p:cNvSpPr/>
          <p:nvPr/>
        </p:nvSpPr>
        <p:spPr>
          <a:xfrm>
            <a:off x="548640" y="1755648"/>
            <a:ext cx="11064240" cy="384048"/>
          </a:xfrm>
          <a:prstGeom prst="rect">
            <a:avLst/>
          </a:prstGeom>
          <a:ln w="31750">
            <a:solidFill>
              <a:srgbClr val="0F766E"/>
            </a:solidFill>
            <a:prstDash val="solid"/>
          </a:ln>
        </p:spPr>
      </p:sp>
      <p:sp>
        <p:nvSpPr>
          <p:cNvPr id="5" name="card_128"/>
          <p:cNvSpPr/>
          <p:nvPr/>
        </p:nvSpPr>
        <p:spPr>
          <a:xfrm>
            <a:off x="548640" y="5349240"/>
            <a:ext cx="2651760" cy="896112"/>
          </a:xfrm>
          <a:prstGeom prst="roundRect">
            <a:avLst>
              <a:gd name="adj" fmla="val 8163"/>
            </a:avLst>
          </a:prstGeom>
          <a:solidFill>
            <a:srgbClr val="0F766E"/>
          </a:solidFill>
          <a:ln/>
        </p:spPr>
      </p:sp>
      <p:sp>
        <p:nvSpPr>
          <p:cNvPr id="6" name="text_129"/>
          <p:cNvSpPr txBox="1"/>
          <p:nvPr/>
        </p:nvSpPr>
        <p:spPr>
          <a:xfrm>
            <a:off x="658368" y="5349240"/>
            <a:ext cx="2432304" cy="896112"/>
          </a:xfrm>
          <a:prstGeom prst="rect">
            <a:avLst/>
          </a:prstGeom>
          <a:noFill/>
          <a:ln/>
        </p:spPr>
        <p:txBody>
          <a:bodyPr wrap="square" lIns="1016" tIns="1016" rIns="1016" bIns="1016" rtlCol="0" anchor="ctr"/>
          <a:lstStyle/>
          <a:p>
            <a:pPr algn="l" indent="0" marL="0">
              <a:buNone/>
            </a:pPr>
            <a:r>
              <a:rPr lang="en-US" sz="1500" b="1" dirty="0">
                <a:solidFill>
                  <a:schemeClr val="bg1"/>
                </a:solidFill>
              </a:rPr>
              <a:t>Leiden</a:t>
            </a:r>
            <a:endParaRPr lang="en-US" sz="1500" dirty="0"/>
          </a:p>
          <a:p>
            <a:pPr algn="l" indent="0" marL="0">
              <a:buNone/>
            </a:pPr>
            <a:r>
              <a:rPr lang="en-US" sz="1300" dirty="0">
                <a:solidFill>
                  <a:schemeClr val="bg1"/>
                </a:solidFill>
              </a:rPr>
              <a:t>full coverage · strong stability &amp; persistence · strongest paraphrase κ</a:t>
            </a:r>
            <a:endParaRPr lang="en-US" sz="1500" dirty="0"/>
          </a:p>
        </p:txBody>
      </p:sp>
      <p:sp>
        <p:nvSpPr>
          <p:cNvPr id="7" name="card_130"/>
          <p:cNvSpPr/>
          <p:nvPr/>
        </p:nvSpPr>
        <p:spPr>
          <a:xfrm>
            <a:off x="3353105" y="5349240"/>
            <a:ext cx="2651760" cy="896112"/>
          </a:xfrm>
          <a:prstGeom prst="roundRect">
            <a:avLst>
              <a:gd name="adj" fmla="val 8163"/>
            </a:avLst>
          </a:prstGeom>
          <a:solidFill>
            <a:srgbClr val="EEF6F5"/>
          </a:solidFill>
          <a:ln/>
        </p:spPr>
      </p:sp>
      <p:sp>
        <p:nvSpPr>
          <p:cNvPr id="8" name="text_131"/>
          <p:cNvSpPr txBox="1"/>
          <p:nvPr/>
        </p:nvSpPr>
        <p:spPr>
          <a:xfrm>
            <a:off x="3462833" y="5349240"/>
            <a:ext cx="2432304" cy="896112"/>
          </a:xfrm>
          <a:prstGeom prst="rect">
            <a:avLst/>
          </a:prstGeom>
          <a:noFill/>
          <a:ln/>
        </p:spPr>
        <p:txBody>
          <a:bodyPr wrap="square" lIns="1016" tIns="1016" rIns="1016" bIns="1016" rtlCol="0" anchor="ctr"/>
          <a:lstStyle/>
          <a:p>
            <a:pPr algn="l" indent="0" marL="0">
              <a:buNone/>
            </a:pPr>
            <a:r>
              <a:rPr lang="en-US" sz="1500" b="1" dirty="0">
                <a:solidFill>
                  <a:schemeClr val="tx1"/>
                </a:solidFill>
              </a:rPr>
              <a:t>Agentic / Hybrid</a:t>
            </a:r>
            <a:endParaRPr lang="en-US" sz="1500" dirty="0"/>
          </a:p>
          <a:p>
            <a:pPr algn="l" indent="0" marL="0">
              <a:buNone/>
            </a:pPr>
            <a:r>
              <a:rPr lang="en-US" sz="1300" dirty="0">
                <a:solidFill>
                  <a:schemeClr val="tx1"/>
                </a:solidFill>
              </a:rPr>
              <a:t>highest stability &amp; persistence, but many tiny topics</a:t>
            </a:r>
            <a:endParaRPr lang="en-US" sz="1500" dirty="0"/>
          </a:p>
        </p:txBody>
      </p:sp>
      <p:sp>
        <p:nvSpPr>
          <p:cNvPr id="9" name="card_132"/>
          <p:cNvSpPr/>
          <p:nvPr/>
        </p:nvSpPr>
        <p:spPr>
          <a:xfrm>
            <a:off x="6157570" y="5349240"/>
            <a:ext cx="2651760" cy="896112"/>
          </a:xfrm>
          <a:prstGeom prst="roundRect">
            <a:avLst>
              <a:gd name="adj" fmla="val 8163"/>
            </a:avLst>
          </a:prstGeom>
          <a:solidFill>
            <a:srgbClr val="EEF6F5"/>
          </a:solidFill>
          <a:ln/>
        </p:spPr>
      </p:sp>
      <p:sp>
        <p:nvSpPr>
          <p:cNvPr id="10" name="text_133"/>
          <p:cNvSpPr txBox="1"/>
          <p:nvPr/>
        </p:nvSpPr>
        <p:spPr>
          <a:xfrm>
            <a:off x="6267298" y="5349240"/>
            <a:ext cx="2432304" cy="896112"/>
          </a:xfrm>
          <a:prstGeom prst="rect">
            <a:avLst/>
          </a:prstGeom>
          <a:noFill/>
          <a:ln/>
        </p:spPr>
        <p:txBody>
          <a:bodyPr wrap="square" lIns="1016" tIns="1016" rIns="1016" bIns="1016" rtlCol="0" anchor="ctr"/>
          <a:lstStyle/>
          <a:p>
            <a:pPr algn="l" indent="0" marL="0">
              <a:buNone/>
            </a:pPr>
            <a:r>
              <a:rPr lang="en-US" sz="1500" b="1" dirty="0">
                <a:solidFill>
                  <a:schemeClr val="tx1"/>
                </a:solidFill>
              </a:rPr>
              <a:t>K-Means / GMM</a:t>
            </a:r>
            <a:endParaRPr lang="en-US" sz="1500" dirty="0"/>
          </a:p>
          <a:p>
            <a:pPr algn="l" indent="0" marL="0">
              <a:buNone/>
            </a:pPr>
            <a:r>
              <a:rPr lang="en-US" sz="1300" dirty="0">
                <a:solidFill>
                  <a:schemeClr val="tx1"/>
                </a:solidFill>
              </a:rPr>
              <a:t>higher cohesion, much weaker stability &amp; persistence</a:t>
            </a:r>
            <a:endParaRPr lang="en-US" sz="1500" dirty="0"/>
          </a:p>
        </p:txBody>
      </p:sp>
      <p:sp>
        <p:nvSpPr>
          <p:cNvPr id="11" name="card_134"/>
          <p:cNvSpPr/>
          <p:nvPr/>
        </p:nvSpPr>
        <p:spPr>
          <a:xfrm>
            <a:off x="8962034" y="5349240"/>
            <a:ext cx="2651760" cy="896112"/>
          </a:xfrm>
          <a:prstGeom prst="roundRect">
            <a:avLst>
              <a:gd name="adj" fmla="val 8163"/>
            </a:avLst>
          </a:prstGeom>
          <a:solidFill>
            <a:srgbClr val="EEF6F5"/>
          </a:solidFill>
          <a:ln/>
        </p:spPr>
      </p:sp>
      <p:sp>
        <p:nvSpPr>
          <p:cNvPr id="12" name="text_135"/>
          <p:cNvSpPr txBox="1"/>
          <p:nvPr/>
        </p:nvSpPr>
        <p:spPr>
          <a:xfrm>
            <a:off x="9071762" y="5349240"/>
            <a:ext cx="2432304" cy="896112"/>
          </a:xfrm>
          <a:prstGeom prst="rect">
            <a:avLst/>
          </a:prstGeom>
          <a:noFill/>
          <a:ln/>
        </p:spPr>
        <p:txBody>
          <a:bodyPr wrap="square" lIns="1016" tIns="1016" rIns="1016" bIns="1016" rtlCol="0" anchor="ctr"/>
          <a:lstStyle/>
          <a:p>
            <a:pPr algn="l" indent="0" marL="0">
              <a:buNone/>
            </a:pPr>
            <a:r>
              <a:rPr lang="en-US" sz="1500" b="1" dirty="0">
                <a:solidFill>
                  <a:schemeClr val="tx1"/>
                </a:solidFill>
              </a:rPr>
              <a:t>BERTopic / HDBSCAN</a:t>
            </a:r>
            <a:endParaRPr lang="en-US" sz="1500" dirty="0"/>
          </a:p>
          <a:p>
            <a:pPr algn="l" indent="0" marL="0">
              <a:buNone/>
            </a:pPr>
            <a:r>
              <a:rPr lang="en-US" sz="1300" dirty="0">
                <a:solidFill>
                  <a:schemeClr val="tx1"/>
                </a:solidFill>
              </a:rPr>
              <a:t>outliers lower coverage; HDBSCAN collapsed</a:t>
            </a:r>
            <a:endParaRPr lang="en-US" sz="1500" dirty="0"/>
          </a:p>
        </p:txBody>
      </p:sp>
      <p:sp>
        <p:nvSpPr>
          <p:cNvPr id="13" name="text_136"/>
          <p:cNvSpPr txBox="1"/>
          <p:nvPr/>
        </p:nvSpPr>
        <p:spPr>
          <a:xfrm>
            <a:off x="548640" y="4956048"/>
            <a:ext cx="11064240" cy="320040"/>
          </a:xfrm>
          <a:prstGeom prst="rect">
            <a:avLst/>
          </a:prstGeom>
          <a:noFill/>
          <a:ln/>
        </p:spPr>
        <p:txBody>
          <a:bodyPr wrap="square" lIns="0" tIns="0" rIns="0" bIns="0" rtlCol="0" anchor="ctr"/>
          <a:lstStyle/>
          <a:p>
            <a:pPr algn="l" indent="0" marL="0">
              <a:buNone/>
            </a:pPr>
            <a:r>
              <a:rPr lang="en-US" sz="1100" dirty="0">
                <a:solidFill>
                  <a:schemeClr val="accent2"/>
                </a:solidFill>
              </a:rPr>
              <a:t>Darker cell = better within the column. These are internal quality measures, not accuracy. † chance-corrected κ is undefined in practice when one cluster holds 99% of tasks.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Final decision: Leiden @80</a:t>
            </a:r>
            <a:endParaRPr lang="en-US" sz="3400" dirty="0"/>
          </a:p>
        </p:txBody>
      </p:sp>
      <p:sp>
        <p:nvSpPr>
          <p:cNvPr id="3" name="text_137"/>
          <p:cNvSpPr txBox="1"/>
          <p:nvPr/>
        </p:nvSpPr>
        <p:spPr>
          <a:xfrm>
            <a:off x="548640" y="1188720"/>
            <a:ext cx="5486400" cy="365760"/>
          </a:xfrm>
          <a:prstGeom prst="rect">
            <a:avLst/>
          </a:prstGeom>
          <a:noFill/>
          <a:ln/>
        </p:spPr>
        <p:txBody>
          <a:bodyPr wrap="square" lIns="0" tIns="0" rIns="0" bIns="0" rtlCol="0" anchor="ctr"/>
          <a:lstStyle/>
          <a:p>
            <a:pPr algn="l" indent="0" marL="0">
              <a:buNone/>
            </a:pPr>
            <a:r>
              <a:rPr lang="en-US" sz="1400" b="1" dirty="0">
                <a:solidFill>
                  <a:schemeClr val="accent1"/>
                </a:solidFill>
              </a:rPr>
              <a:t>FINAL RECOMMENDATION</a:t>
            </a:r>
            <a:endParaRPr lang="en-US" sz="1400" dirty="0"/>
          </a:p>
        </p:txBody>
      </p:sp>
      <p:sp>
        <p:nvSpPr>
          <p:cNvPr id="4" name="text_138"/>
          <p:cNvSpPr txBox="1"/>
          <p:nvPr/>
        </p:nvSpPr>
        <p:spPr>
          <a:xfrm>
            <a:off x="548640" y="1554480"/>
            <a:ext cx="1106424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Sentence-T5 + Leiden</a:t>
            </a:r>
            <a:pPr algn="l" indent="0" marL="0">
              <a:buNone/>
            </a:pPr>
            <a:r>
              <a:rPr lang="en-US" sz="3200" dirty="0">
                <a:solidFill>
                  <a:srgbClr val="64748B"/>
                </a:solidFill>
                <a:latin typeface="Cambria" pitchFamily="34" charset="0"/>
                <a:ea typeface="Cambria" pitchFamily="34" charset="-122"/>
                <a:cs typeface="Cambria" pitchFamily="34" charset="-120"/>
              </a:rPr>
              <a:t>   ·   80 task topics</a:t>
            </a:r>
            <a:endParaRPr lang="en-US" sz="3200" dirty="0"/>
          </a:p>
        </p:txBody>
      </p:sp>
      <p:sp>
        <p:nvSpPr>
          <p:cNvPr id="5" name="card_139"/>
          <p:cNvSpPr/>
          <p:nvPr/>
        </p:nvSpPr>
        <p:spPr>
          <a:xfrm>
            <a:off x="548640" y="2514600"/>
            <a:ext cx="2066544" cy="1508760"/>
          </a:xfrm>
          <a:prstGeom prst="roundRect">
            <a:avLst>
              <a:gd name="adj" fmla="val 4848"/>
            </a:avLst>
          </a:prstGeom>
          <a:solidFill>
            <a:srgbClr val="EEF6F5"/>
          </a:solidFill>
          <a:ln/>
        </p:spPr>
      </p:sp>
      <p:sp>
        <p:nvSpPr>
          <p:cNvPr id="6" name="text_140"/>
          <p:cNvSpPr txBox="1"/>
          <p:nvPr/>
        </p:nvSpPr>
        <p:spPr>
          <a:xfrm>
            <a:off x="548640" y="2651760"/>
            <a:ext cx="2066544" cy="868680"/>
          </a:xfrm>
          <a:prstGeom prst="rect">
            <a:avLst/>
          </a:prstGeom>
          <a:noFill/>
          <a:ln/>
        </p:spPr>
        <p:txBody>
          <a:bodyPr wrap="square" lIns="1016" tIns="1016" rIns="1016" bIns="1016"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100%</a:t>
            </a:r>
            <a:endParaRPr lang="en-US" sz="4000" dirty="0"/>
          </a:p>
        </p:txBody>
      </p:sp>
      <p:sp>
        <p:nvSpPr>
          <p:cNvPr id="7" name="text_141"/>
          <p:cNvSpPr txBox="1"/>
          <p:nvPr/>
        </p:nvSpPr>
        <p:spPr>
          <a:xfrm>
            <a:off x="548640" y="3520440"/>
            <a:ext cx="2066544" cy="384048"/>
          </a:xfrm>
          <a:prstGeom prst="rect">
            <a:avLst/>
          </a:prstGeom>
          <a:noFill/>
          <a:ln/>
        </p:spPr>
        <p:txBody>
          <a:bodyPr wrap="square" lIns="1016" tIns="1016" rIns="1016" bIns="1016" rtlCol="0" anchor="ctr"/>
          <a:lstStyle/>
          <a:p>
            <a:pPr algn="ctr" indent="0" marL="0">
              <a:buNone/>
            </a:pPr>
            <a:r>
              <a:rPr lang="en-US" sz="1500" dirty="0">
                <a:solidFill>
                  <a:schemeClr val="tx1"/>
                </a:solidFill>
              </a:rPr>
              <a:t>Coverage</a:t>
            </a:r>
            <a:endParaRPr lang="en-US" sz="1500" dirty="0"/>
          </a:p>
        </p:txBody>
      </p:sp>
      <p:sp>
        <p:nvSpPr>
          <p:cNvPr id="8" name="card_142"/>
          <p:cNvSpPr/>
          <p:nvPr/>
        </p:nvSpPr>
        <p:spPr>
          <a:xfrm>
            <a:off x="2798064" y="2514600"/>
            <a:ext cx="2066544" cy="1508760"/>
          </a:xfrm>
          <a:prstGeom prst="roundRect">
            <a:avLst>
              <a:gd name="adj" fmla="val 4848"/>
            </a:avLst>
          </a:prstGeom>
          <a:solidFill>
            <a:srgbClr val="EEF6F5"/>
          </a:solidFill>
          <a:ln/>
        </p:spPr>
      </p:sp>
      <p:sp>
        <p:nvSpPr>
          <p:cNvPr id="9" name="text_143"/>
          <p:cNvSpPr txBox="1"/>
          <p:nvPr/>
        </p:nvSpPr>
        <p:spPr>
          <a:xfrm>
            <a:off x="2798064" y="2651760"/>
            <a:ext cx="2066544" cy="868680"/>
          </a:xfrm>
          <a:prstGeom prst="rect">
            <a:avLst/>
          </a:prstGeom>
          <a:noFill/>
          <a:ln/>
        </p:spPr>
        <p:txBody>
          <a:bodyPr wrap="square" lIns="1016" tIns="1016" rIns="1016" bIns="1016"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0.567</a:t>
            </a:r>
            <a:endParaRPr lang="en-US" sz="4000" dirty="0"/>
          </a:p>
        </p:txBody>
      </p:sp>
      <p:sp>
        <p:nvSpPr>
          <p:cNvPr id="10" name="text_144"/>
          <p:cNvSpPr txBox="1"/>
          <p:nvPr/>
        </p:nvSpPr>
        <p:spPr>
          <a:xfrm>
            <a:off x="2798064" y="3520440"/>
            <a:ext cx="2066544" cy="384048"/>
          </a:xfrm>
          <a:prstGeom prst="rect">
            <a:avLst/>
          </a:prstGeom>
          <a:noFill/>
          <a:ln/>
        </p:spPr>
        <p:txBody>
          <a:bodyPr wrap="square" lIns="1016" tIns="1016" rIns="1016" bIns="1016" rtlCol="0" anchor="ctr"/>
          <a:lstStyle/>
          <a:p>
            <a:pPr algn="ctr" indent="0" marL="0">
              <a:buNone/>
            </a:pPr>
            <a:r>
              <a:rPr lang="en-US" sz="1500" dirty="0">
                <a:solidFill>
                  <a:schemeClr val="tx1"/>
                </a:solidFill>
              </a:rPr>
              <a:t>Stability ARI</a:t>
            </a:r>
            <a:endParaRPr lang="en-US" sz="1500" dirty="0"/>
          </a:p>
        </p:txBody>
      </p:sp>
      <p:sp>
        <p:nvSpPr>
          <p:cNvPr id="11" name="card_145"/>
          <p:cNvSpPr/>
          <p:nvPr/>
        </p:nvSpPr>
        <p:spPr>
          <a:xfrm>
            <a:off x="5047488" y="2514600"/>
            <a:ext cx="2066544" cy="1508760"/>
          </a:xfrm>
          <a:prstGeom prst="roundRect">
            <a:avLst>
              <a:gd name="adj" fmla="val 4848"/>
            </a:avLst>
          </a:prstGeom>
          <a:solidFill>
            <a:srgbClr val="EEF6F5"/>
          </a:solidFill>
          <a:ln/>
        </p:spPr>
      </p:sp>
      <p:sp>
        <p:nvSpPr>
          <p:cNvPr id="12" name="text_146"/>
          <p:cNvSpPr txBox="1"/>
          <p:nvPr/>
        </p:nvSpPr>
        <p:spPr>
          <a:xfrm>
            <a:off x="5047488" y="2651760"/>
            <a:ext cx="2066544" cy="868680"/>
          </a:xfrm>
          <a:prstGeom prst="rect">
            <a:avLst/>
          </a:prstGeom>
          <a:noFill/>
          <a:ln/>
        </p:spPr>
        <p:txBody>
          <a:bodyPr wrap="square" lIns="1016" tIns="1016" rIns="1016" bIns="1016"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0.70</a:t>
            </a:r>
            <a:endParaRPr lang="en-US" sz="4000" dirty="0"/>
          </a:p>
        </p:txBody>
      </p:sp>
      <p:sp>
        <p:nvSpPr>
          <p:cNvPr id="13" name="text_147"/>
          <p:cNvSpPr txBox="1"/>
          <p:nvPr/>
        </p:nvSpPr>
        <p:spPr>
          <a:xfrm>
            <a:off x="5047488" y="3520440"/>
            <a:ext cx="2066544" cy="384048"/>
          </a:xfrm>
          <a:prstGeom prst="rect">
            <a:avLst/>
          </a:prstGeom>
          <a:noFill/>
          <a:ln/>
        </p:spPr>
        <p:txBody>
          <a:bodyPr wrap="square" lIns="1016" tIns="1016" rIns="1016" bIns="1016" rtlCol="0" anchor="ctr"/>
          <a:lstStyle/>
          <a:p>
            <a:pPr algn="ctr" indent="0" marL="0">
              <a:buNone/>
            </a:pPr>
            <a:r>
              <a:rPr lang="en-US" sz="1500" dirty="0">
                <a:solidFill>
                  <a:schemeClr val="tx1"/>
                </a:solidFill>
              </a:rPr>
              <a:t>Persistence ≥50%</a:t>
            </a:r>
            <a:endParaRPr lang="en-US" sz="1500" dirty="0"/>
          </a:p>
        </p:txBody>
      </p:sp>
      <p:sp>
        <p:nvSpPr>
          <p:cNvPr id="14" name="card_148"/>
          <p:cNvSpPr/>
          <p:nvPr/>
        </p:nvSpPr>
        <p:spPr>
          <a:xfrm>
            <a:off x="7296912" y="2514600"/>
            <a:ext cx="2066544" cy="1508760"/>
          </a:xfrm>
          <a:prstGeom prst="roundRect">
            <a:avLst>
              <a:gd name="adj" fmla="val 4848"/>
            </a:avLst>
          </a:prstGeom>
          <a:solidFill>
            <a:srgbClr val="EEF6F5"/>
          </a:solidFill>
          <a:ln/>
        </p:spPr>
      </p:sp>
      <p:sp>
        <p:nvSpPr>
          <p:cNvPr id="15" name="text_149"/>
          <p:cNvSpPr txBox="1"/>
          <p:nvPr/>
        </p:nvSpPr>
        <p:spPr>
          <a:xfrm>
            <a:off x="7296912" y="2651760"/>
            <a:ext cx="2066544" cy="868680"/>
          </a:xfrm>
          <a:prstGeom prst="rect">
            <a:avLst/>
          </a:prstGeom>
          <a:noFill/>
          <a:ln/>
        </p:spPr>
        <p:txBody>
          <a:bodyPr wrap="square" lIns="1016" tIns="1016" rIns="1016" bIns="1016"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0.800</a:t>
            </a:r>
            <a:endParaRPr lang="en-US" sz="4000" dirty="0"/>
          </a:p>
        </p:txBody>
      </p:sp>
      <p:sp>
        <p:nvSpPr>
          <p:cNvPr id="16" name="text_150"/>
          <p:cNvSpPr txBox="1"/>
          <p:nvPr/>
        </p:nvSpPr>
        <p:spPr>
          <a:xfrm>
            <a:off x="7296912" y="3520440"/>
            <a:ext cx="2066544" cy="384048"/>
          </a:xfrm>
          <a:prstGeom prst="rect">
            <a:avLst/>
          </a:prstGeom>
          <a:noFill/>
          <a:ln/>
        </p:spPr>
        <p:txBody>
          <a:bodyPr wrap="square" lIns="1016" tIns="1016" rIns="1016" bIns="1016" rtlCol="0" anchor="ctr"/>
          <a:lstStyle/>
          <a:p>
            <a:pPr algn="ctr" indent="0" marL="0">
              <a:buNone/>
            </a:pPr>
            <a:r>
              <a:rPr lang="en-US" sz="1500" dirty="0">
                <a:solidFill>
                  <a:schemeClr val="tx1"/>
                </a:solidFill>
              </a:rPr>
              <a:t>Paraphrase κ</a:t>
            </a:r>
            <a:endParaRPr lang="en-US" sz="1500" dirty="0"/>
          </a:p>
        </p:txBody>
      </p:sp>
      <p:sp>
        <p:nvSpPr>
          <p:cNvPr id="17" name="card_151"/>
          <p:cNvSpPr/>
          <p:nvPr/>
        </p:nvSpPr>
        <p:spPr>
          <a:xfrm>
            <a:off x="9546336" y="2514600"/>
            <a:ext cx="2066544" cy="1508760"/>
          </a:xfrm>
          <a:prstGeom prst="roundRect">
            <a:avLst>
              <a:gd name="adj" fmla="val 4848"/>
            </a:avLst>
          </a:prstGeom>
          <a:solidFill>
            <a:srgbClr val="EEF6F5"/>
          </a:solidFill>
          <a:ln/>
        </p:spPr>
      </p:sp>
      <p:sp>
        <p:nvSpPr>
          <p:cNvPr id="18" name="text_152"/>
          <p:cNvSpPr txBox="1"/>
          <p:nvPr/>
        </p:nvSpPr>
        <p:spPr>
          <a:xfrm>
            <a:off x="9546336" y="2651760"/>
            <a:ext cx="2066544" cy="868680"/>
          </a:xfrm>
          <a:prstGeom prst="rect">
            <a:avLst/>
          </a:prstGeom>
          <a:noFill/>
          <a:ln/>
        </p:spPr>
        <p:txBody>
          <a:bodyPr wrap="square" lIns="1016" tIns="1016" rIns="1016" bIns="1016"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0.256</a:t>
            </a:r>
            <a:endParaRPr lang="en-US" sz="4000" dirty="0"/>
          </a:p>
        </p:txBody>
      </p:sp>
      <p:sp>
        <p:nvSpPr>
          <p:cNvPr id="19" name="text_153"/>
          <p:cNvSpPr txBox="1"/>
          <p:nvPr/>
        </p:nvSpPr>
        <p:spPr>
          <a:xfrm>
            <a:off x="9546336" y="3520440"/>
            <a:ext cx="2066544" cy="384048"/>
          </a:xfrm>
          <a:prstGeom prst="rect">
            <a:avLst/>
          </a:prstGeom>
          <a:noFill/>
          <a:ln/>
        </p:spPr>
        <p:txBody>
          <a:bodyPr wrap="square" lIns="1016" tIns="1016" rIns="1016" bIns="1016" rtlCol="0" anchor="ctr"/>
          <a:lstStyle/>
          <a:p>
            <a:pPr algn="ctr" indent="0" marL="0">
              <a:buNone/>
            </a:pPr>
            <a:r>
              <a:rPr lang="en-US" sz="1500" dirty="0">
                <a:solidFill>
                  <a:schemeClr val="tx1"/>
                </a:solidFill>
              </a:rPr>
              <a:t>Cohesion lift</a:t>
            </a:r>
            <a:endParaRPr lang="en-US" sz="1500" dirty="0"/>
          </a:p>
        </p:txBody>
      </p:sp>
      <p:sp>
        <p:nvSpPr>
          <p:cNvPr id="20" name="text_154"/>
          <p:cNvSpPr txBox="1"/>
          <p:nvPr/>
        </p:nvSpPr>
        <p:spPr>
          <a:xfrm>
            <a:off x="548640" y="4206240"/>
            <a:ext cx="11064240" cy="548640"/>
          </a:xfrm>
          <a:prstGeom prst="rect">
            <a:avLst/>
          </a:prstGeom>
          <a:noFill/>
          <a:ln/>
        </p:spPr>
        <p:txBody>
          <a:bodyPr wrap="square" lIns="1016" tIns="1016" rIns="1016" bIns="1016" rtlCol="0" anchor="ctr"/>
          <a:lstStyle/>
          <a:p>
            <a:pPr algn="ctr" indent="0" marL="0">
              <a:buNone/>
            </a:pPr>
            <a:r>
              <a:rPr lang="en-US" sz="1900" i="1" dirty="0">
                <a:solidFill>
                  <a:schemeClr val="tx2"/>
                </a:solidFill>
                <a:latin typeface="Cambria" pitchFamily="34" charset="0"/>
                <a:ea typeface="Cambria" pitchFamily="34" charset="-122"/>
                <a:cs typeface="Cambria" pitchFamily="34" charset="-120"/>
              </a:rPr>
              <a:t>Leiden gave the strongest overall balance of coverage, repeatability, semantic consistency and useful granularity.</a:t>
            </a:r>
            <a:endParaRPr lang="en-US" sz="1900" dirty="0"/>
          </a:p>
        </p:txBody>
      </p:sp>
      <p:sp>
        <p:nvSpPr>
          <p:cNvPr id="21" name="card_155"/>
          <p:cNvSpPr/>
          <p:nvPr/>
        </p:nvSpPr>
        <p:spPr>
          <a:xfrm>
            <a:off x="548640" y="4937760"/>
            <a:ext cx="5440680" cy="1234440"/>
          </a:xfrm>
          <a:prstGeom prst="roundRect">
            <a:avLst>
              <a:gd name="adj" fmla="val 5926"/>
            </a:avLst>
          </a:prstGeom>
          <a:solidFill>
            <a:srgbClr val="FFFFFF"/>
          </a:solidFill>
          <a:ln w="12700">
            <a:solidFill>
              <a:srgbClr val="CBD5E1"/>
            </a:solidFill>
            <a:prstDash val="solid"/>
          </a:ln>
        </p:spPr>
      </p:sp>
      <p:sp>
        <p:nvSpPr>
          <p:cNvPr id="22" name="text_156"/>
          <p:cNvSpPr txBox="1"/>
          <p:nvPr/>
        </p:nvSpPr>
        <p:spPr>
          <a:xfrm>
            <a:off x="685800" y="4983480"/>
            <a:ext cx="5166360" cy="1143000"/>
          </a:xfrm>
          <a:prstGeom prst="rect">
            <a:avLst/>
          </a:prstGeom>
          <a:noFill/>
          <a:ln/>
        </p:spPr>
        <p:txBody>
          <a:bodyPr wrap="square" lIns="1016" tIns="1016" rIns="1016" bIns="1016" rtlCol="0" anchor="t"/>
          <a:lstStyle/>
          <a:p>
            <a:pPr algn="l" indent="0" marL="0">
              <a:buNone/>
            </a:pPr>
            <a:r>
              <a:rPr lang="en-US" sz="1600" b="1" dirty="0">
                <a:solidFill>
                  <a:schemeClr val="tx1"/>
                </a:solidFill>
              </a:rPr>
              <a:t>How it was selected</a:t>
            </a:r>
            <a:endParaRPr lang="en-US" sz="1600" dirty="0"/>
          </a:p>
          <a:p>
            <a:pPr algn="l" indent="0" marL="0">
              <a:buNone/>
            </a:pPr>
            <a:r>
              <a:rPr lang="en-US" sz="1400" dirty="0">
                <a:solidFill>
                  <a:srgbClr val="64748B"/>
                </a:solidFill>
              </a:rPr>
              <a:t>Only 2 of 11 candidates passed every quality check. Both were Leiden; the 80-topic version kept more of its topics under resampling (0.70 vs 0.61).</a:t>
            </a:r>
            <a:endParaRPr lang="en-US" sz="1600" dirty="0"/>
          </a:p>
        </p:txBody>
      </p:sp>
      <p:sp>
        <p:nvSpPr>
          <p:cNvPr id="23" name="card_157"/>
          <p:cNvSpPr/>
          <p:nvPr/>
        </p:nvSpPr>
        <p:spPr>
          <a:xfrm>
            <a:off x="6172200" y="4937760"/>
            <a:ext cx="5440680" cy="1234440"/>
          </a:xfrm>
          <a:prstGeom prst="roundRect">
            <a:avLst>
              <a:gd name="adj" fmla="val 5926"/>
            </a:avLst>
          </a:prstGeom>
          <a:solidFill>
            <a:srgbClr val="FDF3E7"/>
          </a:solidFill>
          <a:ln/>
        </p:spPr>
      </p:sp>
      <p:sp>
        <p:nvSpPr>
          <p:cNvPr id="24" name="text_158"/>
          <p:cNvSpPr txBox="1"/>
          <p:nvPr/>
        </p:nvSpPr>
        <p:spPr>
          <a:xfrm>
            <a:off x="6309360" y="4983480"/>
            <a:ext cx="5166360" cy="1143000"/>
          </a:xfrm>
          <a:prstGeom prst="rect">
            <a:avLst/>
          </a:prstGeom>
          <a:noFill/>
          <a:ln/>
        </p:spPr>
        <p:txBody>
          <a:bodyPr wrap="square" lIns="1016" tIns="1016" rIns="1016" bIns="1016" rtlCol="0" anchor="t"/>
          <a:lstStyle/>
          <a:p>
            <a:pPr algn="l" indent="0" marL="0">
              <a:buNone/>
            </a:pPr>
            <a:r>
              <a:rPr lang="en-US" sz="1600" b="1" dirty="0">
                <a:solidFill>
                  <a:srgbClr val="B45309"/>
                </a:solidFill>
              </a:rPr>
              <a:t>WHY AGENTIC STILL MATTERED</a:t>
            </a:r>
            <a:endParaRPr lang="en-US" sz="1600" dirty="0"/>
          </a:p>
          <a:p>
            <a:pPr algn="l" indent="0" marL="0">
              <a:buNone/>
            </a:pPr>
            <a:r>
              <a:rPr lang="en-US" sz="1400" dirty="0">
                <a:solidFill>
                  <a:schemeClr val="tx1"/>
                </a:solidFill>
              </a:rPr>
              <a:t>It independently discovered a useful granularity of 80 topics, allowing the final comparison to be made without arbitrarily fixing 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1"/>
                </a:solidFill>
              </a:rPr>
              <a:t>Current status and Sprint 4</a:t>
            </a:r>
            <a:endParaRPr lang="en-US" sz="3400" dirty="0"/>
          </a:p>
        </p:txBody>
      </p:sp>
      <p:sp>
        <p:nvSpPr>
          <p:cNvPr id="3" name="text_159"/>
          <p:cNvSpPr txBox="1"/>
          <p:nvPr/>
        </p:nvSpPr>
        <p:spPr>
          <a:xfrm>
            <a:off x="548640" y="1234440"/>
            <a:ext cx="3291840" cy="365760"/>
          </a:xfrm>
          <a:prstGeom prst="rect">
            <a:avLst/>
          </a:prstGeom>
          <a:noFill/>
          <a:ln/>
        </p:spPr>
        <p:txBody>
          <a:bodyPr wrap="square" lIns="0" tIns="0" rIns="0" bIns="0" rtlCol="0" anchor="ctr"/>
          <a:lstStyle/>
          <a:p>
            <a:pPr algn="l" indent="0" marL="0">
              <a:buNone/>
            </a:pPr>
            <a:r>
              <a:rPr lang="en-US" sz="1400" b="1" dirty="0">
                <a:solidFill>
                  <a:schemeClr val="accent1"/>
                </a:solidFill>
              </a:rPr>
              <a:t>SPRINT 3 RESULT</a:t>
            </a:r>
            <a:endParaRPr lang="en-US" sz="1400" dirty="0"/>
          </a:p>
        </p:txBody>
      </p:sp>
      <p:sp>
        <p:nvSpPr>
          <p:cNvPr id="4" name="card_160"/>
          <p:cNvSpPr/>
          <p:nvPr/>
        </p:nvSpPr>
        <p:spPr>
          <a:xfrm>
            <a:off x="548640" y="1691640"/>
            <a:ext cx="3108960" cy="777240"/>
          </a:xfrm>
          <a:prstGeom prst="roundRect">
            <a:avLst>
              <a:gd name="adj" fmla="val 9412"/>
            </a:avLst>
          </a:prstGeom>
          <a:solidFill>
            <a:srgbClr val="EEF6F5"/>
          </a:solidFill>
          <a:ln/>
        </p:spPr>
      </p:sp>
      <p:sp>
        <p:nvSpPr>
          <p:cNvPr id="5" name="text_161"/>
          <p:cNvSpPr txBox="1"/>
          <p:nvPr/>
        </p:nvSpPr>
        <p:spPr>
          <a:xfrm>
            <a:off x="548640" y="1691640"/>
            <a:ext cx="3108960" cy="777240"/>
          </a:xfrm>
          <a:prstGeom prst="rect">
            <a:avLst/>
          </a:prstGeom>
          <a:noFill/>
          <a:ln/>
        </p:spPr>
        <p:txBody>
          <a:bodyPr wrap="square" lIns="1016" tIns="1016" rIns="1016" bIns="1016" rtlCol="0" anchor="ctr"/>
          <a:lstStyle/>
          <a:p>
            <a:pPr algn="ctr" indent="0" marL="0">
              <a:buNone/>
            </a:pPr>
            <a:r>
              <a:rPr lang="en-US" sz="1700" b="1" dirty="0">
                <a:solidFill>
                  <a:schemeClr val="tx1"/>
                </a:solidFill>
              </a:rPr>
              <a:t>3,015 tasks</a:t>
            </a:r>
            <a:endParaRPr lang="en-US" sz="1700" dirty="0"/>
          </a:p>
        </p:txBody>
      </p:sp>
      <p:sp>
        <p:nvSpPr>
          <p:cNvPr id="6" name="arrow_162"/>
          <p:cNvSpPr/>
          <p:nvPr/>
        </p:nvSpPr>
        <p:spPr>
          <a:xfrm>
            <a:off x="2103120" y="2487168"/>
            <a:ext cx="914" cy="301752"/>
          </a:xfrm>
          <a:prstGeom prst="line">
            <a:avLst/>
          </a:prstGeom>
          <a:noFill/>
          <a:ln w="25400">
            <a:solidFill>
              <a:srgbClr val="64748B"/>
            </a:solidFill>
            <a:prstDash val="solid"/>
            <a:tailEnd type="triangle"/>
          </a:ln>
        </p:spPr>
      </p:sp>
      <p:sp>
        <p:nvSpPr>
          <p:cNvPr id="7" name="card_163"/>
          <p:cNvSpPr/>
          <p:nvPr/>
        </p:nvSpPr>
        <p:spPr>
          <a:xfrm>
            <a:off x="548640" y="2807208"/>
            <a:ext cx="3108960" cy="777240"/>
          </a:xfrm>
          <a:prstGeom prst="roundRect">
            <a:avLst>
              <a:gd name="adj" fmla="val 9412"/>
            </a:avLst>
          </a:prstGeom>
          <a:solidFill>
            <a:srgbClr val="EEF6F5"/>
          </a:solidFill>
          <a:ln/>
        </p:spPr>
      </p:sp>
      <p:sp>
        <p:nvSpPr>
          <p:cNvPr id="8" name="text_164"/>
          <p:cNvSpPr txBox="1"/>
          <p:nvPr/>
        </p:nvSpPr>
        <p:spPr>
          <a:xfrm>
            <a:off x="548640" y="2807208"/>
            <a:ext cx="3108960" cy="777240"/>
          </a:xfrm>
          <a:prstGeom prst="rect">
            <a:avLst/>
          </a:prstGeom>
          <a:noFill/>
          <a:ln/>
        </p:spPr>
        <p:txBody>
          <a:bodyPr wrap="square" lIns="1016" tIns="1016" rIns="1016" bIns="1016" rtlCol="0" anchor="ctr"/>
          <a:lstStyle/>
          <a:p>
            <a:pPr algn="ctr" indent="0" marL="0">
              <a:buNone/>
            </a:pPr>
            <a:r>
              <a:rPr lang="en-US" sz="1700" b="1" dirty="0">
                <a:solidFill>
                  <a:schemeClr val="tx1"/>
                </a:solidFill>
              </a:rPr>
              <a:t>Sentence-T5</a:t>
            </a:r>
            <a:endParaRPr lang="en-US" sz="1700" dirty="0"/>
          </a:p>
        </p:txBody>
      </p:sp>
      <p:sp>
        <p:nvSpPr>
          <p:cNvPr id="9" name="arrow_165"/>
          <p:cNvSpPr/>
          <p:nvPr/>
        </p:nvSpPr>
        <p:spPr>
          <a:xfrm>
            <a:off x="2103120" y="3602736"/>
            <a:ext cx="914" cy="301752"/>
          </a:xfrm>
          <a:prstGeom prst="line">
            <a:avLst/>
          </a:prstGeom>
          <a:noFill/>
          <a:ln w="25400">
            <a:solidFill>
              <a:srgbClr val="64748B"/>
            </a:solidFill>
            <a:prstDash val="solid"/>
            <a:tailEnd type="triangle"/>
          </a:ln>
        </p:spPr>
      </p:sp>
      <p:sp>
        <p:nvSpPr>
          <p:cNvPr id="10" name="card_166"/>
          <p:cNvSpPr/>
          <p:nvPr/>
        </p:nvSpPr>
        <p:spPr>
          <a:xfrm>
            <a:off x="548640" y="3922776"/>
            <a:ext cx="3108960" cy="777240"/>
          </a:xfrm>
          <a:prstGeom prst="roundRect">
            <a:avLst>
              <a:gd name="adj" fmla="val 9412"/>
            </a:avLst>
          </a:prstGeom>
          <a:solidFill>
            <a:srgbClr val="EEF6F5"/>
          </a:solidFill>
          <a:ln/>
        </p:spPr>
      </p:sp>
      <p:sp>
        <p:nvSpPr>
          <p:cNvPr id="11" name="text_167"/>
          <p:cNvSpPr txBox="1"/>
          <p:nvPr/>
        </p:nvSpPr>
        <p:spPr>
          <a:xfrm>
            <a:off x="548640" y="3922776"/>
            <a:ext cx="3108960" cy="777240"/>
          </a:xfrm>
          <a:prstGeom prst="rect">
            <a:avLst/>
          </a:prstGeom>
          <a:noFill/>
          <a:ln/>
        </p:spPr>
        <p:txBody>
          <a:bodyPr wrap="square" lIns="1016" tIns="1016" rIns="1016" bIns="1016" rtlCol="0" anchor="ctr"/>
          <a:lstStyle/>
          <a:p>
            <a:pPr algn="ctr" indent="0" marL="0">
              <a:buNone/>
            </a:pPr>
            <a:r>
              <a:rPr lang="en-US" sz="1700" b="1" dirty="0">
                <a:solidFill>
                  <a:schemeClr val="tx1"/>
                </a:solidFill>
              </a:rPr>
              <a:t>Leiden</a:t>
            </a:r>
            <a:endParaRPr lang="en-US" sz="1700" dirty="0"/>
          </a:p>
        </p:txBody>
      </p:sp>
      <p:sp>
        <p:nvSpPr>
          <p:cNvPr id="12" name="arrow_168"/>
          <p:cNvSpPr/>
          <p:nvPr/>
        </p:nvSpPr>
        <p:spPr>
          <a:xfrm>
            <a:off x="2103120" y="4718304"/>
            <a:ext cx="914" cy="301752"/>
          </a:xfrm>
          <a:prstGeom prst="line">
            <a:avLst/>
          </a:prstGeom>
          <a:noFill/>
          <a:ln w="25400">
            <a:solidFill>
              <a:srgbClr val="64748B"/>
            </a:solidFill>
            <a:prstDash val="solid"/>
            <a:tailEnd type="triangle"/>
          </a:ln>
        </p:spPr>
      </p:sp>
      <p:sp>
        <p:nvSpPr>
          <p:cNvPr id="13" name="card_169"/>
          <p:cNvSpPr/>
          <p:nvPr/>
        </p:nvSpPr>
        <p:spPr>
          <a:xfrm>
            <a:off x="548640" y="5038344"/>
            <a:ext cx="3108960" cy="777240"/>
          </a:xfrm>
          <a:prstGeom prst="roundRect">
            <a:avLst>
              <a:gd name="adj" fmla="val 9412"/>
            </a:avLst>
          </a:prstGeom>
          <a:solidFill>
            <a:srgbClr val="0F766E"/>
          </a:solidFill>
          <a:ln/>
        </p:spPr>
      </p:sp>
      <p:sp>
        <p:nvSpPr>
          <p:cNvPr id="14" name="text_170"/>
          <p:cNvSpPr txBox="1"/>
          <p:nvPr/>
        </p:nvSpPr>
        <p:spPr>
          <a:xfrm>
            <a:off x="548640" y="5038344"/>
            <a:ext cx="3108960" cy="777240"/>
          </a:xfrm>
          <a:prstGeom prst="rect">
            <a:avLst/>
          </a:prstGeom>
          <a:noFill/>
          <a:ln/>
        </p:spPr>
        <p:txBody>
          <a:bodyPr wrap="square" lIns="1016" tIns="1016" rIns="1016" bIns="1016" rtlCol="0" anchor="ctr"/>
          <a:lstStyle/>
          <a:p>
            <a:pPr algn="ctr" indent="0" marL="0">
              <a:buNone/>
            </a:pPr>
            <a:r>
              <a:rPr lang="en-US" sz="1700" b="1" dirty="0">
                <a:solidFill>
                  <a:schemeClr val="bg1"/>
                </a:solidFill>
              </a:rPr>
              <a:t>80 leaf task topics</a:t>
            </a:r>
            <a:endParaRPr lang="en-US" sz="1700" dirty="0"/>
          </a:p>
        </p:txBody>
      </p:sp>
      <p:sp>
        <p:nvSpPr>
          <p:cNvPr id="15" name="text_171"/>
          <p:cNvSpPr txBox="1"/>
          <p:nvPr/>
        </p:nvSpPr>
        <p:spPr>
          <a:xfrm>
            <a:off x="4206240" y="1234440"/>
            <a:ext cx="3840480" cy="365760"/>
          </a:xfrm>
          <a:prstGeom prst="rect">
            <a:avLst/>
          </a:prstGeom>
          <a:noFill/>
          <a:ln/>
        </p:spPr>
        <p:txBody>
          <a:bodyPr wrap="square" lIns="0" tIns="0" rIns="0" bIns="0" rtlCol="0" anchor="ctr"/>
          <a:lstStyle/>
          <a:p>
            <a:pPr algn="l" indent="0" marL="0">
              <a:buNone/>
            </a:pPr>
            <a:r>
              <a:rPr lang="en-US" sz="1400" b="1" dirty="0">
                <a:solidFill>
                  <a:schemeClr val="accent3"/>
                </a:solidFill>
              </a:rPr>
              <a:t>CURRENT VALIDATION STATUS</a:t>
            </a:r>
            <a:endParaRPr lang="en-US" sz="1400" dirty="0"/>
          </a:p>
        </p:txBody>
      </p:sp>
      <p:sp>
        <p:nvSpPr>
          <p:cNvPr id="16" name="card_172"/>
          <p:cNvSpPr/>
          <p:nvPr/>
        </p:nvSpPr>
        <p:spPr>
          <a:xfrm>
            <a:off x="4206240" y="1691640"/>
            <a:ext cx="3749040" cy="4114800"/>
          </a:xfrm>
          <a:prstGeom prst="roundRect">
            <a:avLst>
              <a:gd name="adj" fmla="val 1951"/>
            </a:avLst>
          </a:prstGeom>
          <a:solidFill>
            <a:srgbClr val="FDF3E7"/>
          </a:solidFill>
          <a:ln/>
        </p:spPr>
      </p:sp>
      <p:sp>
        <p:nvSpPr>
          <p:cNvPr id="17" name="text_173"/>
          <p:cNvSpPr txBox="1"/>
          <p:nvPr/>
        </p:nvSpPr>
        <p:spPr>
          <a:xfrm>
            <a:off x="4343400" y="1828800"/>
            <a:ext cx="3474720" cy="1737360"/>
          </a:xfrm>
          <a:prstGeom prst="rect">
            <a:avLst/>
          </a:prstGeom>
          <a:noFill/>
          <a:ln/>
        </p:spPr>
        <p:txBody>
          <a:bodyPr wrap="square" lIns="1016" tIns="1016" rIns="1016" bIns="1016" rtlCol="0" anchor="ctr"/>
          <a:lstStyle/>
          <a:p>
            <a:pPr algn="ctr" indent="0" marL="0">
              <a:spcAft>
                <a:spcPts val="400"/>
              </a:spcAft>
              <a:buNone/>
            </a:pPr>
            <a:r>
              <a:rPr lang="en-US" sz="2000" b="1" dirty="0">
                <a:solidFill>
                  <a:srgbClr val="1F2937"/>
                </a:solidFill>
              </a:rPr>
              <a:t>Methodologically selected</a:t>
            </a:r>
            <a:endParaRPr lang="en-US" sz="1600" dirty="0"/>
          </a:p>
          <a:p>
            <a:pPr algn="ctr" indent="0" marL="0">
              <a:spcAft>
                <a:spcPts val="400"/>
              </a:spcAft>
              <a:buNone/>
            </a:pPr>
            <a:r>
              <a:rPr lang="en-US" sz="1600" b="1" dirty="0">
                <a:solidFill>
                  <a:srgbClr val="B45309"/>
                </a:solidFill>
              </a:rPr>
              <a:t>BUT</a:t>
            </a:r>
            <a:endParaRPr lang="en-US" sz="1600" dirty="0"/>
          </a:p>
          <a:p>
            <a:pPr algn="ctr" indent="0" marL="0">
              <a:spcAft>
                <a:spcPts val="400"/>
              </a:spcAft>
              <a:buNone/>
            </a:pPr>
            <a:r>
              <a:rPr lang="en-US" sz="2000" b="1" dirty="0">
                <a:solidFill>
                  <a:srgbClr val="B45309"/>
                </a:solidFill>
              </a:rPr>
              <a:t>not yet frozen</a:t>
            </a:r>
            <a:endParaRPr lang="en-US" sz="1600" dirty="0"/>
          </a:p>
        </p:txBody>
      </p:sp>
      <p:sp>
        <p:nvSpPr>
          <p:cNvPr id="18" name="text_174"/>
          <p:cNvSpPr txBox="1"/>
          <p:nvPr/>
        </p:nvSpPr>
        <p:spPr>
          <a:xfrm>
            <a:off x="4434840" y="3703320"/>
            <a:ext cx="3291840" cy="1920240"/>
          </a:xfrm>
          <a:prstGeom prst="rect">
            <a:avLst/>
          </a:prstGeom>
          <a:noFill/>
          <a:ln/>
        </p:spPr>
        <p:txBody>
          <a:bodyPr wrap="square" lIns="1016" tIns="1016" rIns="1016" bIns="1016" rtlCol="0" anchor="t"/>
          <a:lstStyle/>
          <a:p>
            <a:pPr algn="l" indent="0" marL="0">
              <a:buNone/>
            </a:pPr>
            <a:r>
              <a:rPr lang="en-US" sz="1500" dirty="0">
                <a:solidFill>
                  <a:schemeClr val="tx1"/>
                </a:solidFill>
              </a:rPr>
              <a:t>Human semantic-coherence review is still required. A 66-task review sample is prepared, with the human fields left blank.</a:t>
            </a:r>
            <a:endParaRPr lang="en-US" sz="1500" dirty="0"/>
          </a:p>
        </p:txBody>
      </p:sp>
      <p:sp>
        <p:nvSpPr>
          <p:cNvPr id="19" name="text_175"/>
          <p:cNvSpPr txBox="1"/>
          <p:nvPr/>
        </p:nvSpPr>
        <p:spPr>
          <a:xfrm>
            <a:off x="8503920" y="1234440"/>
            <a:ext cx="3108960" cy="365760"/>
          </a:xfrm>
          <a:prstGeom prst="rect">
            <a:avLst/>
          </a:prstGeom>
          <a:noFill/>
          <a:ln/>
        </p:spPr>
        <p:txBody>
          <a:bodyPr wrap="square" lIns="0" tIns="0" rIns="0" bIns="0" rtlCol="0" anchor="ctr"/>
          <a:lstStyle/>
          <a:p>
            <a:pPr algn="l" indent="0" marL="0">
              <a:buNone/>
            </a:pPr>
            <a:r>
              <a:rPr lang="en-US" sz="1400" b="1" dirty="0">
                <a:solidFill>
                  <a:schemeClr val="accent1"/>
                </a:solidFill>
              </a:rPr>
              <a:t>SPRINT 4</a:t>
            </a:r>
            <a:endParaRPr lang="en-US" sz="1400" dirty="0"/>
          </a:p>
        </p:txBody>
      </p:sp>
      <p:sp>
        <p:nvSpPr>
          <p:cNvPr id="20" name="card_176"/>
          <p:cNvSpPr/>
          <p:nvPr/>
        </p:nvSpPr>
        <p:spPr>
          <a:xfrm>
            <a:off x="8503920" y="1691640"/>
            <a:ext cx="3108960" cy="621792"/>
          </a:xfrm>
          <a:prstGeom prst="roundRect">
            <a:avLst>
              <a:gd name="adj" fmla="val 11765"/>
            </a:avLst>
          </a:prstGeom>
          <a:solidFill>
            <a:srgbClr val="0F766E"/>
          </a:solidFill>
          <a:ln/>
        </p:spPr>
      </p:sp>
      <p:sp>
        <p:nvSpPr>
          <p:cNvPr id="21" name="text_177"/>
          <p:cNvSpPr txBox="1"/>
          <p:nvPr/>
        </p:nvSpPr>
        <p:spPr>
          <a:xfrm>
            <a:off x="8503920" y="1691640"/>
            <a:ext cx="3108960" cy="621792"/>
          </a:xfrm>
          <a:prstGeom prst="rect">
            <a:avLst/>
          </a:prstGeom>
          <a:noFill/>
          <a:ln/>
        </p:spPr>
        <p:txBody>
          <a:bodyPr wrap="square" lIns="1016" tIns="1016" rIns="1016" bIns="1016" rtlCol="0" anchor="ctr"/>
          <a:lstStyle/>
          <a:p>
            <a:pPr algn="ctr" indent="0" marL="0">
              <a:buNone/>
            </a:pPr>
            <a:r>
              <a:rPr lang="en-US" sz="1500" b="1" dirty="0">
                <a:solidFill>
                  <a:schemeClr val="bg1"/>
                </a:solidFill>
              </a:rPr>
              <a:t>80 leaf topics</a:t>
            </a:r>
            <a:endParaRPr lang="en-US" sz="1500" dirty="0"/>
          </a:p>
        </p:txBody>
      </p:sp>
      <p:sp>
        <p:nvSpPr>
          <p:cNvPr id="22" name="arrow_178"/>
          <p:cNvSpPr/>
          <p:nvPr/>
        </p:nvSpPr>
        <p:spPr>
          <a:xfrm>
            <a:off x="10058400" y="2331720"/>
            <a:ext cx="914" cy="210312"/>
          </a:xfrm>
          <a:prstGeom prst="line">
            <a:avLst/>
          </a:prstGeom>
          <a:noFill/>
          <a:ln w="25400">
            <a:solidFill>
              <a:srgbClr val="64748B"/>
            </a:solidFill>
            <a:prstDash val="solid"/>
            <a:tailEnd type="triangle"/>
          </a:ln>
        </p:spPr>
      </p:sp>
      <p:sp>
        <p:nvSpPr>
          <p:cNvPr id="23" name="card_179"/>
          <p:cNvSpPr/>
          <p:nvPr/>
        </p:nvSpPr>
        <p:spPr>
          <a:xfrm>
            <a:off x="8503920" y="2560320"/>
            <a:ext cx="3108960" cy="621792"/>
          </a:xfrm>
          <a:prstGeom prst="roundRect">
            <a:avLst>
              <a:gd name="adj" fmla="val 11765"/>
            </a:avLst>
          </a:prstGeom>
          <a:solidFill>
            <a:srgbClr val="FFFFFF"/>
          </a:solidFill>
          <a:ln w="12700">
            <a:solidFill>
              <a:srgbClr val="CBD5E1"/>
            </a:solidFill>
            <a:prstDash val="solid"/>
          </a:ln>
        </p:spPr>
      </p:sp>
      <p:sp>
        <p:nvSpPr>
          <p:cNvPr id="24" name="text_180"/>
          <p:cNvSpPr txBox="1"/>
          <p:nvPr/>
        </p:nvSpPr>
        <p:spPr>
          <a:xfrm>
            <a:off x="8503920" y="2560320"/>
            <a:ext cx="3108960" cy="621792"/>
          </a:xfrm>
          <a:prstGeom prst="rect">
            <a:avLst/>
          </a:prstGeom>
          <a:noFill/>
          <a:ln/>
        </p:spPr>
        <p:txBody>
          <a:bodyPr wrap="square" lIns="1016" tIns="1016" rIns="1016" bIns="1016" rtlCol="0" anchor="ctr"/>
          <a:lstStyle/>
          <a:p>
            <a:pPr algn="ctr" indent="0" marL="0">
              <a:buNone/>
            </a:pPr>
            <a:r>
              <a:rPr lang="en-US" sz="1500" b="1" dirty="0">
                <a:solidFill>
                  <a:schemeClr val="tx1"/>
                </a:solidFill>
              </a:rPr>
              <a:t>Name + describe topics</a:t>
            </a:r>
            <a:endParaRPr lang="en-US" sz="1500" dirty="0"/>
          </a:p>
        </p:txBody>
      </p:sp>
      <p:sp>
        <p:nvSpPr>
          <p:cNvPr id="25" name="arrow_181"/>
          <p:cNvSpPr/>
          <p:nvPr/>
        </p:nvSpPr>
        <p:spPr>
          <a:xfrm>
            <a:off x="10058400" y="3200400"/>
            <a:ext cx="914" cy="210312"/>
          </a:xfrm>
          <a:prstGeom prst="line">
            <a:avLst/>
          </a:prstGeom>
          <a:noFill/>
          <a:ln w="25400">
            <a:solidFill>
              <a:srgbClr val="64748B"/>
            </a:solidFill>
            <a:prstDash val="solid"/>
            <a:tailEnd type="triangle"/>
          </a:ln>
        </p:spPr>
      </p:sp>
      <p:sp>
        <p:nvSpPr>
          <p:cNvPr id="26" name="card_182"/>
          <p:cNvSpPr/>
          <p:nvPr/>
        </p:nvSpPr>
        <p:spPr>
          <a:xfrm>
            <a:off x="8503920" y="3429000"/>
            <a:ext cx="3108960" cy="621792"/>
          </a:xfrm>
          <a:prstGeom prst="roundRect">
            <a:avLst>
              <a:gd name="adj" fmla="val 11765"/>
            </a:avLst>
          </a:prstGeom>
          <a:solidFill>
            <a:srgbClr val="FFFFFF"/>
          </a:solidFill>
          <a:ln w="12700">
            <a:solidFill>
              <a:srgbClr val="CBD5E1"/>
            </a:solidFill>
            <a:prstDash val="solid"/>
          </a:ln>
        </p:spPr>
      </p:sp>
      <p:sp>
        <p:nvSpPr>
          <p:cNvPr id="27" name="text_183"/>
          <p:cNvSpPr txBox="1"/>
          <p:nvPr/>
        </p:nvSpPr>
        <p:spPr>
          <a:xfrm>
            <a:off x="8503920" y="3429000"/>
            <a:ext cx="3108960" cy="621792"/>
          </a:xfrm>
          <a:prstGeom prst="rect">
            <a:avLst/>
          </a:prstGeom>
          <a:noFill/>
          <a:ln/>
        </p:spPr>
        <p:txBody>
          <a:bodyPr wrap="square" lIns="1016" tIns="1016" rIns="1016" bIns="1016" rtlCol="0" anchor="ctr"/>
          <a:lstStyle/>
          <a:p>
            <a:pPr algn="ctr" indent="0" marL="0">
              <a:buNone/>
            </a:pPr>
            <a:r>
              <a:rPr lang="en-US" sz="1500" b="1" dirty="0">
                <a:solidFill>
                  <a:schemeClr val="tx1"/>
                </a:solidFill>
              </a:rPr>
              <a:t>Build parent hierarchy</a:t>
            </a:r>
            <a:endParaRPr lang="en-US" sz="1500" dirty="0"/>
          </a:p>
        </p:txBody>
      </p:sp>
      <p:sp>
        <p:nvSpPr>
          <p:cNvPr id="28" name="arrow_184"/>
          <p:cNvSpPr/>
          <p:nvPr/>
        </p:nvSpPr>
        <p:spPr>
          <a:xfrm>
            <a:off x="10058400" y="4069080"/>
            <a:ext cx="914" cy="210312"/>
          </a:xfrm>
          <a:prstGeom prst="line">
            <a:avLst/>
          </a:prstGeom>
          <a:noFill/>
          <a:ln w="25400">
            <a:solidFill>
              <a:srgbClr val="64748B"/>
            </a:solidFill>
            <a:prstDash val="solid"/>
            <a:tailEnd type="triangle"/>
          </a:ln>
        </p:spPr>
      </p:sp>
      <p:sp>
        <p:nvSpPr>
          <p:cNvPr id="29" name="card_185"/>
          <p:cNvSpPr/>
          <p:nvPr/>
        </p:nvSpPr>
        <p:spPr>
          <a:xfrm>
            <a:off x="8503920" y="4297680"/>
            <a:ext cx="3108960" cy="621792"/>
          </a:xfrm>
          <a:prstGeom prst="roundRect">
            <a:avLst>
              <a:gd name="adj" fmla="val 11765"/>
            </a:avLst>
          </a:prstGeom>
          <a:solidFill>
            <a:srgbClr val="FFFFFF"/>
          </a:solidFill>
          <a:ln w="12700">
            <a:solidFill>
              <a:srgbClr val="CBD5E1"/>
            </a:solidFill>
            <a:prstDash val="solid"/>
          </a:ln>
        </p:spPr>
      </p:sp>
      <p:sp>
        <p:nvSpPr>
          <p:cNvPr id="30" name="text_186"/>
          <p:cNvSpPr txBox="1"/>
          <p:nvPr/>
        </p:nvSpPr>
        <p:spPr>
          <a:xfrm>
            <a:off x="8503920" y="4297680"/>
            <a:ext cx="3108960" cy="621792"/>
          </a:xfrm>
          <a:prstGeom prst="rect">
            <a:avLst/>
          </a:prstGeom>
          <a:noFill/>
          <a:ln/>
        </p:spPr>
        <p:txBody>
          <a:bodyPr wrap="square" lIns="1016" tIns="1016" rIns="1016" bIns="1016" rtlCol="0" anchor="ctr"/>
          <a:lstStyle/>
          <a:p>
            <a:pPr algn="ctr" indent="0" marL="0">
              <a:buNone/>
            </a:pPr>
            <a:r>
              <a:rPr lang="en-US" sz="1500" b="1" dirty="0">
                <a:solidFill>
                  <a:schemeClr val="tx1"/>
                </a:solidFill>
              </a:rPr>
              <a:t>Compare against O*NET</a:t>
            </a:r>
            <a:endParaRPr lang="en-US" sz="1500" dirty="0"/>
          </a:p>
        </p:txBody>
      </p:sp>
      <p:sp>
        <p:nvSpPr>
          <p:cNvPr id="31" name="arrow_187"/>
          <p:cNvSpPr/>
          <p:nvPr/>
        </p:nvSpPr>
        <p:spPr>
          <a:xfrm>
            <a:off x="10058400" y="4937760"/>
            <a:ext cx="914" cy="210312"/>
          </a:xfrm>
          <a:prstGeom prst="line">
            <a:avLst/>
          </a:prstGeom>
          <a:noFill/>
          <a:ln w="25400">
            <a:solidFill>
              <a:srgbClr val="64748B"/>
            </a:solidFill>
            <a:prstDash val="solid"/>
            <a:tailEnd type="triangle"/>
          </a:ln>
        </p:spPr>
      </p:sp>
      <p:sp>
        <p:nvSpPr>
          <p:cNvPr id="32" name="card_188"/>
          <p:cNvSpPr/>
          <p:nvPr/>
        </p:nvSpPr>
        <p:spPr>
          <a:xfrm>
            <a:off x="8503920" y="5166360"/>
            <a:ext cx="3108960" cy="621792"/>
          </a:xfrm>
          <a:prstGeom prst="roundRect">
            <a:avLst>
              <a:gd name="adj" fmla="val 11765"/>
            </a:avLst>
          </a:prstGeom>
          <a:solidFill>
            <a:srgbClr val="FFFFFF"/>
          </a:solidFill>
          <a:ln w="12700">
            <a:solidFill>
              <a:srgbClr val="CBD5E1"/>
            </a:solidFill>
            <a:prstDash val="solid"/>
          </a:ln>
        </p:spPr>
      </p:sp>
      <p:sp>
        <p:nvSpPr>
          <p:cNvPr id="33" name="text_189"/>
          <p:cNvSpPr txBox="1"/>
          <p:nvPr/>
        </p:nvSpPr>
        <p:spPr>
          <a:xfrm>
            <a:off x="8503920" y="5166360"/>
            <a:ext cx="3108960" cy="621792"/>
          </a:xfrm>
          <a:prstGeom prst="rect">
            <a:avLst/>
          </a:prstGeom>
          <a:noFill/>
          <a:ln/>
        </p:spPr>
        <p:txBody>
          <a:bodyPr wrap="square" lIns="1016" tIns="1016" rIns="1016" bIns="1016" rtlCol="0" anchor="ctr"/>
          <a:lstStyle/>
          <a:p>
            <a:pPr algn="ctr" indent="0" marL="0">
              <a:buNone/>
            </a:pPr>
            <a:r>
              <a:rPr lang="en-US" sz="1500" b="1" dirty="0">
                <a:solidFill>
                  <a:schemeClr val="tx1"/>
                </a:solidFill>
              </a:rPr>
              <a:t>Human review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Task Taxonomy">
  <a:themeElements>
    <a:clrScheme name="Task Taxonomy">
      <a:dk1>
        <a:srgbClr val="1F2937"/>
      </a:dk1>
      <a:lt1>
        <a:srgbClr val="FFFFFF"/>
      </a:lt1>
      <a:dk2>
        <a:srgbClr val="134E4A"/>
      </a:dk2>
      <a:lt2>
        <a:srgbClr val="EEF6F5"/>
      </a:lt2>
      <a:accent1>
        <a:srgbClr val="0F766E"/>
      </a:accent1>
      <a:accent2>
        <a:srgbClr val="64748B"/>
      </a:accent2>
      <a:accent3>
        <a:srgbClr val="B45309"/>
      </a:accent3>
      <a:accent4>
        <a:srgbClr val="CBD5E1"/>
      </a:accent4>
      <a:accent5>
        <a:srgbClr val="D5ECE8"/>
      </a:accent5>
      <a:accent6>
        <a:srgbClr val="B91C1C"/>
      </a:accent6>
      <a:hlink>
        <a:srgbClr val="0F766E"/>
      </a:hlink>
      <a:folHlink>
        <a:srgbClr val="64748B"/>
      </a:folHlink>
    </a:clrScheme>
    <a:fontScheme name="Task Taxonom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3: From Atomic Tasks to a Task Taxonomy</dc:title>
  <dc:subject>PptxGenJS Presentation</dc:subject>
  <dc:creator>IE7945 Capstone - Workhuman Taxonomy of Work</dc:creator>
  <cp:lastModifiedBy>IE7945 Capstone - Workhuman Taxonomy of Work</cp:lastModifiedBy>
  <cp:revision>1</cp:revision>
  <dcterms:created xsi:type="dcterms:W3CDTF">2026-10-23T00:28:53Z</dcterms:created>
  <dcterms:modified xsi:type="dcterms:W3CDTF">2026-10-23T00:28:53Z</dcterms:modified>
</cp:coreProperties>
</file>