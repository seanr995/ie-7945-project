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print 2" id="{9983EB58-EDF5-4B5A-7248-30BA57BC6D5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Gemini</c:v>
                </c:pt>
              </c:strCache>
            </c:strRef>
          </c:tx>
          <c:spPr>
            <a:solidFill>
              <a:srgbClr val="3E7C8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4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48.8</c:v>
                </c:pt>
                <c:pt idx="2">
                  <c:v>15.2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20-4D38-AF7D-277DD9AD81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Groq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4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11.9</c:v>
                </c:pt>
                <c:pt idx="1">
                  <c:v>38</c:v>
                </c:pt>
                <c:pt idx="2">
                  <c:v>18.100000000000001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20-4D38-AF7D-277DD9AD81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4DA-4723-89D4-79B523098183}"/>
              </c:ext>
            </c:extLst>
          </c:dPt>
          <c:dPt>
            <c:idx val="1"/>
            <c:invertIfNegative val="0"/>
            <c:bubble3D val="0"/>
            <c:spPr>
              <a:solidFill>
                <a:srgbClr val="3E7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4DA-4723-89D4-79B523098183}"/>
              </c:ext>
            </c:extLst>
          </c:dPt>
          <c:dPt>
            <c:idx val="2"/>
            <c:invertIfNegative val="0"/>
            <c:bubble3D val="0"/>
            <c:spPr>
              <a:solidFill>
                <a:srgbClr val="6B7A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4DA-4723-89D4-79B52309818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Accepted</c:v>
                </c:pt>
                <c:pt idx="1">
                  <c:v>Review</c:v>
                </c:pt>
                <c:pt idx="2">
                  <c:v>Unmatched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286</c:v>
                </c:pt>
                <c:pt idx="1">
                  <c:v>2503</c:v>
                </c:pt>
                <c:pt idx="2">
                  <c:v>690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4DA-4723-89D4-79B5230981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10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444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2 goal: turn raw job postings into atomic, evidence-backed task statements, and measure how good the extraction is against human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canonical postings, rule-based section parsing, two extractors (Gemini and Groq), then an evidence gate. A task survives only if its cited evidence span is actually in the posting. Results land in task_pipeline.task_statements.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 frozen postings produced 3,614 task statements. 3,479 passed evidence validation; 132 were rejected (106 invalid evidence, 26 unsupported). 683 tasks were extracted independently by both models. All 32 tests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is on the human-labeled evaluation subset: 43 postings, 129 human tasks. Labeling was blind. Matching is one-to-one within each posting (exact, then lexical, then semantic at cosine 0.85), with no LLM 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Gemini: precision 9.0%, recall 48.8%, F1 15.2% (TP 63, FP 635, FN 66). Groq: precision 11.9%, recall 38.0%, F1 18.1% (TP 49, FP 364, FN 80). Recall is the headline: Gemini recovers about half of the human key tasks under strict matching, and about 72% when near-miss paraphrases are counted. Precision is a lower bound because annotators recorded 3 key tasks per posting while the models extract every task; most false positives are valid tasks the human did not list. Consensus of both models is the most precise at 14.2%. Current metrics reflect the completed human-labeled evaluation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error types. Extra tasks dominate false positives: these are mostly real tasks the human didn't list (87% of Gemini FPs). Missed tasks are mostly in narrative paragraphs. Compound splitting and paraphrase: models split or merge differently from the human; 'Lead high cost deals' versus 'Close complex, high-value deals' scores 0.77, just below threshold. Task-vs-skill: Gemini turns skill lines like Microsoft Purview into tasks, and some gold labels are skills, like 'Strong writing skills'.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extraction, each evidence-valid task is matched to its closest O*NET task statements. 286 are accepted candidate matches, 2,503 are review candidates, and 690 have no close O*NET equivalent. These are candidate mappings, not ground truth, and the thresholds are provisional. O*NET never generates our tasks; it is only a reference for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takeaway: we have a working, evidence-backed pipeline that goes from real postings to tasks, is measured against human labels, and is aligned to O*NET as a reference. Every number here is reproducible from cached outputs, with no new API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2: From Job Postings to Measured Task Extraction</a:t>
            </a:r>
            <a:endParaRPr lang="en-US" sz="4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OBJECTIVE</a:t>
            </a:r>
            <a:endParaRPr lang="en-US" sz="1200" dirty="0"/>
          </a:p>
        </p:txBody>
      </p:sp>
      <p:sp>
        <p:nvSpPr>
          <p:cNvPr id="4" name="flow0"/>
          <p:cNvSpPr/>
          <p:nvPr/>
        </p:nvSpPr>
        <p:spPr>
          <a:xfrm>
            <a:off x="548640" y="2926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3E7C8C"/>
          </a:solidFill>
          <a:ln w="12700">
            <a:solidFill>
              <a:srgbClr val="3E7C8C"/>
            </a:solidFill>
            <a:prstDash val="solid"/>
          </a:ln>
        </p:spPr>
      </p:sp>
      <p:sp>
        <p:nvSpPr>
          <p:cNvPr id="5" name="flowt0"/>
          <p:cNvSpPr txBox="1"/>
          <p:nvPr/>
        </p:nvSpPr>
        <p:spPr>
          <a:xfrm>
            <a:off x="685800" y="2926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</a:t>
            </a:r>
            <a:endParaRPr lang="en-US" sz="1700" dirty="0"/>
          </a:p>
        </p:txBody>
      </p:sp>
      <p:sp>
        <p:nvSpPr>
          <p:cNvPr id="6" name="arr0"/>
          <p:cNvSpPr txBox="1"/>
          <p:nvPr/>
        </p:nvSpPr>
        <p:spPr>
          <a:xfrm>
            <a:off x="2926080" y="29260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flow1"/>
          <p:cNvSpPr/>
          <p:nvPr/>
        </p:nvSpPr>
        <p:spPr>
          <a:xfrm>
            <a:off x="3337560" y="2926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3E7C8C"/>
          </a:solidFill>
          <a:ln w="12700">
            <a:solidFill>
              <a:srgbClr val="3E7C8C"/>
            </a:solidFill>
            <a:prstDash val="solid"/>
          </a:ln>
        </p:spPr>
      </p:sp>
      <p:sp>
        <p:nvSpPr>
          <p:cNvPr id="8" name="flowt1"/>
          <p:cNvSpPr txBox="1"/>
          <p:nvPr/>
        </p:nvSpPr>
        <p:spPr>
          <a:xfrm>
            <a:off x="3474720" y="2926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task statements</a:t>
            </a:r>
            <a:endParaRPr lang="en-US" sz="1700" dirty="0"/>
          </a:p>
        </p:txBody>
      </p:sp>
      <p:sp>
        <p:nvSpPr>
          <p:cNvPr id="9" name="arr1"/>
          <p:cNvSpPr txBox="1"/>
          <p:nvPr/>
        </p:nvSpPr>
        <p:spPr>
          <a:xfrm>
            <a:off x="5715000" y="29260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flow2"/>
          <p:cNvSpPr/>
          <p:nvPr/>
        </p:nvSpPr>
        <p:spPr>
          <a:xfrm>
            <a:off x="6126480" y="2926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flowt2"/>
          <p:cNvSpPr txBox="1"/>
          <p:nvPr/>
        </p:nvSpPr>
        <p:spPr>
          <a:xfrm>
            <a:off x="6263640" y="2926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extraction quality</a:t>
            </a:r>
            <a:endParaRPr lang="en-US" sz="1700" dirty="0"/>
          </a:p>
        </p:txBody>
      </p:sp>
      <p:sp>
        <p:nvSpPr>
          <p:cNvPr id="12" name="sub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is tied to evidence in the posting and scored against human labels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Architecture</a:t>
            </a:r>
            <a:endParaRPr lang="en-US" sz="3000" dirty="0"/>
          </a:p>
        </p:txBody>
      </p:sp>
      <p:sp>
        <p:nvSpPr>
          <p:cNvPr id="3" name="st0"/>
          <p:cNvSpPr/>
          <p:nvPr/>
        </p:nvSpPr>
        <p:spPr>
          <a:xfrm>
            <a:off x="457200" y="1417320"/>
            <a:ext cx="1499616" cy="2377440"/>
          </a:xfrm>
          <a:prstGeom prst="roundRect">
            <a:avLst>
              <a:gd name="adj" fmla="val 487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4" name="stc0_c"/>
          <p:cNvSpPr/>
          <p:nvPr/>
        </p:nvSpPr>
        <p:spPr>
          <a:xfrm>
            <a:off x="978408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stc0_n"/>
          <p:cNvSpPr txBox="1"/>
          <p:nvPr/>
        </p:nvSpPr>
        <p:spPr>
          <a:xfrm>
            <a:off x="97840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th0"/>
          <p:cNvSpPr txBox="1"/>
          <p:nvPr/>
        </p:nvSpPr>
        <p:spPr>
          <a:xfrm>
            <a:off x="548640" y="21945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postings</a:t>
            </a:r>
            <a:endParaRPr lang="en-US" sz="1400" dirty="0"/>
          </a:p>
        </p:txBody>
      </p:sp>
      <p:sp>
        <p:nvSpPr>
          <p:cNvPr id="7" name="std0"/>
          <p:cNvSpPr txBox="1"/>
          <p:nvPr/>
        </p:nvSpPr>
        <p:spPr>
          <a:xfrm>
            <a:off x="566928" y="27889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Jobs + Arbeitnow, deduplicated, frozen sample</a:t>
            </a:r>
            <a:endParaRPr lang="en-US" sz="1100" dirty="0"/>
          </a:p>
        </p:txBody>
      </p:sp>
      <p:sp>
        <p:nvSpPr>
          <p:cNvPr id="8" name="st1"/>
          <p:cNvSpPr/>
          <p:nvPr/>
        </p:nvSpPr>
        <p:spPr>
          <a:xfrm>
            <a:off x="2139696" y="1417320"/>
            <a:ext cx="1499616" cy="2377440"/>
          </a:xfrm>
          <a:prstGeom prst="roundRect">
            <a:avLst>
              <a:gd name="adj" fmla="val 487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stc1_c"/>
          <p:cNvSpPr/>
          <p:nvPr/>
        </p:nvSpPr>
        <p:spPr>
          <a:xfrm>
            <a:off x="2660904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c1_n"/>
          <p:cNvSpPr txBox="1"/>
          <p:nvPr/>
        </p:nvSpPr>
        <p:spPr>
          <a:xfrm>
            <a:off x="266090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th1"/>
          <p:cNvSpPr txBox="1"/>
          <p:nvPr/>
        </p:nvSpPr>
        <p:spPr>
          <a:xfrm>
            <a:off x="2231136" y="21945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parsing</a:t>
            </a:r>
            <a:endParaRPr lang="en-US" sz="1400" dirty="0"/>
          </a:p>
        </p:txBody>
      </p:sp>
      <p:sp>
        <p:nvSpPr>
          <p:cNvPr id="12" name="std1"/>
          <p:cNvSpPr txBox="1"/>
          <p:nvPr/>
        </p:nvSpPr>
        <p:spPr>
          <a:xfrm>
            <a:off x="2249424" y="27889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responsibilities, requirements,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3" name="st2"/>
          <p:cNvSpPr/>
          <p:nvPr/>
        </p:nvSpPr>
        <p:spPr>
          <a:xfrm>
            <a:off x="3822192" y="1417320"/>
            <a:ext cx="1499616" cy="2377440"/>
          </a:xfrm>
          <a:prstGeom prst="roundRect">
            <a:avLst>
              <a:gd name="adj" fmla="val 487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4" name="stc2_c"/>
          <p:cNvSpPr/>
          <p:nvPr/>
        </p:nvSpPr>
        <p:spPr>
          <a:xfrm>
            <a:off x="434340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c2_n"/>
          <p:cNvSpPr txBox="1"/>
          <p:nvPr/>
        </p:nvSpPr>
        <p:spPr>
          <a:xfrm>
            <a:off x="43434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th2"/>
          <p:cNvSpPr txBox="1"/>
          <p:nvPr/>
        </p:nvSpPr>
        <p:spPr>
          <a:xfrm>
            <a:off x="3913632" y="21945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Groq</a:t>
            </a:r>
            <a:endParaRPr lang="en-US" sz="1400" dirty="0"/>
          </a:p>
        </p:txBody>
      </p:sp>
      <p:sp>
        <p:nvSpPr>
          <p:cNvPr id="17" name="std2"/>
          <p:cNvSpPr txBox="1"/>
          <p:nvPr/>
        </p:nvSpPr>
        <p:spPr>
          <a:xfrm>
            <a:off x="3931920" y="27889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LLM extractors, cached outputs</a:t>
            </a:r>
            <a:endParaRPr lang="en-US" sz="1100" dirty="0"/>
          </a:p>
        </p:txBody>
      </p:sp>
      <p:sp>
        <p:nvSpPr>
          <p:cNvPr id="18" name="st3"/>
          <p:cNvSpPr/>
          <p:nvPr/>
        </p:nvSpPr>
        <p:spPr>
          <a:xfrm>
            <a:off x="5504688" y="1417320"/>
            <a:ext cx="1499616" cy="2377440"/>
          </a:xfrm>
          <a:prstGeom prst="roundRect">
            <a:avLst>
              <a:gd name="adj" fmla="val 487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stc3_c"/>
          <p:cNvSpPr/>
          <p:nvPr/>
        </p:nvSpPr>
        <p:spPr>
          <a:xfrm>
            <a:off x="6025896" y="16002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stc3_n"/>
          <p:cNvSpPr txBox="1"/>
          <p:nvPr/>
        </p:nvSpPr>
        <p:spPr>
          <a:xfrm>
            <a:off x="602589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th3"/>
          <p:cNvSpPr txBox="1"/>
          <p:nvPr/>
        </p:nvSpPr>
        <p:spPr>
          <a:xfrm>
            <a:off x="5596128" y="21945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validation</a:t>
            </a:r>
            <a:endParaRPr lang="en-US" sz="1400" dirty="0"/>
          </a:p>
        </p:txBody>
      </p:sp>
      <p:sp>
        <p:nvSpPr>
          <p:cNvPr id="22" name="std3"/>
          <p:cNvSpPr txBox="1"/>
          <p:nvPr/>
        </p:nvSpPr>
        <p:spPr>
          <a:xfrm>
            <a:off x="5614416" y="27889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must cite a verbatim span of the posting</a:t>
            </a:r>
            <a:endParaRPr lang="en-US" sz="1100" dirty="0"/>
          </a:p>
        </p:txBody>
      </p:sp>
      <p:sp>
        <p:nvSpPr>
          <p:cNvPr id="23" name="st4"/>
          <p:cNvSpPr/>
          <p:nvPr/>
        </p:nvSpPr>
        <p:spPr>
          <a:xfrm>
            <a:off x="7187184" y="1417320"/>
            <a:ext cx="1499616" cy="2377440"/>
          </a:xfrm>
          <a:prstGeom prst="roundRect">
            <a:avLst>
              <a:gd name="adj" fmla="val 487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4" name="stc4_c"/>
          <p:cNvSpPr/>
          <p:nvPr/>
        </p:nvSpPr>
        <p:spPr>
          <a:xfrm>
            <a:off x="7708392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stc4_n"/>
          <p:cNvSpPr txBox="1"/>
          <p:nvPr/>
        </p:nvSpPr>
        <p:spPr>
          <a:xfrm>
            <a:off x="770839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th4"/>
          <p:cNvSpPr txBox="1"/>
          <p:nvPr/>
        </p:nvSpPr>
        <p:spPr>
          <a:xfrm>
            <a:off x="7278624" y="21945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task_statements</a:t>
            </a:r>
            <a:endParaRPr lang="en-US" sz="1400" dirty="0"/>
          </a:p>
        </p:txBody>
      </p:sp>
      <p:sp>
        <p:nvSpPr>
          <p:cNvPr id="27" name="std4"/>
          <p:cNvSpPr txBox="1"/>
          <p:nvPr/>
        </p:nvSpPr>
        <p:spPr>
          <a:xfrm>
            <a:off x="7296912" y="27889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table: task, evidence, section, status</a:t>
            </a:r>
            <a:endParaRPr lang="en-US" sz="1100" dirty="0"/>
          </a:p>
        </p:txBody>
      </p:sp>
      <p:sp>
        <p:nvSpPr>
          <p:cNvPr id="28" name="foot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tasks whose evidence is not found in the posting are rejected, never silently kept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kpi0"/>
          <p:cNvSpPr/>
          <p:nvPr/>
        </p:nvSpPr>
        <p:spPr>
          <a:xfrm>
            <a:off x="457200" y="137160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4" name="kpin0"/>
          <p:cNvSpPr txBox="1"/>
          <p:nvPr/>
        </p:nvSpPr>
        <p:spPr>
          <a:xfrm>
            <a:off x="457200" y="15087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000" dirty="0"/>
          </a:p>
        </p:txBody>
      </p:sp>
      <p:sp>
        <p:nvSpPr>
          <p:cNvPr id="5" name="kpil0"/>
          <p:cNvSpPr txBox="1"/>
          <p:nvPr/>
        </p:nvSpPr>
        <p:spPr>
          <a:xfrm>
            <a:off x="457200" y="2468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postings</a:t>
            </a:r>
            <a:endParaRPr lang="en-US" sz="1400" dirty="0"/>
          </a:p>
        </p:txBody>
      </p:sp>
      <p:sp>
        <p:nvSpPr>
          <p:cNvPr id="6" name="kpi1"/>
          <p:cNvSpPr/>
          <p:nvPr/>
        </p:nvSpPr>
        <p:spPr>
          <a:xfrm>
            <a:off x="2560320" y="137160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7" name="kpin1"/>
          <p:cNvSpPr txBox="1"/>
          <p:nvPr/>
        </p:nvSpPr>
        <p:spPr>
          <a:xfrm>
            <a:off x="2560320" y="15087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3,614</a:t>
            </a:r>
            <a:endParaRPr lang="en-US" sz="4000" dirty="0"/>
          </a:p>
        </p:txBody>
      </p:sp>
      <p:sp>
        <p:nvSpPr>
          <p:cNvPr id="8" name="kpil1"/>
          <p:cNvSpPr txBox="1"/>
          <p:nvPr/>
        </p:nvSpPr>
        <p:spPr>
          <a:xfrm>
            <a:off x="2560320" y="2468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tasks</a:t>
            </a:r>
            <a:endParaRPr lang="en-US" sz="1400" dirty="0"/>
          </a:p>
        </p:txBody>
      </p:sp>
      <p:sp>
        <p:nvSpPr>
          <p:cNvPr id="9" name="kpi2"/>
          <p:cNvSpPr/>
          <p:nvPr/>
        </p:nvSpPr>
        <p:spPr>
          <a:xfrm>
            <a:off x="4663440" y="137160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kpin2"/>
          <p:cNvSpPr txBox="1"/>
          <p:nvPr/>
        </p:nvSpPr>
        <p:spPr>
          <a:xfrm>
            <a:off x="4663440" y="15087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3,479</a:t>
            </a:r>
            <a:endParaRPr lang="en-US" sz="4000" dirty="0"/>
          </a:p>
        </p:txBody>
      </p:sp>
      <p:sp>
        <p:nvSpPr>
          <p:cNvPr id="11" name="kpil2"/>
          <p:cNvSpPr txBox="1"/>
          <p:nvPr/>
        </p:nvSpPr>
        <p:spPr>
          <a:xfrm>
            <a:off x="4663440" y="2468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evidence-valid tasks</a:t>
            </a:r>
            <a:endParaRPr lang="en-US" sz="1400" dirty="0"/>
          </a:p>
        </p:txBody>
      </p:sp>
      <p:sp>
        <p:nvSpPr>
          <p:cNvPr id="12" name="kpi3"/>
          <p:cNvSpPr/>
          <p:nvPr/>
        </p:nvSpPr>
        <p:spPr>
          <a:xfrm>
            <a:off x="6766560" y="137160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3" name="kpin3"/>
          <p:cNvSpPr txBox="1"/>
          <p:nvPr/>
        </p:nvSpPr>
        <p:spPr>
          <a:xfrm>
            <a:off x="6766560" y="15087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en-US" sz="4000" dirty="0"/>
          </a:p>
        </p:txBody>
      </p:sp>
      <p:sp>
        <p:nvSpPr>
          <p:cNvPr id="14" name="kpil3"/>
          <p:cNvSpPr txBox="1"/>
          <p:nvPr/>
        </p:nvSpPr>
        <p:spPr>
          <a:xfrm>
            <a:off x="6766560" y="2468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by the gate</a:t>
            </a:r>
            <a:endParaRPr lang="en-US" sz="1400" dirty="0"/>
          </a:p>
        </p:txBody>
      </p:sp>
      <p:sp>
        <p:nvSpPr>
          <p:cNvPr id="15" name="tests"/>
          <p:cNvSpPr/>
          <p:nvPr/>
        </p:nvSpPr>
        <p:spPr>
          <a:xfrm>
            <a:off x="457200" y="3474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stsn"/>
          <p:cNvSpPr txBox="1"/>
          <p:nvPr/>
        </p:nvSpPr>
        <p:spPr>
          <a:xfrm>
            <a:off x="685800" y="3474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/ 32</a:t>
            </a:r>
            <a:endParaRPr lang="en-US" sz="2800" dirty="0"/>
          </a:p>
        </p:txBody>
      </p:sp>
      <p:sp>
        <p:nvSpPr>
          <p:cNvPr id="17" name="testsl"/>
          <p:cNvSpPr txBox="1"/>
          <p:nvPr/>
        </p:nvSpPr>
        <p:spPr>
          <a:xfrm>
            <a:off x="2377440" y="347472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passing: canonical data, prototype, and task pipeline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Evaluation Method</a:t>
            </a:r>
            <a:endParaRPr lang="en-US" sz="3000" dirty="0"/>
          </a:p>
        </p:txBody>
      </p:sp>
      <p:sp>
        <p:nvSpPr>
          <p:cNvPr id="3" name="m0"/>
          <p:cNvSpPr/>
          <p:nvPr/>
        </p:nvSpPr>
        <p:spPr>
          <a:xfrm>
            <a:off x="457200" y="128016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4" name="mc0_c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mc0_n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mh0"/>
          <p:cNvSpPr txBox="1"/>
          <p:nvPr/>
        </p:nvSpPr>
        <p:spPr>
          <a:xfrm>
            <a:off x="1325880" y="1463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Human-labeled evaluation subset</a:t>
            </a:r>
            <a:endParaRPr lang="en-US" sz="1600" dirty="0"/>
          </a:p>
        </p:txBody>
      </p:sp>
      <p:sp>
        <p:nvSpPr>
          <p:cNvPr id="7" name="md0"/>
          <p:cNvSpPr txBox="1"/>
          <p:nvPr/>
        </p:nvSpPr>
        <p:spPr>
          <a:xfrm>
            <a:off x="1325880" y="19385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drawn from the frozen blind gold set, NYC Jobs + Arbeitnow</a:t>
            </a:r>
            <a:endParaRPr lang="en-US" sz="1300" dirty="0"/>
          </a:p>
        </p:txBody>
      </p:sp>
      <p:sp>
        <p:nvSpPr>
          <p:cNvPr id="8" name="m1"/>
          <p:cNvSpPr/>
          <p:nvPr/>
        </p:nvSpPr>
        <p:spPr>
          <a:xfrm>
            <a:off x="4663440" y="128016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mc1_c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mc1_n"/>
          <p:cNvSpPr txBox="1"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mh1"/>
          <p:cNvSpPr txBox="1"/>
          <p:nvPr/>
        </p:nvSpPr>
        <p:spPr>
          <a:xfrm>
            <a:off x="5532120" y="1463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labeling</a:t>
            </a:r>
            <a:endParaRPr lang="en-US" sz="1600" dirty="0"/>
          </a:p>
        </p:txBody>
      </p:sp>
      <p:sp>
        <p:nvSpPr>
          <p:cNvPr id="12" name="md1"/>
          <p:cNvSpPr txBox="1"/>
          <p:nvPr/>
        </p:nvSpPr>
        <p:spPr>
          <a:xfrm>
            <a:off x="5532120" y="19385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Annotators saw posting text only: no model output, no O*NET</a:t>
            </a:r>
            <a:endParaRPr lang="en-US" sz="1300" dirty="0"/>
          </a:p>
        </p:txBody>
      </p:sp>
      <p:sp>
        <p:nvSpPr>
          <p:cNvPr id="13" name="m2"/>
          <p:cNvSpPr/>
          <p:nvPr/>
        </p:nvSpPr>
        <p:spPr>
          <a:xfrm>
            <a:off x="457200" y="27889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4" name="mc2_c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mc2_n"/>
          <p:cNvSpPr txBox="1"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mh2"/>
          <p:cNvSpPr txBox="1"/>
          <p:nvPr/>
        </p:nvSpPr>
        <p:spPr>
          <a:xfrm>
            <a:off x="132588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evidence spans</a:t>
            </a:r>
            <a:endParaRPr lang="en-US" sz="1600" dirty="0"/>
          </a:p>
        </p:txBody>
      </p:sp>
      <p:sp>
        <p:nvSpPr>
          <p:cNvPr id="17" name="md2"/>
          <p:cNvSpPr txBox="1"/>
          <p:nvPr/>
        </p:nvSpPr>
        <p:spPr>
          <a:xfrm>
            <a:off x="1325880" y="3447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human task cites text from the posting; checked against source</a:t>
            </a:r>
            <a:endParaRPr lang="en-US" sz="1300" dirty="0"/>
          </a:p>
        </p:txBody>
      </p:sp>
      <p:sp>
        <p:nvSpPr>
          <p:cNvPr id="18" name="m3"/>
          <p:cNvSpPr/>
          <p:nvPr/>
        </p:nvSpPr>
        <p:spPr>
          <a:xfrm>
            <a:off x="4663440" y="27889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9" name="mc3_c"/>
          <p:cNvSpPr/>
          <p:nvPr/>
        </p:nvSpPr>
        <p:spPr>
          <a:xfrm>
            <a:off x="489204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mc3_n"/>
          <p:cNvSpPr txBox="1"/>
          <p:nvPr/>
        </p:nvSpPr>
        <p:spPr>
          <a:xfrm>
            <a:off x="48920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mh3"/>
          <p:cNvSpPr txBox="1"/>
          <p:nvPr/>
        </p:nvSpPr>
        <p:spPr>
          <a:xfrm>
            <a:off x="553212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tasks vs model tasks</a:t>
            </a:r>
            <a:endParaRPr lang="en-US" sz="1600" dirty="0"/>
          </a:p>
        </p:txBody>
      </p:sp>
      <p:sp>
        <p:nvSpPr>
          <p:cNvPr id="22" name="md3"/>
          <p:cNvSpPr txBox="1"/>
          <p:nvPr/>
        </p:nvSpPr>
        <p:spPr>
          <a:xfrm>
            <a:off x="5532120" y="3447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matching per posting: exact → semantic</a:t>
            </a:r>
            <a:endParaRPr lang="en-US" sz="1300" dirty="0"/>
          </a:p>
        </p:txBody>
      </p:sp>
      <p:sp>
        <p:nvSpPr>
          <p:cNvPr id="23" name="foot4"/>
          <p:cNvSpPr txBox="1"/>
          <p:nvPr/>
        </p:nvSpPr>
        <p:spPr>
          <a:xfrm>
            <a:off x="457200" y="4389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judge: matching is deterministic, using a local embedding model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/ Recall / F1 Results</a:t>
            </a:r>
            <a:endParaRPr lang="en-US" sz="3000" dirty="0"/>
          </a:p>
        </p:txBody>
      </p:sp>
      <p:graphicFrame>
        <p:nvGraphicFramePr>
          <p:cNvPr id="3" name="prf_chart"/>
          <p:cNvGraphicFramePr/>
          <p:nvPr/>
        </p:nvGraphicFramePr>
        <p:xfrm>
          <a:off x="365760" y="1051560"/>
          <a:ext cx="457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prf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097280"/>
          <a:ext cx="3474720" cy="204825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allout5"/>
          <p:cNvSpPr/>
          <p:nvPr/>
        </p:nvSpPr>
        <p:spPr>
          <a:xfrm>
            <a:off x="5212080" y="33375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4" name="callout5t"/>
          <p:cNvSpPr txBox="1"/>
          <p:nvPr/>
        </p:nvSpPr>
        <p:spPr>
          <a:xfrm>
            <a:off x="5349240" y="33832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up to 72% 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near-miss paraphrases. Gold lists 3 key tasks per posting, so precision is a lower bound.</a:t>
            </a:r>
            <a:endParaRPr lang="en-US" sz="1200" dirty="0"/>
          </a:p>
        </p:txBody>
      </p:sp>
      <p:sp>
        <p:nvSpPr>
          <p:cNvPr id="7" name="foot5"/>
          <p:cNvSpPr txBox="1"/>
          <p:nvPr/>
        </p:nvSpPr>
        <p:spPr>
          <a:xfrm>
            <a:off x="45720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Micro-averaged, strict one-to-one matching · Gemini+Groq consensus: P 14.2% · R 29.5% · F1 19.2%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</a:t>
            </a:r>
            <a:endParaRPr lang="en-US" sz="3000" dirty="0"/>
          </a:p>
        </p:txBody>
      </p:sp>
      <p:sp>
        <p:nvSpPr>
          <p:cNvPr id="3" name="e0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" name="eh0"/>
          <p:cNvSpPr txBox="1"/>
          <p:nvPr/>
        </p:nvSpPr>
        <p:spPr>
          <a:xfrm>
            <a:off x="640080" y="1252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tasks</a:t>
            </a:r>
            <a:endParaRPr lang="en-US" sz="1600" dirty="0"/>
          </a:p>
        </p:txBody>
      </p:sp>
      <p:sp>
        <p:nvSpPr>
          <p:cNvPr id="5" name="en0"/>
          <p:cNvSpPr txBox="1"/>
          <p:nvPr/>
        </p:nvSpPr>
        <p:spPr>
          <a:xfrm>
            <a:off x="2560320" y="12527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 / 352</a:t>
            </a:r>
            <a:endParaRPr lang="en-US" sz="1300" dirty="0"/>
          </a:p>
        </p:txBody>
      </p:sp>
      <p:sp>
        <p:nvSpPr>
          <p:cNvPr id="6" name="ed0"/>
          <p:cNvSpPr txBox="1"/>
          <p:nvPr/>
        </p:nvSpPr>
        <p:spPr>
          <a:xfrm>
            <a:off x="64008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tasks outside the 3 the human listed</a:t>
            </a:r>
            <a:endParaRPr lang="en-US" sz="1300" dirty="0"/>
          </a:p>
        </p:txBody>
      </p:sp>
      <p:sp>
        <p:nvSpPr>
          <p:cNvPr id="7" name="ex0"/>
          <p:cNvSpPr txBox="1"/>
          <p:nvPr/>
        </p:nvSpPr>
        <p:spPr>
          <a:xfrm>
            <a:off x="640080" y="21214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“Deploy application updates”</a:t>
            </a:r>
            <a:endParaRPr lang="en-US" sz="1200" dirty="0"/>
          </a:p>
        </p:txBody>
      </p:sp>
      <p:sp>
        <p:nvSpPr>
          <p:cNvPr id="8" name="e1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eh1"/>
          <p:cNvSpPr txBox="1"/>
          <p:nvPr/>
        </p:nvSpPr>
        <p:spPr>
          <a:xfrm>
            <a:off x="4846320" y="1252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tasks</a:t>
            </a:r>
            <a:endParaRPr lang="en-US" sz="1600" dirty="0"/>
          </a:p>
        </p:txBody>
      </p:sp>
      <p:sp>
        <p:nvSpPr>
          <p:cNvPr id="10" name="en1"/>
          <p:cNvSpPr txBox="1"/>
          <p:nvPr/>
        </p:nvSpPr>
        <p:spPr>
          <a:xfrm>
            <a:off x="6766560" y="12527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39</a:t>
            </a:r>
            <a:endParaRPr lang="en-US" sz="1300" dirty="0"/>
          </a:p>
        </p:txBody>
      </p:sp>
      <p:sp>
        <p:nvSpPr>
          <p:cNvPr id="11" name="ed1"/>
          <p:cNvSpPr txBox="1"/>
          <p:nvPr/>
        </p:nvSpPr>
        <p:spPr>
          <a:xfrm>
            <a:off x="484632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from narrative paragraphs, not bullet lists</a:t>
            </a:r>
            <a:endParaRPr lang="en-US" sz="1300" dirty="0"/>
          </a:p>
        </p:txBody>
      </p:sp>
      <p:sp>
        <p:nvSpPr>
          <p:cNvPr id="12" name="ex1"/>
          <p:cNvSpPr txBox="1"/>
          <p:nvPr/>
        </p:nvSpPr>
        <p:spPr>
          <a:xfrm>
            <a:off x="4846320" y="21214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“Oversee design reviews”</a:t>
            </a:r>
            <a:endParaRPr lang="en-US" sz="1200" dirty="0"/>
          </a:p>
        </p:txBody>
      </p:sp>
      <p:sp>
        <p:nvSpPr>
          <p:cNvPr id="13" name="e2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4" name="eh2"/>
          <p:cNvSpPr txBox="1"/>
          <p:nvPr/>
        </p:nvSpPr>
        <p:spPr>
          <a:xfrm>
            <a:off x="640080" y="2944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splitting</a:t>
            </a:r>
            <a:endParaRPr lang="en-US" sz="1600" dirty="0"/>
          </a:p>
        </p:txBody>
      </p:sp>
      <p:sp>
        <p:nvSpPr>
          <p:cNvPr id="15" name="en2"/>
          <p:cNvSpPr txBox="1"/>
          <p:nvPr/>
        </p:nvSpPr>
        <p:spPr>
          <a:xfrm>
            <a:off x="256032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42</a:t>
            </a:r>
            <a:endParaRPr lang="en-US" sz="1300" dirty="0"/>
          </a:p>
        </p:txBody>
      </p:sp>
      <p:sp>
        <p:nvSpPr>
          <p:cNvPr id="16" name="ed2"/>
          <p:cNvSpPr txBox="1"/>
          <p:nvPr/>
        </p:nvSpPr>
        <p:spPr>
          <a:xfrm>
            <a:off x="64008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or merged differently; paraphrase near-misses</a:t>
            </a:r>
            <a:endParaRPr lang="en-US" sz="1300" dirty="0"/>
          </a:p>
        </p:txBody>
      </p:sp>
      <p:sp>
        <p:nvSpPr>
          <p:cNvPr id="17" name="ex2"/>
          <p:cNvSpPr txBox="1"/>
          <p:nvPr/>
        </p:nvSpPr>
        <p:spPr>
          <a:xfrm>
            <a:off x="640080" y="38130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“Lead high cost deals” ↔ “Close complex, high-value deals”</a:t>
            </a:r>
            <a:endParaRPr lang="en-US" sz="1200" dirty="0"/>
          </a:p>
        </p:txBody>
      </p:sp>
      <p:sp>
        <p:nvSpPr>
          <p:cNvPr id="18" name="e3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9" name="eh3"/>
          <p:cNvSpPr txBox="1"/>
          <p:nvPr/>
        </p:nvSpPr>
        <p:spPr>
          <a:xfrm>
            <a:off x="4846320" y="2944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vs skill</a:t>
            </a:r>
            <a:endParaRPr lang="en-US" sz="1600" dirty="0"/>
          </a:p>
        </p:txBody>
      </p:sp>
      <p:sp>
        <p:nvSpPr>
          <p:cNvPr id="20" name="en3"/>
          <p:cNvSpPr txBox="1"/>
          <p:nvPr/>
        </p:nvSpPr>
        <p:spPr>
          <a:xfrm>
            <a:off x="676656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7</a:t>
            </a:r>
            <a:endParaRPr lang="en-US" sz="1300" dirty="0"/>
          </a:p>
        </p:txBody>
      </p:sp>
      <p:sp>
        <p:nvSpPr>
          <p:cNvPr id="21" name="ed3"/>
          <p:cNvSpPr txBox="1"/>
          <p:nvPr/>
        </p:nvSpPr>
        <p:spPr>
          <a:xfrm>
            <a:off x="484632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lines phrased as tasks, and vice versa in gold</a:t>
            </a:r>
            <a:endParaRPr lang="en-US" sz="1300" dirty="0"/>
          </a:p>
        </p:txBody>
      </p:sp>
      <p:sp>
        <p:nvSpPr>
          <p:cNvPr id="22" name="ex3"/>
          <p:cNvSpPr txBox="1"/>
          <p:nvPr/>
        </p:nvSpPr>
        <p:spPr>
          <a:xfrm>
            <a:off x="4846320" y="38130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“Configure Microsoft Purview”</a:t>
            </a:r>
            <a:endParaRPr lang="en-US" sz="1200" dirty="0"/>
          </a:p>
        </p:txBody>
      </p:sp>
      <p:sp>
        <p:nvSpPr>
          <p:cNvPr id="23" name="foot6"/>
          <p:cNvSpPr txBox="1"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shown as Gemini / Groq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O*NET Reference Alignment</a:t>
            </a:r>
            <a:endParaRPr lang="en-US" sz="3000" dirty="0"/>
          </a:p>
        </p:txBody>
      </p:sp>
      <p:sp>
        <p:nvSpPr>
          <p:cNvPr id="3" name="on_a"/>
          <p:cNvSpPr/>
          <p:nvPr/>
        </p:nvSpPr>
        <p:spPr>
          <a:xfrm>
            <a:off x="457200" y="12344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3E7C8C"/>
          </a:solidFill>
          <a:ln w="12700">
            <a:solidFill>
              <a:srgbClr val="3E7C8C"/>
            </a:solidFill>
            <a:prstDash val="solid"/>
          </a:ln>
        </p:spPr>
      </p:sp>
      <p:sp>
        <p:nvSpPr>
          <p:cNvPr id="4" name="on_at"/>
          <p:cNvSpPr txBox="1"/>
          <p:nvPr/>
        </p:nvSpPr>
        <p:spPr>
          <a:xfrm>
            <a:off x="457200" y="1234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task</a:t>
            </a:r>
            <a:endParaRPr lang="en-US" sz="1600" dirty="0"/>
          </a:p>
        </p:txBody>
      </p:sp>
      <p:sp>
        <p:nvSpPr>
          <p:cNvPr id="5" name="on_arr"/>
          <p:cNvSpPr txBox="1"/>
          <p:nvPr/>
        </p:nvSpPr>
        <p:spPr>
          <a:xfrm>
            <a:off x="2651760" y="1234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on_b"/>
          <p:cNvSpPr/>
          <p:nvPr/>
        </p:nvSpPr>
        <p:spPr>
          <a:xfrm>
            <a:off x="3200400" y="12344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7" name="on_bt"/>
          <p:cNvSpPr txBox="1"/>
          <p:nvPr/>
        </p:nvSpPr>
        <p:spPr>
          <a:xfrm>
            <a:off x="3200400" y="1234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O*NET candidate</a:t>
            </a:r>
            <a:endParaRPr lang="en-US" sz="1600" dirty="0"/>
          </a:p>
        </p:txBody>
      </p:sp>
      <p:sp>
        <p:nvSpPr>
          <p:cNvPr id="8" name="on_c"/>
          <p:cNvSpPr txBox="1"/>
          <p:nvPr/>
        </p:nvSpPr>
        <p:spPr>
          <a:xfrm>
            <a:off x="45720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3,479 evidence-valid tasks, embedding similarity, top-1 candidate</a:t>
            </a:r>
            <a:endParaRPr lang="en-US" sz="1300" dirty="0"/>
          </a:p>
        </p:txBody>
      </p:sp>
      <p:graphicFrame>
        <p:nvGraphicFramePr>
          <p:cNvPr id="9" name="onet_chart"/>
          <p:cNvGraphicFramePr/>
          <p:nvPr/>
        </p:nvGraphicFramePr>
        <p:xfrm>
          <a:off x="365760" y="2514600"/>
          <a:ext cx="51206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on_note"/>
          <p:cNvSpPr/>
          <p:nvPr/>
        </p:nvSpPr>
        <p:spPr>
          <a:xfrm>
            <a:off x="5852160" y="123444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on_note_t"/>
          <p:cNvSpPr txBox="1"/>
          <p:nvPr/>
        </p:nvSpPr>
        <p:spPr>
          <a:xfrm>
            <a:off x="6035040" y="1371600"/>
            <a:ext cx="2514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mappings, not ground truth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O*NET is used after extraction, as a reference vocabulary.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generates or filters the extracted tasks.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Thresholds: accept ≥ 0.86, review ≥ 0.75 (provisional)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Evidence-Backed Task Extraction Works and Is Measurable</a:t>
            </a:r>
            <a:endParaRPr lang="en-US" sz="4000" dirty="0"/>
          </a:p>
        </p:txBody>
      </p:sp>
      <p:sp>
        <p:nvSpPr>
          <p:cNvPr id="3" name="kicker8"/>
          <p:cNvSpPr txBox="1"/>
          <p:nvPr/>
        </p:nvSpPr>
        <p:spPr>
          <a:xfrm>
            <a:off x="54864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1200" dirty="0"/>
          </a:p>
        </p:txBody>
      </p:sp>
      <p:sp>
        <p:nvSpPr>
          <p:cNvPr id="4" name="ch0"/>
          <p:cNvSpPr/>
          <p:nvPr/>
        </p:nvSpPr>
        <p:spPr>
          <a:xfrm>
            <a:off x="548640" y="29260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3E7C8C"/>
          </a:solidFill>
          <a:ln w="12700">
            <a:solidFill>
              <a:srgbClr val="3E7C8C"/>
            </a:solidFill>
            <a:prstDash val="solid"/>
          </a:ln>
        </p:spPr>
      </p:sp>
      <p:sp>
        <p:nvSpPr>
          <p:cNvPr id="5" name="cht0"/>
          <p:cNvSpPr txBox="1"/>
          <p:nvPr/>
        </p:nvSpPr>
        <p:spPr>
          <a:xfrm>
            <a:off x="640080" y="29260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postings</a:t>
            </a:r>
            <a:endParaRPr lang="en-US" sz="1500" dirty="0"/>
          </a:p>
        </p:txBody>
      </p:sp>
      <p:sp>
        <p:nvSpPr>
          <p:cNvPr id="6" name="charr0"/>
          <p:cNvSpPr txBox="1"/>
          <p:nvPr/>
        </p:nvSpPr>
        <p:spPr>
          <a:xfrm>
            <a:off x="2331720" y="292608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ch1"/>
          <p:cNvSpPr/>
          <p:nvPr/>
        </p:nvSpPr>
        <p:spPr>
          <a:xfrm>
            <a:off x="2651760" y="29260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3E7C8C"/>
          </a:solidFill>
          <a:ln w="12700">
            <a:solidFill>
              <a:srgbClr val="3E7C8C"/>
            </a:solidFill>
            <a:prstDash val="solid"/>
          </a:ln>
        </p:spPr>
      </p:sp>
      <p:sp>
        <p:nvSpPr>
          <p:cNvPr id="8" name="cht1"/>
          <p:cNvSpPr txBox="1"/>
          <p:nvPr/>
        </p:nvSpPr>
        <p:spPr>
          <a:xfrm>
            <a:off x="2743200" y="29260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500" dirty="0"/>
          </a:p>
        </p:txBody>
      </p:sp>
      <p:sp>
        <p:nvSpPr>
          <p:cNvPr id="9" name="charr1"/>
          <p:cNvSpPr txBox="1"/>
          <p:nvPr/>
        </p:nvSpPr>
        <p:spPr>
          <a:xfrm>
            <a:off x="4434840" y="292608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ch2"/>
          <p:cNvSpPr/>
          <p:nvPr/>
        </p:nvSpPr>
        <p:spPr>
          <a:xfrm>
            <a:off x="4754880" y="29260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cht2"/>
          <p:cNvSpPr txBox="1"/>
          <p:nvPr/>
        </p:nvSpPr>
        <p:spPr>
          <a:xfrm>
            <a:off x="4846320" y="29260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</a:t>
            </a:r>
            <a:endParaRPr lang="en-US" sz="1500" dirty="0"/>
          </a:p>
        </p:txBody>
      </p:sp>
      <p:sp>
        <p:nvSpPr>
          <p:cNvPr id="12" name="charr2"/>
          <p:cNvSpPr txBox="1"/>
          <p:nvPr/>
        </p:nvSpPr>
        <p:spPr>
          <a:xfrm>
            <a:off x="6537960" y="292608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ch3"/>
          <p:cNvSpPr/>
          <p:nvPr/>
        </p:nvSpPr>
        <p:spPr>
          <a:xfrm>
            <a:off x="6858000" y="29260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3E7C8C"/>
          </a:solidFill>
          <a:ln w="12700">
            <a:solidFill>
              <a:srgbClr val="3E7C8C"/>
            </a:solidFill>
            <a:prstDash val="solid"/>
          </a:ln>
        </p:spPr>
      </p:sp>
      <p:sp>
        <p:nvSpPr>
          <p:cNvPr id="14" name="cht3"/>
          <p:cNvSpPr txBox="1"/>
          <p:nvPr/>
        </p:nvSpPr>
        <p:spPr>
          <a:xfrm>
            <a:off x="6949440" y="29260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O*NET reference alignment</a:t>
            </a:r>
            <a:endParaRPr lang="en-US" sz="1500" dirty="0"/>
          </a:p>
        </p:txBody>
      </p:sp>
      <p:sp>
        <p:nvSpPr>
          <p:cNvPr id="15" name="sub8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3,479 evidence-valid tasks · recall up to 72% of human key tasks · every number reproducible from cache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rint2 Ink Amber">
  <a:themeElements>
    <a:clrScheme name="Sprint2 Ink Amber">
      <a:dk1>
        <a:srgbClr val="1B2A41"/>
      </a:dk1>
      <a:lt1>
        <a:srgbClr val="FFFFFF"/>
      </a:lt1>
      <a:dk2>
        <a:srgbClr val="3E7C8C"/>
      </a:dk2>
      <a:lt2>
        <a:srgbClr val="EEF3F5"/>
      </a:lt2>
      <a:accent1>
        <a:srgbClr val="F2A541"/>
      </a:accent1>
      <a:accent2>
        <a:srgbClr val="3E7C8C"/>
      </a:accent2>
      <a:accent3>
        <a:srgbClr val="1B2A41"/>
      </a:accent3>
      <a:accent4>
        <a:srgbClr val="C8553D"/>
      </a:accent4>
      <a:accent5>
        <a:srgbClr val="8FB8C4"/>
      </a:accent5>
      <a:accent6>
        <a:srgbClr val="6B7A8F"/>
      </a:accent6>
      <a:hlink>
        <a:srgbClr val="3E7C8C"/>
      </a:hlink>
      <a:folHlink>
        <a:srgbClr val="6B7A8F"/>
      </a:folHlink>
    </a:clrScheme>
    <a:fontScheme name="Sprint2 Ink Amb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1002</Words>
  <Application>Microsoft Office PowerPoint</Application>
  <PresentationFormat>On-screen Show (16:9)</PresentationFormat>
  <Paragraphs>135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Sprint2 Ink Amber</vt:lpstr>
      <vt:lpstr>Sprint 2: From Job Postings to Measured Task Extraction</vt:lpstr>
      <vt:lpstr>Extraction Architecture</vt:lpstr>
      <vt:lpstr>What We Built</vt:lpstr>
      <vt:lpstr>Human Evaluation Method</vt:lpstr>
      <vt:lpstr>Precision / Recall / F1 Results</vt:lpstr>
      <vt:lpstr>Error Analysis</vt:lpstr>
      <vt:lpstr>O*NET Reference Alignment</vt:lpstr>
      <vt:lpstr>Evidence-Backed Task Extraction Works and Is Measurable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2 Task Extraction Results</dc:title>
  <dc:subject>PptxGenJS Presentation</dc:subject>
  <dc:creator>PptxGenJS</dc:creator>
  <cp:lastModifiedBy>DHRUV PATEL</cp:lastModifiedBy>
  <cp:revision>3</cp:revision>
  <dcterms:created xsi:type="dcterms:W3CDTF">2026-10-09T18:11:28Z</dcterms:created>
  <dcterms:modified xsi:type="dcterms:W3CDTF">2026-10-09T18:59:23Z</dcterms:modified>
</cp:coreProperties>
</file>