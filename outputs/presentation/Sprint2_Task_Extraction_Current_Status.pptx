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2 turns noisy job-posting text into atomic task statements that are backed by evidence from the posting. Success is measured against human gold labels with precision, recall and F1. It builds on the Sprint 1 corpus: 4,029 unique postings with O*NET and ESCO loaded, 21 of 21 checks 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froze 200 English postings, 100 per source, and ran Gemini on all of them and Groq on the 100 dual-model postings. Every task must point to an exact span in the posting; 132 that could not be traced were rejected, leaving 3,479 valid task statements. All 32 tests pass and the blind annotation files are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what Sprint 2 asks for. On the right is what we added so the results can be trusted and reproduced: two independent models, verbatim evidence checks, a frozen sample with hashes, and a blind audit for annotator agreement. O*NET alignment, local embeddings and the Claude provider are early groundwork for later sprints.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 come from the job postings first; O*NET is only used afterwards, to find the closest existing O*NET task statements. Unmatched is a valid answer and suggests work O*NET may not describe well. The 286 accepted matches are candidates: the similarity thresholds are provisional and not yet calibrated against human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teams start from the same canonical postings and the same posting_id. Tasks align to O*NET and skills align to ESCO, each with its own native identifiers; we never invent a common ID. In Sprint 5, tasks and skills are linked because they come from the same posting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step is human labelling: all 100 postings, plus the 20-posting audit by a second annotator. Then three commands produce real precision, recall and F1, which replace the placeholders here. After the error analysis, Sprint 3 moves to embeddings and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rgbClr val="1F2A44"/>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577"/>
                </a:solidFill>
                <a:latin typeface="Calibri" pitchFamily="34" charset="0"/>
                <a:ea typeface="Calibri" pitchFamily="34" charset="-122"/>
                <a:cs typeface="Calibri" pitchFamily="34" charset="-120"/>
              </a:rPr>
              <a:t>IE7945 Taxonomy of Work  |  Sprint 2 status</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2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914400"/>
          </a:xfrm>
          <a:prstGeom prst="rect">
            <a:avLst/>
          </a:prstGeom>
          <a:noFill/>
          <a:ln/>
        </p:spPr>
        <p:txBody>
          <a:bodyPr wrap="square" rtlCol="0"/>
          <a:lstStyle>
            <a:lvl1pPr indent="0" marL="0">
              <a:buNone/>
              <a:defRPr lang="en-US" sz="3800" b="1" dirty="0">
                <a:solidFill>
                  <a:srgbClr val="FFFFFF"/>
                </a:solidFill>
                <a:latin typeface="Cambria" pitchFamily="34" charset="0"/>
                <a:ea typeface="Cambria" pitchFamily="34" charset="-122"/>
                <a:cs typeface="Cambria" pitchFamily="34" charset="-120"/>
              </a:defRPr>
            </a:lvl1pPr>
          </a:lstStyle>
          <a:p>
            <a:pPr indent="0" marL="0">
              <a:buNone/>
            </a:pPr>
            <a:endParaRPr lang="en-US" sz="3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C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Sprint 2: What problem are we solving?</a:t>
            </a:r>
            <a:endParaRPr lang="en-US" sz="3800" dirty="0"/>
          </a:p>
        </p:txBody>
      </p:sp>
      <p:sp>
        <p:nvSpPr>
          <p:cNvPr id="3" name="Text 1"/>
          <p:cNvSpPr txBox="1"/>
          <p:nvPr/>
        </p:nvSpPr>
        <p:spPr>
          <a:xfrm>
            <a:off x="548640" y="2057400"/>
            <a:ext cx="3108960" cy="1234440"/>
          </a:xfrm>
          <a:prstGeom prst="roundRect">
            <a:avLst>
              <a:gd name="adj" fmla="val 8889"/>
            </a:avLst>
          </a:prstGeom>
          <a:solidFill>
            <a:srgbClr val="2E3B5C"/>
          </a:solidFill>
          <a:ln w="12700">
            <a:solidFill>
              <a:srgbClr val="2E3B5C"/>
            </a:solidFill>
            <a:prstDash val="solid"/>
          </a:ln>
        </p:spPr>
        <p:txBody>
          <a:bodyPr wrap="square" lIns="76200" tIns="76200" rIns="76200" bIns="7620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Job postings</a:t>
            </a:r>
            <a:endParaRPr lang="en-US" sz="2200" dirty="0"/>
          </a:p>
          <a:p>
            <a:pPr algn="ctr" indent="0" marL="0">
              <a:buNone/>
            </a:pPr>
            <a:r>
              <a:rPr lang="en-US" sz="2200" b="1" dirty="0">
                <a:solidFill>
                  <a:srgbClr val="FFFFFF"/>
                </a:solidFill>
                <a:latin typeface="Calibri" pitchFamily="34" charset="0"/>
                <a:ea typeface="Calibri" pitchFamily="34" charset="-122"/>
                <a:cs typeface="Calibri" pitchFamily="34" charset="-120"/>
              </a:rPr>
              <a:t>(noisy text)</a:t>
            </a:r>
            <a:endParaRPr lang="en-US" sz="2200" dirty="0"/>
          </a:p>
        </p:txBody>
      </p:sp>
      <p:sp>
        <p:nvSpPr>
          <p:cNvPr id="4" name="Text 2"/>
          <p:cNvSpPr txBox="1"/>
          <p:nvPr/>
        </p:nvSpPr>
        <p:spPr>
          <a:xfrm>
            <a:off x="4526280" y="2057400"/>
            <a:ext cx="3108960" cy="1234440"/>
          </a:xfrm>
          <a:prstGeom prst="roundRect">
            <a:avLst>
              <a:gd name="adj" fmla="val 8889"/>
            </a:avLst>
          </a:prstGeom>
          <a:solidFill>
            <a:srgbClr val="0F7C7A"/>
          </a:solidFill>
          <a:ln w="12700">
            <a:solidFill>
              <a:srgbClr val="0F7C7A"/>
            </a:solidFill>
            <a:prstDash val="solid"/>
          </a:ln>
        </p:spPr>
        <p:txBody>
          <a:bodyPr wrap="square" lIns="76200" tIns="76200" rIns="76200" bIns="7620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Atomic task</a:t>
            </a:r>
            <a:endParaRPr lang="en-US" sz="2200" dirty="0"/>
          </a:p>
          <a:p>
            <a:pPr algn="ctr" indent="0" marL="0">
              <a:buNone/>
            </a:pPr>
            <a:r>
              <a:rPr lang="en-US" sz="2200" b="1" dirty="0">
                <a:solidFill>
                  <a:srgbClr val="FFFFFF"/>
                </a:solidFill>
                <a:latin typeface="Calibri" pitchFamily="34" charset="0"/>
                <a:ea typeface="Calibri" pitchFamily="34" charset="-122"/>
                <a:cs typeface="Calibri" pitchFamily="34" charset="-120"/>
              </a:rPr>
              <a:t>statements</a:t>
            </a:r>
            <a:endParaRPr lang="en-US" sz="2200" dirty="0"/>
          </a:p>
        </p:txBody>
      </p:sp>
      <p:sp>
        <p:nvSpPr>
          <p:cNvPr id="5" name="Text 3"/>
          <p:cNvSpPr txBox="1"/>
          <p:nvPr/>
        </p:nvSpPr>
        <p:spPr>
          <a:xfrm>
            <a:off x="8503920" y="2057400"/>
            <a:ext cx="3108960" cy="1234440"/>
          </a:xfrm>
          <a:prstGeom prst="roundRect">
            <a:avLst>
              <a:gd name="adj" fmla="val 8889"/>
            </a:avLst>
          </a:prstGeom>
          <a:solidFill>
            <a:srgbClr val="E39B2D"/>
          </a:solidFill>
          <a:ln w="12700">
            <a:solidFill>
              <a:srgbClr val="E39B2D"/>
            </a:solidFill>
            <a:prstDash val="solid"/>
          </a:ln>
        </p:spPr>
        <p:txBody>
          <a:bodyPr wrap="square" lIns="76200" tIns="76200" rIns="76200" bIns="76200" rtlCol="0" anchor="ctr"/>
          <a:lstStyle/>
          <a:p>
            <a:pPr algn="ctr" indent="0" marL="0">
              <a:buNone/>
            </a:pPr>
            <a:r>
              <a:rPr lang="en-US" sz="2200" b="1" dirty="0">
                <a:solidFill>
                  <a:srgbClr val="1F2A44"/>
                </a:solidFill>
                <a:latin typeface="Calibri" pitchFamily="34" charset="0"/>
                <a:ea typeface="Calibri" pitchFamily="34" charset="-122"/>
                <a:cs typeface="Calibri" pitchFamily="34" charset="-120"/>
              </a:rPr>
              <a:t>Measurable</a:t>
            </a:r>
            <a:endParaRPr lang="en-US" sz="2200" dirty="0"/>
          </a:p>
          <a:p>
            <a:pPr algn="ctr" indent="0" marL="0">
              <a:buNone/>
            </a:pPr>
            <a:r>
              <a:rPr lang="en-US" sz="2200" b="1" dirty="0">
                <a:solidFill>
                  <a:srgbClr val="1F2A44"/>
                </a:solidFill>
                <a:latin typeface="Calibri" pitchFamily="34" charset="0"/>
                <a:ea typeface="Calibri" pitchFamily="34" charset="-122"/>
                <a:cs typeface="Calibri" pitchFamily="34" charset="-120"/>
              </a:rPr>
              <a:t>extraction quality</a:t>
            </a:r>
            <a:endParaRPr lang="en-US" sz="2200" dirty="0"/>
          </a:p>
        </p:txBody>
      </p:sp>
      <p:sp>
        <p:nvSpPr>
          <p:cNvPr id="6" name="Shape 4"/>
          <p:cNvSpPr/>
          <p:nvPr/>
        </p:nvSpPr>
        <p:spPr>
          <a:xfrm>
            <a:off x="3703320" y="2674620"/>
            <a:ext cx="777240" cy="0"/>
          </a:xfrm>
          <a:prstGeom prst="line">
            <a:avLst/>
          </a:prstGeom>
          <a:noFill/>
          <a:ln w="28575">
            <a:solidFill>
              <a:srgbClr val="AEB6C6"/>
            </a:solidFill>
            <a:prstDash val="solid"/>
            <a:tailEnd type="triangle"/>
          </a:ln>
        </p:spPr>
      </p:sp>
      <p:sp>
        <p:nvSpPr>
          <p:cNvPr id="7" name="Shape 5"/>
          <p:cNvSpPr/>
          <p:nvPr/>
        </p:nvSpPr>
        <p:spPr>
          <a:xfrm>
            <a:off x="7680960" y="2674620"/>
            <a:ext cx="777240" cy="0"/>
          </a:xfrm>
          <a:prstGeom prst="line">
            <a:avLst/>
          </a:prstGeom>
          <a:noFill/>
          <a:ln w="28575">
            <a:solidFill>
              <a:srgbClr val="AEB6C6"/>
            </a:solidFill>
            <a:prstDash val="solid"/>
            <a:tailEnd type="triangle"/>
          </a:ln>
        </p:spPr>
      </p:sp>
      <p:sp>
        <p:nvSpPr>
          <p:cNvPr id="8" name="Text 6"/>
          <p:cNvSpPr txBox="1"/>
          <p:nvPr/>
        </p:nvSpPr>
        <p:spPr>
          <a:xfrm>
            <a:off x="548640" y="3657600"/>
            <a:ext cx="11064240" cy="548640"/>
          </a:xfrm>
          <a:prstGeom prst="rect">
            <a:avLst/>
          </a:prstGeom>
          <a:noFill/>
          <a:ln/>
        </p:spPr>
        <p:txBody>
          <a:bodyPr wrap="square" lIns="0" tIns="0" rIns="0" bIns="0" rtlCol="0" anchor="t"/>
          <a:lstStyle/>
          <a:p>
            <a:pPr algn="ctr" indent="0" marL="0">
              <a:buNone/>
            </a:pPr>
            <a:r>
              <a:rPr lang="en-US" sz="2200" i="1" dirty="0">
                <a:solidFill>
                  <a:srgbClr val="FFFFFF"/>
                </a:solidFill>
                <a:latin typeface="Calibri" pitchFamily="34" charset="0"/>
                <a:ea typeface="Calibri" pitchFamily="34" charset="-122"/>
                <a:cs typeface="Calibri" pitchFamily="34" charset="-120"/>
              </a:rPr>
              <a:t>Convert noisy job-posting text into evidence-backed atomic work statements.</a:t>
            </a:r>
            <a:endParaRPr lang="en-US" sz="2200" dirty="0"/>
          </a:p>
        </p:txBody>
      </p:sp>
      <p:sp>
        <p:nvSpPr>
          <p:cNvPr id="9" name="Text 7"/>
          <p:cNvSpPr txBox="1"/>
          <p:nvPr/>
        </p:nvSpPr>
        <p:spPr>
          <a:xfrm>
            <a:off x="548640" y="4343400"/>
            <a:ext cx="11064240" cy="365760"/>
          </a:xfrm>
          <a:prstGeom prst="rect">
            <a:avLst/>
          </a:prstGeom>
          <a:noFill/>
          <a:ln/>
        </p:spPr>
        <p:txBody>
          <a:bodyPr wrap="square" lIns="0" tIns="0" rIns="0" bIns="0" rtlCol="0" anchor="t"/>
          <a:lstStyle/>
          <a:p>
            <a:pPr algn="ctr" indent="0" marL="0">
              <a:buNone/>
            </a:pPr>
            <a:r>
              <a:rPr lang="en-US" sz="1500" dirty="0">
                <a:solidFill>
                  <a:srgbClr val="C9D1DF"/>
                </a:solidFill>
                <a:latin typeface="Calibri" pitchFamily="34" charset="0"/>
                <a:ea typeface="Calibri" pitchFamily="34" charset="-122"/>
                <a:cs typeface="Calibri" pitchFamily="34" charset="-120"/>
              </a:rPr>
              <a:t>Required flow:  posting  →  atomic tasks  →  human gold labels  →  precision / recall / F1  →  quality report</a:t>
            </a:r>
            <a:endParaRPr lang="en-US" sz="1500" dirty="0"/>
          </a:p>
        </p:txBody>
      </p:sp>
      <p:sp>
        <p:nvSpPr>
          <p:cNvPr id="10" name="Text 8"/>
          <p:cNvSpPr txBox="1"/>
          <p:nvPr/>
        </p:nvSpPr>
        <p:spPr>
          <a:xfrm>
            <a:off x="548640" y="5120640"/>
            <a:ext cx="2743200" cy="274320"/>
          </a:xfrm>
          <a:prstGeom prst="rect">
            <a:avLst/>
          </a:prstGeom>
          <a:noFill/>
          <a:ln/>
        </p:spPr>
        <p:txBody>
          <a:bodyPr wrap="square" lIns="0" tIns="0" rIns="0" bIns="0" rtlCol="0" anchor="t"/>
          <a:lstStyle/>
          <a:p>
            <a:pPr algn="l" indent="0" marL="0">
              <a:buNone/>
            </a:pPr>
            <a:r>
              <a:rPr lang="en-US" sz="1100" b="1" dirty="0">
                <a:solidFill>
                  <a:srgbClr val="E39B2D"/>
                </a:solidFill>
                <a:latin typeface="Calibri" pitchFamily="34" charset="0"/>
                <a:ea typeface="Calibri" pitchFamily="34" charset="-122"/>
                <a:cs typeface="Calibri" pitchFamily="34" charset="-120"/>
              </a:rPr>
              <a:t>BUILT ON SPRINT 1</a:t>
            </a:r>
            <a:endParaRPr lang="en-US" sz="1100" dirty="0"/>
          </a:p>
        </p:txBody>
      </p:sp>
      <p:sp>
        <p:nvSpPr>
          <p:cNvPr id="11" name="Text 9"/>
          <p:cNvSpPr txBox="1"/>
          <p:nvPr/>
        </p:nvSpPr>
        <p:spPr>
          <a:xfrm>
            <a:off x="548640" y="5394960"/>
            <a:ext cx="1783080" cy="411480"/>
          </a:xfrm>
          <a:prstGeom prst="rect">
            <a:avLst/>
          </a:prstGeom>
          <a:noFill/>
          <a:ln/>
        </p:spPr>
        <p:txBody>
          <a:bodyPr wrap="square" lIns="0" tIns="0" rIns="0" bIns="0" rtlCol="0" anchor="t"/>
          <a:lstStyle/>
          <a:p>
            <a:pPr algn="l" indent="0" marL="0">
              <a:buNone/>
            </a:pPr>
            <a:r>
              <a:rPr lang="en-US" sz="2000" b="1" dirty="0">
                <a:solidFill>
                  <a:srgbClr val="FFFFFF"/>
                </a:solidFill>
                <a:latin typeface="Cambria" pitchFamily="34" charset="0"/>
                <a:ea typeface="Cambria" pitchFamily="34" charset="-122"/>
                <a:cs typeface="Cambria" pitchFamily="34" charset="-120"/>
              </a:rPr>
              <a:t>5,595</a:t>
            </a:r>
            <a:endParaRPr lang="en-US" sz="2000" dirty="0"/>
          </a:p>
        </p:txBody>
      </p:sp>
      <p:sp>
        <p:nvSpPr>
          <p:cNvPr id="12" name="Text 10"/>
          <p:cNvSpPr txBox="1"/>
          <p:nvPr/>
        </p:nvSpPr>
        <p:spPr>
          <a:xfrm>
            <a:off x="548640" y="5806440"/>
            <a:ext cx="1783080" cy="320040"/>
          </a:xfrm>
          <a:prstGeom prst="rect">
            <a:avLst/>
          </a:prstGeom>
          <a:noFill/>
          <a:ln/>
        </p:spPr>
        <p:txBody>
          <a:bodyPr wrap="square" lIns="0" tIns="0" rIns="0" bIns="0" rtlCol="0" anchor="t"/>
          <a:lstStyle/>
          <a:p>
            <a:pPr algn="l" indent="0" marL="0">
              <a:buNone/>
            </a:pPr>
            <a:r>
              <a:rPr lang="en-US" sz="1200" dirty="0">
                <a:solidFill>
                  <a:srgbClr val="AEB6C6"/>
                </a:solidFill>
                <a:latin typeface="Calibri" pitchFamily="34" charset="0"/>
                <a:ea typeface="Calibri" pitchFamily="34" charset="-122"/>
                <a:cs typeface="Calibri" pitchFamily="34" charset="-120"/>
              </a:rPr>
              <a:t>raw postings</a:t>
            </a:r>
            <a:endParaRPr lang="en-US" sz="1200" dirty="0"/>
          </a:p>
        </p:txBody>
      </p:sp>
      <p:sp>
        <p:nvSpPr>
          <p:cNvPr id="13" name="Text 11"/>
          <p:cNvSpPr txBox="1"/>
          <p:nvPr/>
        </p:nvSpPr>
        <p:spPr>
          <a:xfrm>
            <a:off x="2423160" y="5394960"/>
            <a:ext cx="1783080" cy="411480"/>
          </a:xfrm>
          <a:prstGeom prst="rect">
            <a:avLst/>
          </a:prstGeom>
          <a:noFill/>
          <a:ln/>
        </p:spPr>
        <p:txBody>
          <a:bodyPr wrap="square" lIns="0" tIns="0" rIns="0" bIns="0" rtlCol="0" anchor="t"/>
          <a:lstStyle/>
          <a:p>
            <a:pPr algn="l" indent="0" marL="0">
              <a:buNone/>
            </a:pPr>
            <a:r>
              <a:rPr lang="en-US" sz="2000" b="1" dirty="0">
                <a:solidFill>
                  <a:srgbClr val="FFFFFF"/>
                </a:solidFill>
                <a:latin typeface="Cambria" pitchFamily="34" charset="0"/>
                <a:ea typeface="Cambria" pitchFamily="34" charset="-122"/>
                <a:cs typeface="Cambria" pitchFamily="34" charset="-120"/>
              </a:rPr>
              <a:t>5,497</a:t>
            </a:r>
            <a:endParaRPr lang="en-US" sz="2000" dirty="0"/>
          </a:p>
        </p:txBody>
      </p:sp>
      <p:sp>
        <p:nvSpPr>
          <p:cNvPr id="14" name="Text 12"/>
          <p:cNvSpPr txBox="1"/>
          <p:nvPr/>
        </p:nvSpPr>
        <p:spPr>
          <a:xfrm>
            <a:off x="2423160" y="5806440"/>
            <a:ext cx="1783080" cy="320040"/>
          </a:xfrm>
          <a:prstGeom prst="rect">
            <a:avLst/>
          </a:prstGeom>
          <a:noFill/>
          <a:ln/>
        </p:spPr>
        <p:txBody>
          <a:bodyPr wrap="square" lIns="0" tIns="0" rIns="0" bIns="0" rtlCol="0" anchor="t"/>
          <a:lstStyle/>
          <a:p>
            <a:pPr algn="l" indent="0" marL="0">
              <a:buNone/>
            </a:pPr>
            <a:r>
              <a:rPr lang="en-US" sz="1200" dirty="0">
                <a:solidFill>
                  <a:srgbClr val="AEB6C6"/>
                </a:solidFill>
                <a:latin typeface="Calibri" pitchFamily="34" charset="0"/>
                <a:ea typeface="Calibri" pitchFamily="34" charset="-122"/>
                <a:cs typeface="Calibri" pitchFamily="34" charset="-120"/>
              </a:rPr>
              <a:t>canonical</a:t>
            </a:r>
            <a:endParaRPr lang="en-US" sz="1200" dirty="0"/>
          </a:p>
        </p:txBody>
      </p:sp>
      <p:sp>
        <p:nvSpPr>
          <p:cNvPr id="15" name="Text 13"/>
          <p:cNvSpPr txBox="1"/>
          <p:nvPr/>
        </p:nvSpPr>
        <p:spPr>
          <a:xfrm>
            <a:off x="4297680" y="5394960"/>
            <a:ext cx="1783080" cy="411480"/>
          </a:xfrm>
          <a:prstGeom prst="rect">
            <a:avLst/>
          </a:prstGeom>
          <a:noFill/>
          <a:ln/>
        </p:spPr>
        <p:txBody>
          <a:bodyPr wrap="square" lIns="0" tIns="0" rIns="0" bIns="0" rtlCol="0" anchor="t"/>
          <a:lstStyle/>
          <a:p>
            <a:pPr algn="l" indent="0" marL="0">
              <a:buNone/>
            </a:pPr>
            <a:r>
              <a:rPr lang="en-US" sz="2000" b="1" dirty="0">
                <a:solidFill>
                  <a:srgbClr val="FFFFFF"/>
                </a:solidFill>
                <a:latin typeface="Cambria" pitchFamily="34" charset="0"/>
                <a:ea typeface="Cambria" pitchFamily="34" charset="-122"/>
                <a:cs typeface="Cambria" pitchFamily="34" charset="-120"/>
              </a:rPr>
              <a:t>4,029</a:t>
            </a:r>
            <a:endParaRPr lang="en-US" sz="2000" dirty="0"/>
          </a:p>
        </p:txBody>
      </p:sp>
      <p:sp>
        <p:nvSpPr>
          <p:cNvPr id="16" name="Text 14"/>
          <p:cNvSpPr txBox="1"/>
          <p:nvPr/>
        </p:nvSpPr>
        <p:spPr>
          <a:xfrm>
            <a:off x="4297680" y="5806440"/>
            <a:ext cx="1783080" cy="320040"/>
          </a:xfrm>
          <a:prstGeom prst="rect">
            <a:avLst/>
          </a:prstGeom>
          <a:noFill/>
          <a:ln/>
        </p:spPr>
        <p:txBody>
          <a:bodyPr wrap="square" lIns="0" tIns="0" rIns="0" bIns="0" rtlCol="0" anchor="t"/>
          <a:lstStyle/>
          <a:p>
            <a:pPr algn="l" indent="0" marL="0">
              <a:buNone/>
            </a:pPr>
            <a:r>
              <a:rPr lang="en-US" sz="1200" dirty="0">
                <a:solidFill>
                  <a:srgbClr val="AEB6C6"/>
                </a:solidFill>
                <a:latin typeface="Calibri" pitchFamily="34" charset="0"/>
                <a:ea typeface="Calibri" pitchFamily="34" charset="-122"/>
                <a:cs typeface="Calibri" pitchFamily="34" charset="-120"/>
              </a:rPr>
              <a:t>unique</a:t>
            </a:r>
            <a:endParaRPr lang="en-US" sz="1200" dirty="0"/>
          </a:p>
        </p:txBody>
      </p:sp>
      <p:sp>
        <p:nvSpPr>
          <p:cNvPr id="17" name="Text 15"/>
          <p:cNvSpPr txBox="1"/>
          <p:nvPr/>
        </p:nvSpPr>
        <p:spPr>
          <a:xfrm>
            <a:off x="6172200" y="5394960"/>
            <a:ext cx="1783080" cy="411480"/>
          </a:xfrm>
          <a:prstGeom prst="rect">
            <a:avLst/>
          </a:prstGeom>
          <a:noFill/>
          <a:ln/>
        </p:spPr>
        <p:txBody>
          <a:bodyPr wrap="square" lIns="0" tIns="0" rIns="0" bIns="0" rtlCol="0" anchor="t"/>
          <a:lstStyle/>
          <a:p>
            <a:pPr algn="l" indent="0" marL="0">
              <a:buNone/>
            </a:pPr>
            <a:r>
              <a:rPr lang="en-US" sz="2000" b="1" dirty="0">
                <a:solidFill>
                  <a:srgbClr val="FFFFFF"/>
                </a:solidFill>
                <a:latin typeface="Cambria" pitchFamily="34" charset="0"/>
                <a:ea typeface="Cambria" pitchFamily="34" charset="-122"/>
                <a:cs typeface="Cambria" pitchFamily="34" charset="-120"/>
              </a:rPr>
              <a:t>O*NET 31.0</a:t>
            </a:r>
            <a:endParaRPr lang="en-US" sz="2000" dirty="0"/>
          </a:p>
        </p:txBody>
      </p:sp>
      <p:sp>
        <p:nvSpPr>
          <p:cNvPr id="18" name="Text 16"/>
          <p:cNvSpPr txBox="1"/>
          <p:nvPr/>
        </p:nvSpPr>
        <p:spPr>
          <a:xfrm>
            <a:off x="6172200" y="5806440"/>
            <a:ext cx="1783080" cy="320040"/>
          </a:xfrm>
          <a:prstGeom prst="rect">
            <a:avLst/>
          </a:prstGeom>
          <a:noFill/>
          <a:ln/>
        </p:spPr>
        <p:txBody>
          <a:bodyPr wrap="square" lIns="0" tIns="0" rIns="0" bIns="0" rtlCol="0" anchor="t"/>
          <a:lstStyle/>
          <a:p>
            <a:pPr algn="l" indent="0" marL="0">
              <a:buNone/>
            </a:pPr>
            <a:r>
              <a:rPr lang="en-US" sz="1200" dirty="0">
                <a:solidFill>
                  <a:srgbClr val="AEB6C6"/>
                </a:solidFill>
                <a:latin typeface="Calibri" pitchFamily="34" charset="0"/>
                <a:ea typeface="Calibri" pitchFamily="34" charset="-122"/>
                <a:cs typeface="Calibri" pitchFamily="34" charset="-120"/>
              </a:rPr>
              <a:t>1,016 occ. · 18,838 tasks</a:t>
            </a:r>
            <a:endParaRPr lang="en-US" sz="1200" dirty="0"/>
          </a:p>
        </p:txBody>
      </p:sp>
      <p:sp>
        <p:nvSpPr>
          <p:cNvPr id="19" name="Text 17"/>
          <p:cNvSpPr txBox="1"/>
          <p:nvPr/>
        </p:nvSpPr>
        <p:spPr>
          <a:xfrm>
            <a:off x="8046720" y="5394960"/>
            <a:ext cx="1783080" cy="411480"/>
          </a:xfrm>
          <a:prstGeom prst="rect">
            <a:avLst/>
          </a:prstGeom>
          <a:noFill/>
          <a:ln/>
        </p:spPr>
        <p:txBody>
          <a:bodyPr wrap="square" lIns="0" tIns="0" rIns="0" bIns="0" rtlCol="0" anchor="t"/>
          <a:lstStyle/>
          <a:p>
            <a:pPr algn="l" indent="0" marL="0">
              <a:buNone/>
            </a:pPr>
            <a:r>
              <a:rPr lang="en-US" sz="2000" b="1" dirty="0">
                <a:solidFill>
                  <a:srgbClr val="FFFFFF"/>
                </a:solidFill>
                <a:latin typeface="Cambria" pitchFamily="34" charset="0"/>
                <a:ea typeface="Cambria" pitchFamily="34" charset="-122"/>
                <a:cs typeface="Cambria" pitchFamily="34" charset="-120"/>
              </a:rPr>
              <a:t>ESCO v1.2.1</a:t>
            </a:r>
            <a:endParaRPr lang="en-US" sz="2000" dirty="0"/>
          </a:p>
        </p:txBody>
      </p:sp>
      <p:sp>
        <p:nvSpPr>
          <p:cNvPr id="20" name="Text 18"/>
          <p:cNvSpPr txBox="1"/>
          <p:nvPr/>
        </p:nvSpPr>
        <p:spPr>
          <a:xfrm>
            <a:off x="8046720" y="5806440"/>
            <a:ext cx="1783080" cy="320040"/>
          </a:xfrm>
          <a:prstGeom prst="rect">
            <a:avLst/>
          </a:prstGeom>
          <a:noFill/>
          <a:ln/>
        </p:spPr>
        <p:txBody>
          <a:bodyPr wrap="square" lIns="0" tIns="0" rIns="0" bIns="0" rtlCol="0" anchor="t"/>
          <a:lstStyle/>
          <a:p>
            <a:pPr algn="l" indent="0" marL="0">
              <a:buNone/>
            </a:pPr>
            <a:r>
              <a:rPr lang="en-US" sz="1200" dirty="0">
                <a:solidFill>
                  <a:srgbClr val="AEB6C6"/>
                </a:solidFill>
                <a:latin typeface="Calibri" pitchFamily="34" charset="0"/>
                <a:ea typeface="Calibri" pitchFamily="34" charset="-122"/>
                <a:cs typeface="Calibri" pitchFamily="34" charset="-120"/>
              </a:rPr>
              <a:t>3,039 occ. · 13,939 skills</a:t>
            </a:r>
            <a:endParaRPr lang="en-US" sz="1200" dirty="0"/>
          </a:p>
        </p:txBody>
      </p:sp>
      <p:sp>
        <p:nvSpPr>
          <p:cNvPr id="21" name="Text 19"/>
          <p:cNvSpPr txBox="1"/>
          <p:nvPr/>
        </p:nvSpPr>
        <p:spPr>
          <a:xfrm>
            <a:off x="9921240" y="5394960"/>
            <a:ext cx="1783080" cy="411480"/>
          </a:xfrm>
          <a:prstGeom prst="rect">
            <a:avLst/>
          </a:prstGeom>
          <a:noFill/>
          <a:ln/>
        </p:spPr>
        <p:txBody>
          <a:bodyPr wrap="square" lIns="0" tIns="0" rIns="0" bIns="0" rtlCol="0" anchor="t"/>
          <a:lstStyle/>
          <a:p>
            <a:pPr algn="l" indent="0" marL="0">
              <a:buNone/>
            </a:pPr>
            <a:r>
              <a:rPr lang="en-US" sz="2000" b="1" dirty="0">
                <a:solidFill>
                  <a:srgbClr val="FFFFFF"/>
                </a:solidFill>
                <a:latin typeface="Cambria" pitchFamily="34" charset="0"/>
                <a:ea typeface="Cambria" pitchFamily="34" charset="-122"/>
                <a:cs typeface="Cambria" pitchFamily="34" charset="-120"/>
              </a:rPr>
              <a:t>21/21</a:t>
            </a:r>
            <a:endParaRPr lang="en-US" sz="2000" dirty="0"/>
          </a:p>
        </p:txBody>
      </p:sp>
      <p:sp>
        <p:nvSpPr>
          <p:cNvPr id="22" name="Text 20"/>
          <p:cNvSpPr txBox="1"/>
          <p:nvPr/>
        </p:nvSpPr>
        <p:spPr>
          <a:xfrm>
            <a:off x="9921240" y="5806440"/>
            <a:ext cx="1783080" cy="320040"/>
          </a:xfrm>
          <a:prstGeom prst="rect">
            <a:avLst/>
          </a:prstGeom>
          <a:noFill/>
          <a:ln/>
        </p:spPr>
        <p:txBody>
          <a:bodyPr wrap="square" lIns="0" tIns="0" rIns="0" bIns="0" rtlCol="0" anchor="t"/>
          <a:lstStyle/>
          <a:p>
            <a:pPr algn="l" indent="0" marL="0">
              <a:buNone/>
            </a:pPr>
            <a:r>
              <a:rPr lang="en-US" sz="1200" dirty="0">
                <a:solidFill>
                  <a:srgbClr val="AEB6C6"/>
                </a:solidFill>
                <a:latin typeface="Calibri" pitchFamily="34" charset="0"/>
                <a:ea typeface="Calibri" pitchFamily="34" charset="-122"/>
                <a:cs typeface="Calibri" pitchFamily="34" charset="-120"/>
              </a:rPr>
              <a:t>acceptance checks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C6"/>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1F2A44"/>
                </a:solidFill>
                <a:latin typeface="Cambria" pitchFamily="34" charset="0"/>
                <a:ea typeface="Cambria" pitchFamily="34" charset="-122"/>
                <a:cs typeface="Cambria" pitchFamily="34" charset="-120"/>
              </a:rPr>
              <a:t>What we built</a:t>
            </a:r>
            <a:endParaRPr lang="en-US" sz="3400" dirty="0"/>
          </a:p>
        </p:txBody>
      </p:sp>
      <p:sp>
        <p:nvSpPr>
          <p:cNvPr id="3" name="Text 1"/>
          <p:cNvSpPr txBox="1"/>
          <p:nvPr/>
        </p:nvSpPr>
        <p:spPr>
          <a:xfrm>
            <a:off x="548640" y="1600200"/>
            <a:ext cx="2103120" cy="1371600"/>
          </a:xfrm>
          <a:prstGeom prst="roundRect">
            <a:avLst>
              <a:gd name="adj" fmla="val 8000"/>
            </a:avLst>
          </a:prstGeom>
          <a:solidFill>
            <a:srgbClr val="F1F3F6"/>
          </a:solidFill>
          <a:ln w="12700">
            <a:solidFill>
              <a:srgbClr val="F1F3F6"/>
            </a:solidFill>
            <a:prstDash val="solid"/>
          </a:ln>
        </p:spPr>
        <p:txBody>
          <a:bodyPr wrap="square" lIns="76200" tIns="76200" rIns="76200" bIns="76200" rtlCol="0" anchor="ctr"/>
          <a:lstStyle/>
          <a:p>
            <a:pPr algn="ctr" indent="0" marL="0">
              <a:buNone/>
            </a:pPr>
            <a:r>
              <a:rPr lang="en-US" sz="1600" b="1" dirty="0">
                <a:solidFill>
                  <a:srgbClr val="1F2A44"/>
                </a:solidFill>
                <a:latin typeface="Calibri" pitchFamily="34" charset="0"/>
                <a:ea typeface="Calibri" pitchFamily="34" charset="-122"/>
                <a:cs typeface="Calibri" pitchFamily="34" charset="-120"/>
              </a:rPr>
              <a:t>200 frozen postings</a:t>
            </a:r>
            <a:endParaRPr lang="en-US" sz="1600" dirty="0"/>
          </a:p>
          <a:p>
            <a:pPr algn="ctr" indent="0" marL="0">
              <a:buNone/>
            </a:pPr>
            <a:r>
              <a:rPr lang="en-US" sz="1200" b="1" dirty="0">
                <a:solidFill>
                  <a:srgbClr val="1F2A44"/>
                </a:solidFill>
                <a:latin typeface="Calibri" pitchFamily="34" charset="0"/>
                <a:ea typeface="Calibri" pitchFamily="34" charset="-122"/>
                <a:cs typeface="Calibri" pitchFamily="34" charset="-120"/>
              </a:rPr>
              <a:t>100 / source · 200 titles</a:t>
            </a:r>
            <a:endParaRPr lang="en-US" sz="1600" dirty="0"/>
          </a:p>
        </p:txBody>
      </p:sp>
      <p:sp>
        <p:nvSpPr>
          <p:cNvPr id="4" name="Text 2"/>
          <p:cNvSpPr txBox="1"/>
          <p:nvPr/>
        </p:nvSpPr>
        <p:spPr>
          <a:xfrm>
            <a:off x="3154680" y="1600200"/>
            <a:ext cx="2103120" cy="621792"/>
          </a:xfrm>
          <a:prstGeom prst="roundRect">
            <a:avLst>
              <a:gd name="adj" fmla="val 17647"/>
            </a:avLst>
          </a:prstGeom>
          <a:solidFill>
            <a:srgbClr val="D7EEEC"/>
          </a:solidFill>
          <a:ln w="12700">
            <a:solidFill>
              <a:srgbClr val="D7EEEC"/>
            </a:solidFill>
            <a:prstDash val="solid"/>
          </a:ln>
        </p:spPr>
        <p:txBody>
          <a:bodyPr wrap="square" lIns="76200" tIns="76200" rIns="76200" bIns="76200" rtlCol="0" anchor="ctr"/>
          <a:lstStyle/>
          <a:p>
            <a:pPr algn="ctr" indent="0" marL="0">
              <a:buNone/>
            </a:pPr>
            <a:r>
              <a:rPr lang="en-US" sz="1500" b="1" dirty="0">
                <a:solidFill>
                  <a:srgbClr val="1F2A44"/>
                </a:solidFill>
                <a:latin typeface="Calibri" pitchFamily="34" charset="0"/>
                <a:ea typeface="Calibri" pitchFamily="34" charset="-122"/>
                <a:cs typeface="Calibri" pitchFamily="34" charset="-120"/>
              </a:rPr>
              <a:t>Gemini  200/200</a:t>
            </a:r>
            <a:endParaRPr lang="en-US" sz="1500" dirty="0"/>
          </a:p>
        </p:txBody>
      </p:sp>
      <p:sp>
        <p:nvSpPr>
          <p:cNvPr id="5" name="Text 3"/>
          <p:cNvSpPr txBox="1"/>
          <p:nvPr/>
        </p:nvSpPr>
        <p:spPr>
          <a:xfrm>
            <a:off x="3154680" y="2350008"/>
            <a:ext cx="2103120" cy="621792"/>
          </a:xfrm>
          <a:prstGeom prst="roundRect">
            <a:avLst>
              <a:gd name="adj" fmla="val 17647"/>
            </a:avLst>
          </a:prstGeom>
          <a:solidFill>
            <a:srgbClr val="D7EEEC"/>
          </a:solidFill>
          <a:ln w="12700">
            <a:solidFill>
              <a:srgbClr val="D7EEEC"/>
            </a:solidFill>
            <a:prstDash val="solid"/>
          </a:ln>
        </p:spPr>
        <p:txBody>
          <a:bodyPr wrap="square" lIns="76200" tIns="76200" rIns="76200" bIns="76200" rtlCol="0" anchor="ctr"/>
          <a:lstStyle/>
          <a:p>
            <a:pPr algn="ctr" indent="0" marL="0">
              <a:buNone/>
            </a:pPr>
            <a:r>
              <a:rPr lang="en-US" sz="1500" b="1" dirty="0">
                <a:solidFill>
                  <a:srgbClr val="1F2A44"/>
                </a:solidFill>
                <a:latin typeface="Calibri" pitchFamily="34" charset="0"/>
                <a:ea typeface="Calibri" pitchFamily="34" charset="-122"/>
                <a:cs typeface="Calibri" pitchFamily="34" charset="-120"/>
              </a:rPr>
              <a:t>Groq  100/100</a:t>
            </a:r>
            <a:endParaRPr lang="en-US" sz="1500" dirty="0"/>
          </a:p>
        </p:txBody>
      </p:sp>
      <p:sp>
        <p:nvSpPr>
          <p:cNvPr id="6" name="Text 4"/>
          <p:cNvSpPr txBox="1"/>
          <p:nvPr/>
        </p:nvSpPr>
        <p:spPr>
          <a:xfrm>
            <a:off x="5760720" y="1600200"/>
            <a:ext cx="2103120" cy="1371600"/>
          </a:xfrm>
          <a:prstGeom prst="roundRect">
            <a:avLst>
              <a:gd name="adj" fmla="val 8000"/>
            </a:avLst>
          </a:prstGeom>
          <a:solidFill>
            <a:srgbClr val="F1F3F6"/>
          </a:solidFill>
          <a:ln w="12700">
            <a:solidFill>
              <a:srgbClr val="F1F3F6"/>
            </a:solidFill>
            <a:prstDash val="solid"/>
          </a:ln>
        </p:spPr>
        <p:txBody>
          <a:bodyPr wrap="square" lIns="76200" tIns="76200" rIns="76200" bIns="76200" rtlCol="0" anchor="ctr"/>
          <a:lstStyle/>
          <a:p>
            <a:pPr algn="ctr" indent="0" marL="0">
              <a:buNone/>
            </a:pPr>
            <a:r>
              <a:rPr lang="en-US" sz="1600" b="1" dirty="0">
                <a:solidFill>
                  <a:srgbClr val="1F2A44"/>
                </a:solidFill>
                <a:latin typeface="Calibri" pitchFamily="34" charset="0"/>
                <a:ea typeface="Calibri" pitchFamily="34" charset="-122"/>
                <a:cs typeface="Calibri" pitchFamily="34" charset="-120"/>
              </a:rPr>
              <a:t>Evidence validation</a:t>
            </a:r>
            <a:endParaRPr lang="en-US" sz="1600" dirty="0"/>
          </a:p>
          <a:p>
            <a:pPr algn="ctr" indent="0" marL="0">
              <a:buNone/>
            </a:pPr>
            <a:r>
              <a:rPr lang="en-US" sz="1200" b="1" dirty="0">
                <a:solidFill>
                  <a:srgbClr val="B8433A"/>
                </a:solidFill>
                <a:latin typeface="Calibri" pitchFamily="34" charset="0"/>
                <a:ea typeface="Calibri" pitchFamily="34" charset="-122"/>
                <a:cs typeface="Calibri" pitchFamily="34" charset="-120"/>
              </a:rPr>
              <a:t>132 rejected</a:t>
            </a:r>
            <a:endParaRPr lang="en-US" sz="1600" dirty="0"/>
          </a:p>
        </p:txBody>
      </p:sp>
      <p:sp>
        <p:nvSpPr>
          <p:cNvPr id="7" name="Text 5"/>
          <p:cNvSpPr txBox="1"/>
          <p:nvPr/>
        </p:nvSpPr>
        <p:spPr>
          <a:xfrm>
            <a:off x="8366760" y="1600200"/>
            <a:ext cx="1508760" cy="1371600"/>
          </a:xfrm>
          <a:prstGeom prst="roundRect">
            <a:avLst>
              <a:gd name="adj" fmla="val 8000"/>
            </a:avLst>
          </a:prstGeom>
          <a:solidFill>
            <a:srgbClr val="F1F3F6"/>
          </a:solidFill>
          <a:ln w="12700">
            <a:solidFill>
              <a:srgbClr val="F1F3F6"/>
            </a:solidFill>
            <a:prstDash val="solid"/>
          </a:ln>
        </p:spPr>
        <p:txBody>
          <a:bodyPr wrap="square" lIns="76200" tIns="76200" rIns="76200" bIns="76200" rtlCol="0" anchor="ctr"/>
          <a:lstStyle/>
          <a:p>
            <a:pPr algn="ctr" indent="0" marL="0">
              <a:buNone/>
            </a:pPr>
            <a:r>
              <a:rPr lang="en-US" sz="2400" b="1" dirty="0">
                <a:solidFill>
                  <a:srgbClr val="1F2A44"/>
                </a:solidFill>
                <a:latin typeface="Calibri" pitchFamily="34" charset="0"/>
                <a:ea typeface="Calibri" pitchFamily="34" charset="-122"/>
                <a:cs typeface="Calibri" pitchFamily="34" charset="-120"/>
              </a:rPr>
              <a:t>3,614</a:t>
            </a:r>
            <a:endParaRPr lang="en-US" sz="1600" dirty="0"/>
          </a:p>
          <a:p>
            <a:pPr algn="ctr" indent="0" marL="0">
              <a:buNone/>
            </a:pPr>
            <a:r>
              <a:rPr lang="en-US" sz="1200" b="1" dirty="0">
                <a:solidFill>
                  <a:srgbClr val="1F2A44"/>
                </a:solidFill>
                <a:latin typeface="Calibri" pitchFamily="34" charset="0"/>
                <a:ea typeface="Calibri" pitchFamily="34" charset="-122"/>
                <a:cs typeface="Calibri" pitchFamily="34" charset="-120"/>
              </a:rPr>
              <a:t>statements</a:t>
            </a:r>
            <a:endParaRPr lang="en-US" sz="1600" dirty="0"/>
          </a:p>
        </p:txBody>
      </p:sp>
      <p:sp>
        <p:nvSpPr>
          <p:cNvPr id="8" name="Text 6"/>
          <p:cNvSpPr txBox="1"/>
          <p:nvPr/>
        </p:nvSpPr>
        <p:spPr>
          <a:xfrm>
            <a:off x="10195560" y="1600200"/>
            <a:ext cx="1463040" cy="1371600"/>
          </a:xfrm>
          <a:prstGeom prst="roundRect">
            <a:avLst>
              <a:gd name="adj" fmla="val 8000"/>
            </a:avLst>
          </a:prstGeom>
          <a:solidFill>
            <a:srgbClr val="0F7C7A"/>
          </a:solidFill>
          <a:ln w="12700">
            <a:solidFill>
              <a:srgbClr val="0F7C7A"/>
            </a:solidFill>
            <a:prstDash val="solid"/>
          </a:ln>
        </p:spPr>
        <p:txBody>
          <a:bodyPr wrap="square" lIns="76200" tIns="76200" rIns="76200" bIns="7620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3,479</a:t>
            </a:r>
            <a:endParaRPr lang="en-US" sz="1600" dirty="0"/>
          </a:p>
          <a:p>
            <a:pPr algn="ctr" indent="0" marL="0">
              <a:buNone/>
            </a:pPr>
            <a:r>
              <a:rPr lang="en-US" sz="1200" b="1" dirty="0">
                <a:solidFill>
                  <a:srgbClr val="FFFFFF"/>
                </a:solidFill>
                <a:latin typeface="Calibri" pitchFamily="34" charset="0"/>
                <a:ea typeface="Calibri" pitchFamily="34" charset="-122"/>
                <a:cs typeface="Calibri" pitchFamily="34" charset="-120"/>
              </a:rPr>
              <a:t>valid</a:t>
            </a:r>
            <a:endParaRPr lang="en-US" sz="1600" dirty="0"/>
          </a:p>
        </p:txBody>
      </p:sp>
      <p:sp>
        <p:nvSpPr>
          <p:cNvPr id="9" name="Shape 7"/>
          <p:cNvSpPr/>
          <p:nvPr/>
        </p:nvSpPr>
        <p:spPr>
          <a:xfrm>
            <a:off x="2697480" y="2286000"/>
            <a:ext cx="411480" cy="0"/>
          </a:xfrm>
          <a:prstGeom prst="line">
            <a:avLst/>
          </a:prstGeom>
          <a:noFill/>
          <a:ln w="28575">
            <a:solidFill>
              <a:srgbClr val="8A94A6"/>
            </a:solidFill>
            <a:prstDash val="solid"/>
            <a:tailEnd type="triangle"/>
          </a:ln>
        </p:spPr>
      </p:sp>
      <p:sp>
        <p:nvSpPr>
          <p:cNvPr id="10" name="Shape 8"/>
          <p:cNvSpPr/>
          <p:nvPr/>
        </p:nvSpPr>
        <p:spPr>
          <a:xfrm>
            <a:off x="5303520" y="2286000"/>
            <a:ext cx="411480" cy="0"/>
          </a:xfrm>
          <a:prstGeom prst="line">
            <a:avLst/>
          </a:prstGeom>
          <a:noFill/>
          <a:ln w="28575">
            <a:solidFill>
              <a:srgbClr val="8A94A6"/>
            </a:solidFill>
            <a:prstDash val="solid"/>
            <a:tailEnd type="triangle"/>
          </a:ln>
        </p:spPr>
      </p:sp>
      <p:sp>
        <p:nvSpPr>
          <p:cNvPr id="11" name="Shape 9"/>
          <p:cNvSpPr/>
          <p:nvPr/>
        </p:nvSpPr>
        <p:spPr>
          <a:xfrm>
            <a:off x="7909560" y="2286000"/>
            <a:ext cx="411480" cy="0"/>
          </a:xfrm>
          <a:prstGeom prst="line">
            <a:avLst/>
          </a:prstGeom>
          <a:noFill/>
          <a:ln w="28575">
            <a:solidFill>
              <a:srgbClr val="8A94A6"/>
            </a:solidFill>
            <a:prstDash val="solid"/>
            <a:tailEnd type="triangle"/>
          </a:ln>
        </p:spPr>
      </p:sp>
      <p:sp>
        <p:nvSpPr>
          <p:cNvPr id="12" name="Shape 10"/>
          <p:cNvSpPr/>
          <p:nvPr/>
        </p:nvSpPr>
        <p:spPr>
          <a:xfrm>
            <a:off x="9921240" y="2286000"/>
            <a:ext cx="228600" cy="0"/>
          </a:xfrm>
          <a:prstGeom prst="line">
            <a:avLst/>
          </a:prstGeom>
          <a:noFill/>
          <a:ln w="28575">
            <a:solidFill>
              <a:srgbClr val="8A94A6"/>
            </a:solidFill>
            <a:prstDash val="solid"/>
            <a:tailEnd type="triangle"/>
          </a:ln>
        </p:spPr>
      </p:sp>
      <p:sp>
        <p:nvSpPr>
          <p:cNvPr id="13" name="Text 11"/>
          <p:cNvSpPr txBox="1"/>
          <p:nvPr/>
        </p:nvSpPr>
        <p:spPr>
          <a:xfrm>
            <a:off x="548640" y="3520440"/>
            <a:ext cx="2651760" cy="685800"/>
          </a:xfrm>
          <a:prstGeom prst="rect">
            <a:avLst/>
          </a:prstGeom>
          <a:noFill/>
          <a:ln/>
        </p:spPr>
        <p:txBody>
          <a:bodyPr wrap="square" lIns="0" tIns="0" rIns="0" bIns="0" rtlCol="0" anchor="b"/>
          <a:lstStyle/>
          <a:p>
            <a:pPr algn="ctr" indent="0" marL="0">
              <a:buNone/>
            </a:pPr>
            <a:r>
              <a:rPr lang="en-US" sz="4000" b="1" dirty="0">
                <a:solidFill>
                  <a:srgbClr val="0F7C7A"/>
                </a:solidFill>
                <a:latin typeface="Cambria" pitchFamily="34" charset="0"/>
                <a:ea typeface="Cambria" pitchFamily="34" charset="-122"/>
                <a:cs typeface="Cambria" pitchFamily="34" charset="-120"/>
              </a:rPr>
              <a:t>683</a:t>
            </a:r>
            <a:endParaRPr lang="en-US" sz="4000" dirty="0"/>
          </a:p>
        </p:txBody>
      </p:sp>
      <p:sp>
        <p:nvSpPr>
          <p:cNvPr id="14" name="Text 12"/>
          <p:cNvSpPr txBox="1"/>
          <p:nvPr/>
        </p:nvSpPr>
        <p:spPr>
          <a:xfrm>
            <a:off x="548640" y="4251960"/>
            <a:ext cx="2651760" cy="457200"/>
          </a:xfrm>
          <a:prstGeom prst="rect">
            <a:avLst/>
          </a:prstGeom>
          <a:noFill/>
          <a:ln/>
        </p:spPr>
        <p:txBody>
          <a:bodyPr wrap="square" lIns="0" tIns="0" rIns="0" bIns="0" rtlCol="0" anchor="t"/>
          <a:lstStyle/>
          <a:p>
            <a:pPr algn="ctr" indent="0" marL="0">
              <a:buNone/>
            </a:pPr>
            <a:r>
              <a:rPr lang="en-US" sz="1300" dirty="0">
                <a:solidFill>
                  <a:srgbClr val="5B6577"/>
                </a:solidFill>
                <a:latin typeface="Calibri" pitchFamily="34" charset="0"/>
                <a:ea typeface="Calibri" pitchFamily="34" charset="-122"/>
                <a:cs typeface="Calibri" pitchFamily="34" charset="-120"/>
              </a:rPr>
              <a:t>tasks agreed by both models</a:t>
            </a:r>
            <a:endParaRPr lang="en-US" sz="1300" dirty="0"/>
          </a:p>
        </p:txBody>
      </p:sp>
      <p:sp>
        <p:nvSpPr>
          <p:cNvPr id="15" name="Text 13"/>
          <p:cNvSpPr txBox="1"/>
          <p:nvPr/>
        </p:nvSpPr>
        <p:spPr>
          <a:xfrm>
            <a:off x="3337560" y="3520440"/>
            <a:ext cx="2651760" cy="685800"/>
          </a:xfrm>
          <a:prstGeom prst="rect">
            <a:avLst/>
          </a:prstGeom>
          <a:noFill/>
          <a:ln/>
        </p:spPr>
        <p:txBody>
          <a:bodyPr wrap="square" lIns="0" tIns="0" rIns="0" bIns="0" rtlCol="0" anchor="b"/>
          <a:lstStyle/>
          <a:p>
            <a:pPr algn="ctr" indent="0" marL="0">
              <a:buNone/>
            </a:pPr>
            <a:r>
              <a:rPr lang="en-US" sz="4000" b="1" dirty="0">
                <a:solidFill>
                  <a:srgbClr val="E39B2D"/>
                </a:solidFill>
                <a:latin typeface="Cambria" pitchFamily="34" charset="0"/>
                <a:ea typeface="Cambria" pitchFamily="34" charset="-122"/>
                <a:cs typeface="Cambria" pitchFamily="34" charset="-120"/>
              </a:rPr>
              <a:t>943</a:t>
            </a:r>
            <a:endParaRPr lang="en-US" sz="4000" dirty="0"/>
          </a:p>
        </p:txBody>
      </p:sp>
      <p:sp>
        <p:nvSpPr>
          <p:cNvPr id="16" name="Text 14"/>
          <p:cNvSpPr txBox="1"/>
          <p:nvPr/>
        </p:nvSpPr>
        <p:spPr>
          <a:xfrm>
            <a:off x="3337560" y="4251960"/>
            <a:ext cx="2651760" cy="457200"/>
          </a:xfrm>
          <a:prstGeom prst="rect">
            <a:avLst/>
          </a:prstGeom>
          <a:noFill/>
          <a:ln/>
        </p:spPr>
        <p:txBody>
          <a:bodyPr wrap="square" lIns="0" tIns="0" rIns="0" bIns="0" rtlCol="0" anchor="t"/>
          <a:lstStyle/>
          <a:p>
            <a:pPr algn="ctr" indent="0" marL="0">
              <a:buNone/>
            </a:pPr>
            <a:r>
              <a:rPr lang="en-US" sz="1300" dirty="0">
                <a:solidFill>
                  <a:srgbClr val="5B6577"/>
                </a:solidFill>
                <a:latin typeface="Calibri" pitchFamily="34" charset="0"/>
                <a:ea typeface="Calibri" pitchFamily="34" charset="-122"/>
                <a:cs typeface="Calibri" pitchFamily="34" charset="-120"/>
              </a:rPr>
              <a:t>flagged for human review</a:t>
            </a:r>
            <a:endParaRPr lang="en-US" sz="1300" dirty="0"/>
          </a:p>
        </p:txBody>
      </p:sp>
      <p:sp>
        <p:nvSpPr>
          <p:cNvPr id="17" name="Text 15"/>
          <p:cNvSpPr txBox="1"/>
          <p:nvPr/>
        </p:nvSpPr>
        <p:spPr>
          <a:xfrm>
            <a:off x="6126480" y="3520440"/>
            <a:ext cx="2651760" cy="685800"/>
          </a:xfrm>
          <a:prstGeom prst="rect">
            <a:avLst/>
          </a:prstGeom>
          <a:noFill/>
          <a:ln/>
        </p:spPr>
        <p:txBody>
          <a:bodyPr wrap="square" lIns="0" tIns="0" rIns="0" bIns="0" rtlCol="0" anchor="b"/>
          <a:lstStyle/>
          <a:p>
            <a:pPr algn="ctr" indent="0" marL="0">
              <a:buNone/>
            </a:pPr>
            <a:r>
              <a:rPr lang="en-US" sz="4000" b="1" dirty="0">
                <a:solidFill>
                  <a:srgbClr val="1F2A44"/>
                </a:solidFill>
                <a:latin typeface="Cambria" pitchFamily="34" charset="0"/>
                <a:ea typeface="Cambria" pitchFamily="34" charset="-122"/>
                <a:cs typeface="Cambria" pitchFamily="34" charset="-120"/>
              </a:rPr>
              <a:t>32/32</a:t>
            </a:r>
            <a:endParaRPr lang="en-US" sz="4000" dirty="0"/>
          </a:p>
        </p:txBody>
      </p:sp>
      <p:sp>
        <p:nvSpPr>
          <p:cNvPr id="18" name="Text 16"/>
          <p:cNvSpPr txBox="1"/>
          <p:nvPr/>
        </p:nvSpPr>
        <p:spPr>
          <a:xfrm>
            <a:off x="6126480" y="4251960"/>
            <a:ext cx="2651760" cy="457200"/>
          </a:xfrm>
          <a:prstGeom prst="rect">
            <a:avLst/>
          </a:prstGeom>
          <a:noFill/>
          <a:ln/>
        </p:spPr>
        <p:txBody>
          <a:bodyPr wrap="square" lIns="0" tIns="0" rIns="0" bIns="0" rtlCol="0" anchor="t"/>
          <a:lstStyle/>
          <a:p>
            <a:pPr algn="ctr" indent="0" marL="0">
              <a:buNone/>
            </a:pPr>
            <a:r>
              <a:rPr lang="en-US" sz="1300" dirty="0">
                <a:solidFill>
                  <a:srgbClr val="5B6577"/>
                </a:solidFill>
                <a:latin typeface="Calibri" pitchFamily="34" charset="0"/>
                <a:ea typeface="Calibri" pitchFamily="34" charset="-122"/>
                <a:cs typeface="Calibri" pitchFamily="34" charset="-120"/>
              </a:rPr>
              <a:t>tests pass</a:t>
            </a:r>
            <a:endParaRPr lang="en-US" sz="1300" dirty="0"/>
          </a:p>
        </p:txBody>
      </p:sp>
      <p:sp>
        <p:nvSpPr>
          <p:cNvPr id="19" name="Text 17"/>
          <p:cNvSpPr txBox="1"/>
          <p:nvPr/>
        </p:nvSpPr>
        <p:spPr>
          <a:xfrm>
            <a:off x="8915400" y="3520440"/>
            <a:ext cx="2743200" cy="685800"/>
          </a:xfrm>
          <a:prstGeom prst="rect">
            <a:avLst/>
          </a:prstGeom>
          <a:noFill/>
          <a:ln/>
        </p:spPr>
        <p:txBody>
          <a:bodyPr wrap="square" lIns="0" tIns="0" rIns="0" bIns="0" rtlCol="0" anchor="b"/>
          <a:lstStyle/>
          <a:p>
            <a:pPr algn="ctr" indent="0" marL="0">
              <a:buNone/>
            </a:pPr>
            <a:r>
              <a:rPr lang="en-US" sz="4000" b="1" dirty="0">
                <a:solidFill>
                  <a:srgbClr val="1F2A44"/>
                </a:solidFill>
                <a:latin typeface="Cambria" pitchFamily="34" charset="0"/>
                <a:ea typeface="Cambria" pitchFamily="34" charset="-122"/>
                <a:cs typeface="Cambria" pitchFamily="34" charset="-120"/>
              </a:rPr>
              <a:t>100 + 20</a:t>
            </a:r>
            <a:endParaRPr lang="en-US" sz="4000" dirty="0"/>
          </a:p>
        </p:txBody>
      </p:sp>
      <p:sp>
        <p:nvSpPr>
          <p:cNvPr id="20" name="Text 18"/>
          <p:cNvSpPr txBox="1"/>
          <p:nvPr/>
        </p:nvSpPr>
        <p:spPr>
          <a:xfrm>
            <a:off x="8915400" y="4251960"/>
            <a:ext cx="2743200" cy="457200"/>
          </a:xfrm>
          <a:prstGeom prst="rect">
            <a:avLst/>
          </a:prstGeom>
          <a:noFill/>
          <a:ln/>
        </p:spPr>
        <p:txBody>
          <a:bodyPr wrap="square" lIns="0" tIns="0" rIns="0" bIns="0" rtlCol="0" anchor="t"/>
          <a:lstStyle/>
          <a:p>
            <a:pPr algn="ctr" indent="0" marL="0">
              <a:buNone/>
            </a:pPr>
            <a:r>
              <a:rPr lang="en-US" sz="1300" dirty="0">
                <a:solidFill>
                  <a:srgbClr val="5B6577"/>
                </a:solidFill>
                <a:latin typeface="Calibri" pitchFamily="34" charset="0"/>
                <a:ea typeface="Calibri" pitchFamily="34" charset="-122"/>
                <a:cs typeface="Calibri" pitchFamily="34" charset="-120"/>
              </a:rPr>
              <a:t>blind gold + audit files ready</a:t>
            </a:r>
            <a:endParaRPr lang="en-US" sz="1300" dirty="0"/>
          </a:p>
        </p:txBody>
      </p:sp>
      <p:sp>
        <p:nvSpPr>
          <p:cNvPr id="21" name="Text 19"/>
          <p:cNvSpPr txBox="1"/>
          <p:nvPr/>
        </p:nvSpPr>
        <p:spPr>
          <a:xfrm>
            <a:off x="548640" y="5257800"/>
            <a:ext cx="11064240" cy="365760"/>
          </a:xfrm>
          <a:prstGeom prst="rect">
            <a:avLst/>
          </a:prstGeom>
          <a:noFill/>
          <a:ln/>
        </p:spPr>
        <p:txBody>
          <a:bodyPr wrap="square" lIns="0" tIns="0" rIns="0" bIns="0" rtlCol="0" anchor="t"/>
          <a:lstStyle/>
          <a:p>
            <a:pPr algn="ctr" indent="0" marL="0">
              <a:buNone/>
            </a:pPr>
            <a:r>
              <a:rPr lang="en-US" sz="1500" dirty="0">
                <a:solidFill>
                  <a:srgbClr val="1F2A44"/>
                </a:solidFill>
                <a:latin typeface="Calibri" pitchFamily="34" charset="0"/>
                <a:ea typeface="Calibri" pitchFamily="34" charset="-122"/>
                <a:cs typeface="Calibri" pitchFamily="34" charset="-120"/>
              </a:rPr>
              <a:t>Exact evidence spans kept  ·  responses cached  ·  rate limits handled  ·  same 200 postings on every rerun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1F2A44"/>
                </a:solidFill>
                <a:latin typeface="Cambria" pitchFamily="34" charset="0"/>
                <a:ea typeface="Cambria" pitchFamily="34" charset="-122"/>
                <a:cs typeface="Cambria" pitchFamily="34" charset="-120"/>
              </a:rPr>
              <a:t>Beyond the Sprint 2 minimum</a:t>
            </a:r>
            <a:endParaRPr lang="en-US" sz="3400" dirty="0"/>
          </a:p>
        </p:txBody>
      </p:sp>
      <p:sp>
        <p:nvSpPr>
          <p:cNvPr id="3" name="Text 1"/>
          <p:cNvSpPr txBox="1"/>
          <p:nvPr/>
        </p:nvSpPr>
        <p:spPr>
          <a:xfrm>
            <a:off x="548640" y="1371600"/>
            <a:ext cx="4937760" cy="548640"/>
          </a:xfrm>
          <a:prstGeom prst="roundRect">
            <a:avLst>
              <a:gd name="adj" fmla="val 20000"/>
            </a:avLst>
          </a:prstGeom>
          <a:solidFill>
            <a:srgbClr val="1F2A44"/>
          </a:solidFill>
          <a:ln w="12700">
            <a:solidFill>
              <a:srgbClr val="1F2A44"/>
            </a:solidFill>
            <a:prstDash val="solid"/>
          </a:ln>
        </p:spPr>
        <p:txBody>
          <a:bodyPr wrap="square" lIns="76200" tIns="76200" rIns="76200" bIns="762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REQUIRED</a:t>
            </a:r>
            <a:endParaRPr lang="en-US" sz="1600" dirty="0"/>
          </a:p>
        </p:txBody>
      </p:sp>
      <p:sp>
        <p:nvSpPr>
          <p:cNvPr id="4" name="Text 2"/>
          <p:cNvSpPr txBox="1"/>
          <p:nvPr/>
        </p:nvSpPr>
        <p:spPr>
          <a:xfrm>
            <a:off x="6309360" y="1371600"/>
            <a:ext cx="5349240" cy="548640"/>
          </a:xfrm>
          <a:prstGeom prst="roundRect">
            <a:avLst>
              <a:gd name="adj" fmla="val 20000"/>
            </a:avLst>
          </a:prstGeom>
          <a:solidFill>
            <a:srgbClr val="0F7C7A"/>
          </a:solidFill>
          <a:ln w="12700">
            <a:solidFill>
              <a:srgbClr val="0F7C7A"/>
            </a:solidFill>
            <a:prstDash val="solid"/>
          </a:ln>
        </p:spPr>
        <p:txBody>
          <a:bodyPr wrap="square" lIns="76200" tIns="76200" rIns="76200" bIns="762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ADDED BY US</a:t>
            </a:r>
            <a:endParaRPr lang="en-US" sz="1600" dirty="0"/>
          </a:p>
        </p:txBody>
      </p:sp>
      <p:sp>
        <p:nvSpPr>
          <p:cNvPr id="5" name="Text 3"/>
          <p:cNvSpPr txBox="1"/>
          <p:nvPr/>
        </p:nvSpPr>
        <p:spPr>
          <a:xfrm>
            <a:off x="548640" y="2103120"/>
            <a:ext cx="4937760" cy="502920"/>
          </a:xfrm>
          <a:prstGeom prst="roundRect">
            <a:avLst>
              <a:gd name="adj" fmla="val 21818"/>
            </a:avLst>
          </a:prstGeom>
          <a:solidFill>
            <a:srgbClr val="F1F3F6"/>
          </a:solidFill>
          <a:ln w="12700">
            <a:solidFill>
              <a:srgbClr val="F1F3F6"/>
            </a:solidFill>
            <a:prstDash val="solid"/>
          </a:ln>
        </p:spPr>
        <p:txBody>
          <a:bodyPr wrap="square" lIns="177800" tIns="177800" rIns="177800" bIns="177800" rtlCol="0" anchor="ctr"/>
          <a:lstStyle/>
          <a:p>
            <a:pPr algn="l" indent="0" marL="0">
              <a:buNone/>
            </a:pPr>
            <a:r>
              <a:rPr lang="en-US" sz="1600" dirty="0">
                <a:solidFill>
                  <a:srgbClr val="1F2A44"/>
                </a:solidFill>
                <a:latin typeface="Calibri" pitchFamily="34" charset="0"/>
                <a:ea typeface="Calibri" pitchFamily="34" charset="-122"/>
                <a:cs typeface="Calibri" pitchFamily="34" charset="-120"/>
              </a:rPr>
              <a:t>Atomic task extraction</a:t>
            </a:r>
            <a:endParaRPr lang="en-US" sz="1600" dirty="0"/>
          </a:p>
        </p:txBody>
      </p:sp>
      <p:sp>
        <p:nvSpPr>
          <p:cNvPr id="6" name="Text 4"/>
          <p:cNvSpPr txBox="1"/>
          <p:nvPr/>
        </p:nvSpPr>
        <p:spPr>
          <a:xfrm>
            <a:off x="548640" y="2724912"/>
            <a:ext cx="4937760" cy="502920"/>
          </a:xfrm>
          <a:prstGeom prst="roundRect">
            <a:avLst>
              <a:gd name="adj" fmla="val 21818"/>
            </a:avLst>
          </a:prstGeom>
          <a:solidFill>
            <a:srgbClr val="F1F3F6"/>
          </a:solidFill>
          <a:ln w="12700">
            <a:solidFill>
              <a:srgbClr val="F1F3F6"/>
            </a:solidFill>
            <a:prstDash val="solid"/>
          </a:ln>
        </p:spPr>
        <p:txBody>
          <a:bodyPr wrap="square" lIns="177800" tIns="177800" rIns="177800" bIns="177800" rtlCol="0" anchor="ctr"/>
          <a:lstStyle/>
          <a:p>
            <a:pPr algn="l" indent="0" marL="0">
              <a:buNone/>
            </a:pPr>
            <a:r>
              <a:rPr lang="en-US" sz="1600" dirty="0">
                <a:solidFill>
                  <a:srgbClr val="1F2A44"/>
                </a:solidFill>
                <a:latin typeface="Calibri" pitchFamily="34" charset="0"/>
                <a:ea typeface="Calibri" pitchFamily="34" charset="-122"/>
                <a:cs typeface="Calibri" pitchFamily="34" charset="-120"/>
              </a:rPr>
              <a:t>Caching</a:t>
            </a:r>
            <a:endParaRPr lang="en-US" sz="1600" dirty="0"/>
          </a:p>
        </p:txBody>
      </p:sp>
      <p:sp>
        <p:nvSpPr>
          <p:cNvPr id="7" name="Text 5"/>
          <p:cNvSpPr txBox="1"/>
          <p:nvPr/>
        </p:nvSpPr>
        <p:spPr>
          <a:xfrm>
            <a:off x="548640" y="3346704"/>
            <a:ext cx="4937760" cy="502920"/>
          </a:xfrm>
          <a:prstGeom prst="roundRect">
            <a:avLst>
              <a:gd name="adj" fmla="val 21818"/>
            </a:avLst>
          </a:prstGeom>
          <a:solidFill>
            <a:srgbClr val="F1F3F6"/>
          </a:solidFill>
          <a:ln w="12700">
            <a:solidFill>
              <a:srgbClr val="F1F3F6"/>
            </a:solidFill>
            <a:prstDash val="solid"/>
          </a:ln>
        </p:spPr>
        <p:txBody>
          <a:bodyPr wrap="square" lIns="177800" tIns="177800" rIns="177800" bIns="177800" rtlCol="0" anchor="ctr"/>
          <a:lstStyle/>
          <a:p>
            <a:pPr algn="l" indent="0" marL="0">
              <a:buNone/>
            </a:pPr>
            <a:r>
              <a:rPr lang="en-US" sz="1600" dirty="0">
                <a:solidFill>
                  <a:srgbClr val="1F2A44"/>
                </a:solidFill>
                <a:latin typeface="Calibri" pitchFamily="34" charset="0"/>
                <a:ea typeface="Calibri" pitchFamily="34" charset="-122"/>
                <a:cs typeface="Calibri" pitchFamily="34" charset="-120"/>
              </a:rPr>
              <a:t>100 human-labelled postings</a:t>
            </a:r>
            <a:endParaRPr lang="en-US" sz="1600" dirty="0"/>
          </a:p>
        </p:txBody>
      </p:sp>
      <p:sp>
        <p:nvSpPr>
          <p:cNvPr id="8" name="Text 6"/>
          <p:cNvSpPr txBox="1"/>
          <p:nvPr/>
        </p:nvSpPr>
        <p:spPr>
          <a:xfrm>
            <a:off x="548640" y="3968496"/>
            <a:ext cx="4937760" cy="502920"/>
          </a:xfrm>
          <a:prstGeom prst="roundRect">
            <a:avLst>
              <a:gd name="adj" fmla="val 21818"/>
            </a:avLst>
          </a:prstGeom>
          <a:solidFill>
            <a:srgbClr val="F1F3F6"/>
          </a:solidFill>
          <a:ln w="12700">
            <a:solidFill>
              <a:srgbClr val="F1F3F6"/>
            </a:solidFill>
            <a:prstDash val="solid"/>
          </a:ln>
        </p:spPr>
        <p:txBody>
          <a:bodyPr wrap="square" lIns="177800" tIns="177800" rIns="177800" bIns="177800" rtlCol="0" anchor="ctr"/>
          <a:lstStyle/>
          <a:p>
            <a:pPr algn="l" indent="0" marL="0">
              <a:buNone/>
            </a:pPr>
            <a:r>
              <a:rPr lang="en-US" sz="1600" dirty="0">
                <a:solidFill>
                  <a:srgbClr val="1F2A44"/>
                </a:solidFill>
                <a:latin typeface="Calibri" pitchFamily="34" charset="0"/>
                <a:ea typeface="Calibri" pitchFamily="34" charset="-122"/>
                <a:cs typeface="Calibri" pitchFamily="34" charset="-120"/>
              </a:rPr>
              <a:t>Precision / recall / F1</a:t>
            </a:r>
            <a:endParaRPr lang="en-US" sz="1600" dirty="0"/>
          </a:p>
        </p:txBody>
      </p:sp>
      <p:sp>
        <p:nvSpPr>
          <p:cNvPr id="9" name="Text 7"/>
          <p:cNvSpPr txBox="1"/>
          <p:nvPr/>
        </p:nvSpPr>
        <p:spPr>
          <a:xfrm>
            <a:off x="6309360" y="2103120"/>
            <a:ext cx="5349240" cy="502920"/>
          </a:xfrm>
          <a:prstGeom prst="roundRect">
            <a:avLst>
              <a:gd name="adj" fmla="val 21818"/>
            </a:avLst>
          </a:prstGeom>
          <a:solidFill>
            <a:srgbClr val="D7EEEC"/>
          </a:solidFill>
          <a:ln w="12700">
            <a:solidFill>
              <a:srgbClr val="D7EEEC"/>
            </a:solidFill>
            <a:prstDash val="solid"/>
          </a:ln>
        </p:spPr>
        <p:txBody>
          <a:bodyPr wrap="square" lIns="177800" tIns="177800" rIns="177800" bIns="177800" rtlCol="0" anchor="ctr"/>
          <a:lstStyle/>
          <a:p>
            <a:pPr algn="l" indent="0" marL="0">
              <a:buNone/>
            </a:pPr>
            <a:r>
              <a:rPr lang="en-US" sz="1600" dirty="0">
                <a:solidFill>
                  <a:srgbClr val="1F2A44"/>
                </a:solidFill>
                <a:latin typeface="Calibri" pitchFamily="34" charset="0"/>
                <a:ea typeface="Calibri" pitchFamily="34" charset="-122"/>
                <a:cs typeface="Calibri" pitchFamily="34" charset="-120"/>
              </a:rPr>
              <a:t>Two models + disagreement tracking</a:t>
            </a:r>
            <a:endParaRPr lang="en-US" sz="1600" dirty="0"/>
          </a:p>
        </p:txBody>
      </p:sp>
      <p:sp>
        <p:nvSpPr>
          <p:cNvPr id="10" name="Text 8"/>
          <p:cNvSpPr txBox="1"/>
          <p:nvPr/>
        </p:nvSpPr>
        <p:spPr>
          <a:xfrm>
            <a:off x="6309360" y="2724912"/>
            <a:ext cx="5349240" cy="502920"/>
          </a:xfrm>
          <a:prstGeom prst="roundRect">
            <a:avLst>
              <a:gd name="adj" fmla="val 21818"/>
            </a:avLst>
          </a:prstGeom>
          <a:solidFill>
            <a:srgbClr val="D7EEEC"/>
          </a:solidFill>
          <a:ln w="12700">
            <a:solidFill>
              <a:srgbClr val="D7EEEC"/>
            </a:solidFill>
            <a:prstDash val="solid"/>
          </a:ln>
        </p:spPr>
        <p:txBody>
          <a:bodyPr wrap="square" lIns="177800" tIns="177800" rIns="177800" bIns="177800" rtlCol="0" anchor="ctr"/>
          <a:lstStyle/>
          <a:p>
            <a:pPr algn="l" indent="0" marL="0">
              <a:buNone/>
            </a:pPr>
            <a:r>
              <a:rPr lang="en-US" sz="1600" dirty="0">
                <a:solidFill>
                  <a:srgbClr val="1F2A44"/>
                </a:solidFill>
                <a:latin typeface="Calibri" pitchFamily="34" charset="0"/>
                <a:ea typeface="Calibri" pitchFamily="34" charset="-122"/>
                <a:cs typeface="Calibri" pitchFamily="34" charset="-120"/>
              </a:rPr>
              <a:t>Evidence-span validation</a:t>
            </a:r>
            <a:endParaRPr lang="en-US" sz="1600" dirty="0"/>
          </a:p>
        </p:txBody>
      </p:sp>
      <p:sp>
        <p:nvSpPr>
          <p:cNvPr id="11" name="Text 9"/>
          <p:cNvSpPr txBox="1"/>
          <p:nvPr/>
        </p:nvSpPr>
        <p:spPr>
          <a:xfrm>
            <a:off x="6309360" y="3346704"/>
            <a:ext cx="5349240" cy="502920"/>
          </a:xfrm>
          <a:prstGeom prst="roundRect">
            <a:avLst>
              <a:gd name="adj" fmla="val 21818"/>
            </a:avLst>
          </a:prstGeom>
          <a:solidFill>
            <a:srgbClr val="D7EEEC"/>
          </a:solidFill>
          <a:ln w="12700">
            <a:solidFill>
              <a:srgbClr val="D7EEEC"/>
            </a:solidFill>
            <a:prstDash val="solid"/>
          </a:ln>
        </p:spPr>
        <p:txBody>
          <a:bodyPr wrap="square" lIns="177800" tIns="177800" rIns="177800" bIns="177800" rtlCol="0" anchor="ctr"/>
          <a:lstStyle/>
          <a:p>
            <a:pPr algn="l" indent="0" marL="0">
              <a:buNone/>
            </a:pPr>
            <a:r>
              <a:rPr lang="en-US" sz="1600" dirty="0">
                <a:solidFill>
                  <a:srgbClr val="1F2A44"/>
                </a:solidFill>
                <a:latin typeface="Calibri" pitchFamily="34" charset="0"/>
                <a:ea typeface="Calibri" pitchFamily="34" charset="-122"/>
                <a:cs typeface="Calibri" pitchFamily="34" charset="-120"/>
              </a:rPr>
              <a:t>Frozen sample + text hashes</a:t>
            </a:r>
            <a:endParaRPr lang="en-US" sz="1600" dirty="0"/>
          </a:p>
        </p:txBody>
      </p:sp>
      <p:sp>
        <p:nvSpPr>
          <p:cNvPr id="12" name="Text 10"/>
          <p:cNvSpPr txBox="1"/>
          <p:nvPr/>
        </p:nvSpPr>
        <p:spPr>
          <a:xfrm>
            <a:off x="6309360" y="3968496"/>
            <a:ext cx="5349240" cy="502920"/>
          </a:xfrm>
          <a:prstGeom prst="roundRect">
            <a:avLst>
              <a:gd name="adj" fmla="val 21818"/>
            </a:avLst>
          </a:prstGeom>
          <a:solidFill>
            <a:srgbClr val="D7EEEC"/>
          </a:solidFill>
          <a:ln w="12700">
            <a:solidFill>
              <a:srgbClr val="D7EEEC"/>
            </a:solidFill>
            <a:prstDash val="solid"/>
          </a:ln>
        </p:spPr>
        <p:txBody>
          <a:bodyPr wrap="square" lIns="177800" tIns="177800" rIns="177800" bIns="177800" rtlCol="0" anchor="ctr"/>
          <a:lstStyle/>
          <a:p>
            <a:pPr algn="l" indent="0" marL="0">
              <a:buNone/>
            </a:pPr>
            <a:r>
              <a:rPr lang="en-US" sz="1600" dirty="0">
                <a:solidFill>
                  <a:srgbClr val="1F2A44"/>
                </a:solidFill>
                <a:latin typeface="Calibri" pitchFamily="34" charset="0"/>
                <a:ea typeface="Calibri" pitchFamily="34" charset="-122"/>
                <a:cs typeface="Calibri" pitchFamily="34" charset="-120"/>
              </a:rPr>
              <a:t>20-posting blind audit</a:t>
            </a:r>
            <a:endParaRPr lang="en-US" sz="1600" dirty="0"/>
          </a:p>
        </p:txBody>
      </p:sp>
      <p:sp>
        <p:nvSpPr>
          <p:cNvPr id="13" name="Text 11"/>
          <p:cNvSpPr txBox="1"/>
          <p:nvPr/>
        </p:nvSpPr>
        <p:spPr>
          <a:xfrm>
            <a:off x="6309360" y="4590288"/>
            <a:ext cx="5349240" cy="502920"/>
          </a:xfrm>
          <a:prstGeom prst="roundRect">
            <a:avLst>
              <a:gd name="adj" fmla="val 21818"/>
            </a:avLst>
          </a:prstGeom>
          <a:solidFill>
            <a:srgbClr val="D7EEEC"/>
          </a:solidFill>
          <a:ln w="12700">
            <a:solidFill>
              <a:srgbClr val="D7EEEC"/>
            </a:solidFill>
            <a:prstDash val="solid"/>
          </a:ln>
        </p:spPr>
        <p:txBody>
          <a:bodyPr wrap="square" lIns="177800" tIns="177800" rIns="177800" bIns="177800" rtlCol="0" anchor="ctr"/>
          <a:lstStyle/>
          <a:p>
            <a:pPr algn="l" indent="0" marL="0">
              <a:buNone/>
            </a:pPr>
            <a:r>
              <a:rPr lang="en-US" sz="1600" dirty="0">
                <a:solidFill>
                  <a:srgbClr val="1F2A44"/>
                </a:solidFill>
                <a:latin typeface="Calibri" pitchFamily="34" charset="0"/>
                <a:ea typeface="Calibri" pitchFamily="34" charset="-122"/>
                <a:cs typeface="Calibri" pitchFamily="34" charset="-120"/>
              </a:rPr>
              <a:t>Early O*NET alignment</a:t>
            </a:r>
            <a:endParaRPr lang="en-US" sz="1600" dirty="0"/>
          </a:p>
        </p:txBody>
      </p:sp>
      <p:sp>
        <p:nvSpPr>
          <p:cNvPr id="14" name="Text 12"/>
          <p:cNvSpPr txBox="1"/>
          <p:nvPr/>
        </p:nvSpPr>
        <p:spPr>
          <a:xfrm>
            <a:off x="6309360" y="5212080"/>
            <a:ext cx="5349240" cy="502920"/>
          </a:xfrm>
          <a:prstGeom prst="roundRect">
            <a:avLst>
              <a:gd name="adj" fmla="val 21818"/>
            </a:avLst>
          </a:prstGeom>
          <a:solidFill>
            <a:srgbClr val="D7EEEC"/>
          </a:solidFill>
          <a:ln w="12700">
            <a:solidFill>
              <a:srgbClr val="D7EEEC"/>
            </a:solidFill>
            <a:prstDash val="solid"/>
          </a:ln>
        </p:spPr>
        <p:txBody>
          <a:bodyPr wrap="square" lIns="177800" tIns="177800" rIns="177800" bIns="177800" rtlCol="0" anchor="ctr"/>
          <a:lstStyle/>
          <a:p>
            <a:pPr algn="l" indent="0" marL="0">
              <a:buNone/>
            </a:pPr>
            <a:r>
              <a:rPr lang="en-US" sz="1600" dirty="0">
                <a:solidFill>
                  <a:srgbClr val="1F2A44"/>
                </a:solidFill>
                <a:latin typeface="Calibri" pitchFamily="34" charset="0"/>
                <a:ea typeface="Calibri" pitchFamily="34" charset="-122"/>
                <a:cs typeface="Calibri" pitchFamily="34" charset="-120"/>
              </a:rPr>
              <a:t>Local embeddings · optional Claude provider</a:t>
            </a:r>
            <a:endParaRPr lang="en-US" sz="1600" dirty="0"/>
          </a:p>
        </p:txBody>
      </p:sp>
      <p:sp>
        <p:nvSpPr>
          <p:cNvPr id="15" name="Shape 13"/>
          <p:cNvSpPr/>
          <p:nvPr/>
        </p:nvSpPr>
        <p:spPr>
          <a:xfrm>
            <a:off x="5577840" y="3383280"/>
            <a:ext cx="640080" cy="0"/>
          </a:xfrm>
          <a:prstGeom prst="line">
            <a:avLst/>
          </a:prstGeom>
          <a:noFill/>
          <a:ln w="28575">
            <a:solidFill>
              <a:srgbClr val="0F7C7A"/>
            </a:solidFill>
            <a:prstDash val="solid"/>
            <a:tailEnd type="triangle"/>
          </a:ln>
        </p:spPr>
      </p:sp>
      <p:sp>
        <p:nvSpPr>
          <p:cNvPr id="16" name="Text 14"/>
          <p:cNvSpPr txBox="1"/>
          <p:nvPr/>
        </p:nvSpPr>
        <p:spPr>
          <a:xfrm>
            <a:off x="548640" y="5897880"/>
            <a:ext cx="11064240" cy="365760"/>
          </a:xfrm>
          <a:prstGeom prst="rect">
            <a:avLst/>
          </a:prstGeom>
          <a:noFill/>
          <a:ln/>
        </p:spPr>
        <p:txBody>
          <a:bodyPr wrap="square" lIns="0" tIns="0" rIns="0" bIns="0" rtlCol="0" anchor="t"/>
          <a:lstStyle/>
          <a:p>
            <a:pPr algn="l" indent="0" marL="0">
              <a:buNone/>
            </a:pPr>
            <a:r>
              <a:rPr lang="en-US" sz="1500" i="1" dirty="0">
                <a:solidFill>
                  <a:srgbClr val="1F2A44"/>
                </a:solidFill>
                <a:latin typeface="Calibri" pitchFamily="34" charset="0"/>
                <a:ea typeface="Calibri" pitchFamily="34" charset="-122"/>
                <a:cs typeface="Calibri" pitchFamily="34" charset="-120"/>
              </a:rPr>
              <a:t>Why: every number is reproducible, and every task can be traced back to the posting text.</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1F2A44"/>
                </a:solidFill>
                <a:latin typeface="Cambria" pitchFamily="34" charset="0"/>
                <a:ea typeface="Cambria" pitchFamily="34" charset="-122"/>
                <a:cs typeface="Cambria" pitchFamily="34" charset="-120"/>
              </a:rPr>
              <a:t>Where O*NET fits</a:t>
            </a:r>
            <a:endParaRPr lang="en-US" sz="3400" dirty="0"/>
          </a:p>
        </p:txBody>
      </p:sp>
      <p:sp>
        <p:nvSpPr>
          <p:cNvPr id="3" name="Text 1"/>
          <p:cNvSpPr txBox="1"/>
          <p:nvPr/>
        </p:nvSpPr>
        <p:spPr>
          <a:xfrm>
            <a:off x="548640" y="1325880"/>
            <a:ext cx="3657600" cy="274320"/>
          </a:xfrm>
          <a:prstGeom prst="rect">
            <a:avLst/>
          </a:prstGeom>
          <a:noFill/>
          <a:ln/>
        </p:spPr>
        <p:txBody>
          <a:bodyPr wrap="square" lIns="0" tIns="0" rIns="0" bIns="0" rtlCol="0" anchor="t"/>
          <a:lstStyle/>
          <a:p>
            <a:pPr algn="l" indent="0" marL="0">
              <a:buNone/>
            </a:pPr>
            <a:r>
              <a:rPr lang="en-US" sz="1200" b="1" dirty="0">
                <a:solidFill>
                  <a:srgbClr val="0F7C7A"/>
                </a:solidFill>
                <a:latin typeface="Calibri" pitchFamily="34" charset="0"/>
                <a:ea typeface="Calibri" pitchFamily="34" charset="-122"/>
                <a:cs typeface="Calibri" pitchFamily="34" charset="-120"/>
              </a:rPr>
              <a:t>OUR DIRECTION</a:t>
            </a:r>
            <a:endParaRPr lang="en-US" sz="1200" dirty="0"/>
          </a:p>
        </p:txBody>
      </p:sp>
      <p:sp>
        <p:nvSpPr>
          <p:cNvPr id="4" name="Text 2"/>
          <p:cNvSpPr txBox="1"/>
          <p:nvPr/>
        </p:nvSpPr>
        <p:spPr>
          <a:xfrm>
            <a:off x="548640" y="1691640"/>
            <a:ext cx="3017520" cy="1005840"/>
          </a:xfrm>
          <a:prstGeom prst="roundRect">
            <a:avLst>
              <a:gd name="adj" fmla="val 10909"/>
            </a:avLst>
          </a:prstGeom>
          <a:solidFill>
            <a:srgbClr val="F1F3F6"/>
          </a:solidFill>
          <a:ln w="12700">
            <a:solidFill>
              <a:srgbClr val="F1F3F6"/>
            </a:solidFill>
            <a:prstDash val="solid"/>
          </a:ln>
        </p:spPr>
        <p:txBody>
          <a:bodyPr wrap="square" lIns="76200" tIns="76200" rIns="76200" bIns="76200" rtlCol="0" anchor="ctr"/>
          <a:lstStyle/>
          <a:p>
            <a:pPr algn="ctr" indent="0" marL="0">
              <a:buNone/>
            </a:pPr>
            <a:r>
              <a:rPr lang="en-US" sz="1800" b="1" dirty="0">
                <a:solidFill>
                  <a:srgbClr val="1F2A44"/>
                </a:solidFill>
                <a:latin typeface="Calibri" pitchFamily="34" charset="0"/>
                <a:ea typeface="Calibri" pitchFamily="34" charset="-122"/>
                <a:cs typeface="Calibri" pitchFamily="34" charset="-120"/>
              </a:rPr>
              <a:t>Real job posting</a:t>
            </a:r>
            <a:endParaRPr lang="en-US" sz="1800" dirty="0"/>
          </a:p>
        </p:txBody>
      </p:sp>
      <p:sp>
        <p:nvSpPr>
          <p:cNvPr id="5" name="Text 3"/>
          <p:cNvSpPr txBox="1"/>
          <p:nvPr/>
        </p:nvSpPr>
        <p:spPr>
          <a:xfrm>
            <a:off x="4343400" y="1691640"/>
            <a:ext cx="3291840" cy="1005840"/>
          </a:xfrm>
          <a:prstGeom prst="roundRect">
            <a:avLst>
              <a:gd name="adj" fmla="val 10909"/>
            </a:avLst>
          </a:prstGeom>
          <a:solidFill>
            <a:srgbClr val="D7EEEC"/>
          </a:solidFill>
          <a:ln w="12700">
            <a:solidFill>
              <a:srgbClr val="D7EEEC"/>
            </a:solidFill>
            <a:prstDash val="solid"/>
          </a:ln>
        </p:spPr>
        <p:txBody>
          <a:bodyPr wrap="square" lIns="76200" tIns="76200" rIns="76200" bIns="76200" rtlCol="0" anchor="ctr"/>
          <a:lstStyle/>
          <a:p>
            <a:pPr algn="ctr" indent="0" marL="0">
              <a:buNone/>
            </a:pPr>
            <a:r>
              <a:rPr lang="en-US" sz="1800" b="1" dirty="0">
                <a:solidFill>
                  <a:srgbClr val="1F2A44"/>
                </a:solidFill>
                <a:latin typeface="Calibri" pitchFamily="34" charset="0"/>
                <a:ea typeface="Calibri" pitchFamily="34" charset="-122"/>
                <a:cs typeface="Calibri" pitchFamily="34" charset="-120"/>
              </a:rPr>
              <a:t>Extracted task</a:t>
            </a:r>
            <a:endParaRPr lang="en-US" sz="1800" dirty="0"/>
          </a:p>
          <a:p>
            <a:pPr algn="ctr" indent="0" marL="0">
              <a:buNone/>
            </a:pPr>
            <a:r>
              <a:rPr lang="en-US" sz="1200" b="1" dirty="0">
                <a:solidFill>
                  <a:srgbClr val="1F2A44"/>
                </a:solidFill>
                <a:latin typeface="Calibri" pitchFamily="34" charset="0"/>
                <a:ea typeface="Calibri" pitchFamily="34" charset="-122"/>
                <a:cs typeface="Calibri" pitchFamily="34" charset="-120"/>
              </a:rPr>
              <a:t>+ exact evidence span</a:t>
            </a:r>
            <a:endParaRPr lang="en-US" sz="1800" dirty="0"/>
          </a:p>
        </p:txBody>
      </p:sp>
      <p:sp>
        <p:nvSpPr>
          <p:cNvPr id="6" name="Text 4"/>
          <p:cNvSpPr txBox="1"/>
          <p:nvPr/>
        </p:nvSpPr>
        <p:spPr>
          <a:xfrm>
            <a:off x="8412480" y="1691640"/>
            <a:ext cx="3246120" cy="1005840"/>
          </a:xfrm>
          <a:prstGeom prst="roundRect">
            <a:avLst>
              <a:gd name="adj" fmla="val 10909"/>
            </a:avLst>
          </a:prstGeom>
          <a:solidFill>
            <a:srgbClr val="0F7C7A"/>
          </a:solidFill>
          <a:ln w="12700">
            <a:solidFill>
              <a:srgbClr val="0F7C7A"/>
            </a:solidFill>
            <a:prstDash val="solid"/>
          </a:ln>
        </p:spPr>
        <p:txBody>
          <a:bodyPr wrap="square" lIns="76200" tIns="76200" rIns="76200" bIns="762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O*NET alignment</a:t>
            </a:r>
            <a:endParaRPr lang="en-US" sz="1800" dirty="0"/>
          </a:p>
          <a:p>
            <a:pPr algn="ctr" indent="0" marL="0">
              <a:buNone/>
            </a:pPr>
            <a:r>
              <a:rPr lang="en-US" sz="1200" b="1" dirty="0">
                <a:solidFill>
                  <a:srgbClr val="FFFFFF"/>
                </a:solidFill>
                <a:latin typeface="Calibri" pitchFamily="34" charset="0"/>
                <a:ea typeface="Calibri" pitchFamily="34" charset="-122"/>
                <a:cs typeface="Calibri" pitchFamily="34" charset="-120"/>
              </a:rPr>
              <a:t>local embeddings · top-10 candidates</a:t>
            </a:r>
            <a:endParaRPr lang="en-US" sz="1800" dirty="0"/>
          </a:p>
        </p:txBody>
      </p:sp>
      <p:sp>
        <p:nvSpPr>
          <p:cNvPr id="7" name="Shape 5"/>
          <p:cNvSpPr/>
          <p:nvPr/>
        </p:nvSpPr>
        <p:spPr>
          <a:xfrm>
            <a:off x="3611880" y="2194560"/>
            <a:ext cx="685800" cy="0"/>
          </a:xfrm>
          <a:prstGeom prst="line">
            <a:avLst/>
          </a:prstGeom>
          <a:noFill/>
          <a:ln w="28575">
            <a:solidFill>
              <a:srgbClr val="0F7C7A"/>
            </a:solidFill>
            <a:prstDash val="solid"/>
            <a:tailEnd type="triangle"/>
          </a:ln>
        </p:spPr>
      </p:sp>
      <p:sp>
        <p:nvSpPr>
          <p:cNvPr id="8" name="Shape 6"/>
          <p:cNvSpPr/>
          <p:nvPr/>
        </p:nvSpPr>
        <p:spPr>
          <a:xfrm>
            <a:off x="7680960" y="2194560"/>
            <a:ext cx="685800" cy="0"/>
          </a:xfrm>
          <a:prstGeom prst="line">
            <a:avLst/>
          </a:prstGeom>
          <a:noFill/>
          <a:ln w="28575">
            <a:solidFill>
              <a:srgbClr val="0F7C7A"/>
            </a:solidFill>
            <a:prstDash val="solid"/>
            <a:tailEnd type="triangle"/>
          </a:ln>
        </p:spPr>
      </p:sp>
      <p:sp>
        <p:nvSpPr>
          <p:cNvPr id="9" name="Text 7"/>
          <p:cNvSpPr txBox="1"/>
          <p:nvPr/>
        </p:nvSpPr>
        <p:spPr>
          <a:xfrm>
            <a:off x="548640" y="3017520"/>
            <a:ext cx="3657600" cy="274320"/>
          </a:xfrm>
          <a:prstGeom prst="rect">
            <a:avLst/>
          </a:prstGeom>
          <a:noFill/>
          <a:ln/>
        </p:spPr>
        <p:txBody>
          <a:bodyPr wrap="square" lIns="0" tIns="0" rIns="0" bIns="0" rtlCol="0" anchor="t"/>
          <a:lstStyle/>
          <a:p>
            <a:pPr algn="l" indent="0" marL="0">
              <a:buNone/>
            </a:pPr>
            <a:r>
              <a:rPr lang="en-US" sz="1200" b="1" dirty="0">
                <a:solidFill>
                  <a:srgbClr val="B8433A"/>
                </a:solidFill>
                <a:latin typeface="Calibri" pitchFamily="34" charset="0"/>
                <a:ea typeface="Calibri" pitchFamily="34" charset="-122"/>
                <a:cs typeface="Calibri" pitchFamily="34" charset="-120"/>
              </a:rPr>
              <a:t>NOT THIS</a:t>
            </a:r>
            <a:endParaRPr lang="en-US" sz="1200" dirty="0"/>
          </a:p>
        </p:txBody>
      </p:sp>
      <p:sp>
        <p:nvSpPr>
          <p:cNvPr id="10" name="Text 8"/>
          <p:cNvSpPr txBox="1"/>
          <p:nvPr/>
        </p:nvSpPr>
        <p:spPr>
          <a:xfrm>
            <a:off x="548640" y="3337560"/>
            <a:ext cx="3017520" cy="685800"/>
          </a:xfrm>
          <a:prstGeom prst="roundRect">
            <a:avLst>
              <a:gd name="adj" fmla="val 16000"/>
            </a:avLst>
          </a:prstGeom>
          <a:solidFill>
            <a:srgbClr val="F6DCD9"/>
          </a:solidFill>
          <a:ln w="12700">
            <a:solidFill>
              <a:srgbClr val="B8433A"/>
            </a:solidFill>
            <a:prstDash val="dash"/>
          </a:ln>
        </p:spPr>
        <p:txBody>
          <a:bodyPr wrap="square" lIns="76200" tIns="76200" rIns="76200" bIns="76200" rtlCol="0" anchor="ctr"/>
          <a:lstStyle/>
          <a:p>
            <a:pPr algn="ctr" indent="0" marL="0">
              <a:buNone/>
            </a:pPr>
            <a:r>
              <a:rPr lang="en-US" sz="1600" b="1" dirty="0">
                <a:solidFill>
                  <a:srgbClr val="B8433A"/>
                </a:solidFill>
                <a:latin typeface="Calibri" pitchFamily="34" charset="0"/>
                <a:ea typeface="Calibri" pitchFamily="34" charset="-122"/>
                <a:cs typeface="Calibri" pitchFamily="34" charset="-120"/>
              </a:rPr>
              <a:t>O*NET</a:t>
            </a:r>
            <a:endParaRPr lang="en-US" sz="1600" dirty="0"/>
          </a:p>
        </p:txBody>
      </p:sp>
      <p:sp>
        <p:nvSpPr>
          <p:cNvPr id="11" name="Text 9"/>
          <p:cNvSpPr txBox="1"/>
          <p:nvPr/>
        </p:nvSpPr>
        <p:spPr>
          <a:xfrm>
            <a:off x="4343400" y="3337560"/>
            <a:ext cx="3291840" cy="685800"/>
          </a:xfrm>
          <a:prstGeom prst="roundRect">
            <a:avLst>
              <a:gd name="adj" fmla="val 16000"/>
            </a:avLst>
          </a:prstGeom>
          <a:solidFill>
            <a:srgbClr val="F6DCD9"/>
          </a:solidFill>
          <a:ln w="12700">
            <a:solidFill>
              <a:srgbClr val="B8433A"/>
            </a:solidFill>
            <a:prstDash val="dash"/>
          </a:ln>
        </p:spPr>
        <p:txBody>
          <a:bodyPr wrap="square" lIns="76200" tIns="76200" rIns="76200" bIns="76200" rtlCol="0" anchor="ctr"/>
          <a:lstStyle/>
          <a:p>
            <a:pPr algn="ctr" indent="0" marL="0">
              <a:buNone/>
            </a:pPr>
            <a:r>
              <a:rPr lang="en-US" sz="1600" b="1" dirty="0">
                <a:solidFill>
                  <a:srgbClr val="B8433A"/>
                </a:solidFill>
                <a:latin typeface="Calibri" pitchFamily="34" charset="0"/>
                <a:ea typeface="Calibri" pitchFamily="34" charset="-122"/>
                <a:cs typeface="Calibri" pitchFamily="34" charset="-120"/>
              </a:rPr>
              <a:t>Generated task</a:t>
            </a:r>
            <a:endParaRPr lang="en-US" sz="1600" dirty="0"/>
          </a:p>
        </p:txBody>
      </p:sp>
      <p:sp>
        <p:nvSpPr>
          <p:cNvPr id="12" name="Shape 10"/>
          <p:cNvSpPr/>
          <p:nvPr/>
        </p:nvSpPr>
        <p:spPr>
          <a:xfrm>
            <a:off x="3611880" y="3680460"/>
            <a:ext cx="685800" cy="0"/>
          </a:xfrm>
          <a:prstGeom prst="line">
            <a:avLst/>
          </a:prstGeom>
          <a:noFill/>
          <a:ln w="28575">
            <a:solidFill>
              <a:srgbClr val="B8433A"/>
            </a:solidFill>
            <a:prstDash val="dash"/>
            <a:tailEnd type="triangle"/>
          </a:ln>
        </p:spPr>
      </p:sp>
      <p:sp>
        <p:nvSpPr>
          <p:cNvPr id="13" name="Text 11"/>
          <p:cNvSpPr txBox="1"/>
          <p:nvPr/>
        </p:nvSpPr>
        <p:spPr>
          <a:xfrm>
            <a:off x="8412480" y="3474720"/>
            <a:ext cx="3246120" cy="411480"/>
          </a:xfrm>
          <a:prstGeom prst="rect">
            <a:avLst/>
          </a:prstGeom>
          <a:noFill/>
          <a:ln/>
        </p:spPr>
        <p:txBody>
          <a:bodyPr wrap="square" lIns="0" tIns="0" rIns="0" bIns="0" rtlCol="0" anchor="ctr"/>
          <a:lstStyle/>
          <a:p>
            <a:pPr algn="l" indent="0" marL="0">
              <a:buNone/>
            </a:pPr>
            <a:r>
              <a:rPr lang="en-US" sz="1500" b="1" dirty="0">
                <a:solidFill>
                  <a:srgbClr val="B8433A"/>
                </a:solidFill>
                <a:latin typeface="Calibri" pitchFamily="34" charset="0"/>
                <a:ea typeface="Calibri" pitchFamily="34" charset="-122"/>
                <a:cs typeface="Calibri" pitchFamily="34" charset="-120"/>
              </a:rPr>
              <a:t>✕  O*NET is never used to write tasks</a:t>
            </a:r>
            <a:endParaRPr lang="en-US" sz="1500" dirty="0"/>
          </a:p>
        </p:txBody>
      </p:sp>
      <p:sp>
        <p:nvSpPr>
          <p:cNvPr id="14" name="Text 12"/>
          <p:cNvSpPr txBox="1"/>
          <p:nvPr/>
        </p:nvSpPr>
        <p:spPr>
          <a:xfrm>
            <a:off x="548640" y="4343400"/>
            <a:ext cx="5486400" cy="274320"/>
          </a:xfrm>
          <a:prstGeom prst="rect">
            <a:avLst/>
          </a:prstGeom>
          <a:noFill/>
          <a:ln/>
        </p:spPr>
        <p:txBody>
          <a:bodyPr wrap="square" lIns="0" tIns="0" rIns="0" bIns="0" rtlCol="0" anchor="t"/>
          <a:lstStyle/>
          <a:p>
            <a:pPr algn="l" indent="0" marL="0">
              <a:buNone/>
            </a:pPr>
            <a:r>
              <a:rPr lang="en-US" sz="1200" b="1" dirty="0">
                <a:solidFill>
                  <a:srgbClr val="1F2A44"/>
                </a:solidFill>
                <a:latin typeface="Calibri" pitchFamily="34" charset="0"/>
                <a:ea typeface="Calibri" pitchFamily="34" charset="-122"/>
                <a:cs typeface="Calibri" pitchFamily="34" charset="-120"/>
              </a:rPr>
              <a:t>3,479 VALID TASKS ALIGNED</a:t>
            </a:r>
            <a:endParaRPr lang="en-US" sz="1200" dirty="0"/>
          </a:p>
        </p:txBody>
      </p:sp>
      <p:sp>
        <p:nvSpPr>
          <p:cNvPr id="15" name="Text 13"/>
          <p:cNvSpPr txBox="1"/>
          <p:nvPr/>
        </p:nvSpPr>
        <p:spPr>
          <a:xfrm>
            <a:off x="548640" y="4572000"/>
            <a:ext cx="3291840" cy="685800"/>
          </a:xfrm>
          <a:prstGeom prst="rect">
            <a:avLst/>
          </a:prstGeom>
          <a:noFill/>
          <a:ln/>
        </p:spPr>
        <p:txBody>
          <a:bodyPr wrap="square" lIns="0" tIns="0" rIns="0" bIns="0" rtlCol="0" anchor="b"/>
          <a:lstStyle/>
          <a:p>
            <a:pPr algn="ctr" indent="0" marL="0">
              <a:buNone/>
            </a:pPr>
            <a:r>
              <a:rPr lang="en-US" sz="4000" b="1" dirty="0">
                <a:solidFill>
                  <a:srgbClr val="0F7C7A"/>
                </a:solidFill>
                <a:latin typeface="Cambria" pitchFamily="34" charset="0"/>
                <a:ea typeface="Cambria" pitchFamily="34" charset="-122"/>
                <a:cs typeface="Cambria" pitchFamily="34" charset="-120"/>
              </a:rPr>
              <a:t>286</a:t>
            </a:r>
            <a:endParaRPr lang="en-US" sz="4000" dirty="0"/>
          </a:p>
        </p:txBody>
      </p:sp>
      <p:sp>
        <p:nvSpPr>
          <p:cNvPr id="16" name="Text 14"/>
          <p:cNvSpPr txBox="1"/>
          <p:nvPr/>
        </p:nvSpPr>
        <p:spPr>
          <a:xfrm>
            <a:off x="548640" y="5303520"/>
            <a:ext cx="3291840" cy="457200"/>
          </a:xfrm>
          <a:prstGeom prst="rect">
            <a:avLst/>
          </a:prstGeom>
          <a:noFill/>
          <a:ln/>
        </p:spPr>
        <p:txBody>
          <a:bodyPr wrap="square" lIns="0" tIns="0" rIns="0" bIns="0" rtlCol="0" anchor="t"/>
          <a:lstStyle/>
          <a:p>
            <a:pPr algn="ctr" indent="0" marL="0">
              <a:buNone/>
            </a:pPr>
            <a:r>
              <a:rPr lang="en-US" sz="1300" dirty="0">
                <a:solidFill>
                  <a:srgbClr val="5B6577"/>
                </a:solidFill>
                <a:latin typeface="Calibri" pitchFamily="34" charset="0"/>
                <a:ea typeface="Calibri" pitchFamily="34" charset="-122"/>
                <a:cs typeface="Calibri" pitchFamily="34" charset="-120"/>
              </a:rPr>
              <a:t>accepted candidates</a:t>
            </a:r>
            <a:endParaRPr lang="en-US" sz="1300" dirty="0"/>
          </a:p>
        </p:txBody>
      </p:sp>
      <p:sp>
        <p:nvSpPr>
          <p:cNvPr id="17" name="Text 15"/>
          <p:cNvSpPr txBox="1"/>
          <p:nvPr/>
        </p:nvSpPr>
        <p:spPr>
          <a:xfrm>
            <a:off x="4343400" y="4572000"/>
            <a:ext cx="3291840" cy="685800"/>
          </a:xfrm>
          <a:prstGeom prst="rect">
            <a:avLst/>
          </a:prstGeom>
          <a:noFill/>
          <a:ln/>
        </p:spPr>
        <p:txBody>
          <a:bodyPr wrap="square" lIns="0" tIns="0" rIns="0" bIns="0" rtlCol="0" anchor="b"/>
          <a:lstStyle/>
          <a:p>
            <a:pPr algn="ctr" indent="0" marL="0">
              <a:buNone/>
            </a:pPr>
            <a:r>
              <a:rPr lang="en-US" sz="4000" b="1" dirty="0">
                <a:solidFill>
                  <a:srgbClr val="E39B2D"/>
                </a:solidFill>
                <a:latin typeface="Cambria" pitchFamily="34" charset="0"/>
                <a:ea typeface="Cambria" pitchFamily="34" charset="-122"/>
                <a:cs typeface="Cambria" pitchFamily="34" charset="-120"/>
              </a:rPr>
              <a:t>2,503</a:t>
            </a:r>
            <a:endParaRPr lang="en-US" sz="4000" dirty="0"/>
          </a:p>
        </p:txBody>
      </p:sp>
      <p:sp>
        <p:nvSpPr>
          <p:cNvPr id="18" name="Text 16"/>
          <p:cNvSpPr txBox="1"/>
          <p:nvPr/>
        </p:nvSpPr>
        <p:spPr>
          <a:xfrm>
            <a:off x="4343400" y="5303520"/>
            <a:ext cx="3291840" cy="457200"/>
          </a:xfrm>
          <a:prstGeom prst="rect">
            <a:avLst/>
          </a:prstGeom>
          <a:noFill/>
          <a:ln/>
        </p:spPr>
        <p:txBody>
          <a:bodyPr wrap="square" lIns="0" tIns="0" rIns="0" bIns="0" rtlCol="0" anchor="t"/>
          <a:lstStyle/>
          <a:p>
            <a:pPr algn="ctr" indent="0" marL="0">
              <a:buNone/>
            </a:pPr>
            <a:r>
              <a:rPr lang="en-US" sz="1300" dirty="0">
                <a:solidFill>
                  <a:srgbClr val="5B6577"/>
                </a:solidFill>
                <a:latin typeface="Calibri" pitchFamily="34" charset="0"/>
                <a:ea typeface="Calibri" pitchFamily="34" charset="-122"/>
                <a:cs typeface="Calibri" pitchFamily="34" charset="-120"/>
              </a:rPr>
              <a:t>review candidates</a:t>
            </a:r>
            <a:endParaRPr lang="en-US" sz="1300" dirty="0"/>
          </a:p>
        </p:txBody>
      </p:sp>
      <p:sp>
        <p:nvSpPr>
          <p:cNvPr id="19" name="Text 17"/>
          <p:cNvSpPr txBox="1"/>
          <p:nvPr/>
        </p:nvSpPr>
        <p:spPr>
          <a:xfrm>
            <a:off x="8366760" y="4572000"/>
            <a:ext cx="3291840" cy="685800"/>
          </a:xfrm>
          <a:prstGeom prst="rect">
            <a:avLst/>
          </a:prstGeom>
          <a:noFill/>
          <a:ln/>
        </p:spPr>
        <p:txBody>
          <a:bodyPr wrap="square" lIns="0" tIns="0" rIns="0" bIns="0" rtlCol="0" anchor="b"/>
          <a:lstStyle/>
          <a:p>
            <a:pPr algn="ctr" indent="0" marL="0">
              <a:buNone/>
            </a:pPr>
            <a:r>
              <a:rPr lang="en-US" sz="4000" b="1" dirty="0">
                <a:solidFill>
                  <a:srgbClr val="5B6577"/>
                </a:solidFill>
                <a:latin typeface="Cambria" pitchFamily="34" charset="0"/>
                <a:ea typeface="Cambria" pitchFamily="34" charset="-122"/>
                <a:cs typeface="Cambria" pitchFamily="34" charset="-120"/>
              </a:rPr>
              <a:t>690</a:t>
            </a:r>
            <a:endParaRPr lang="en-US" sz="4000" dirty="0"/>
          </a:p>
        </p:txBody>
      </p:sp>
      <p:sp>
        <p:nvSpPr>
          <p:cNvPr id="20" name="Text 18"/>
          <p:cNvSpPr txBox="1"/>
          <p:nvPr/>
        </p:nvSpPr>
        <p:spPr>
          <a:xfrm>
            <a:off x="8366760" y="5303520"/>
            <a:ext cx="3291840" cy="457200"/>
          </a:xfrm>
          <a:prstGeom prst="rect">
            <a:avLst/>
          </a:prstGeom>
          <a:noFill/>
          <a:ln/>
        </p:spPr>
        <p:txBody>
          <a:bodyPr wrap="square" lIns="0" tIns="0" rIns="0" bIns="0" rtlCol="0" anchor="t"/>
          <a:lstStyle/>
          <a:p>
            <a:pPr algn="ctr" indent="0" marL="0">
              <a:buNone/>
            </a:pPr>
            <a:r>
              <a:rPr lang="en-US" sz="1300" dirty="0">
                <a:solidFill>
                  <a:srgbClr val="5B6577"/>
                </a:solidFill>
                <a:latin typeface="Calibri" pitchFamily="34" charset="0"/>
                <a:ea typeface="Calibri" pitchFamily="34" charset="-122"/>
                <a:cs typeface="Calibri" pitchFamily="34" charset="-120"/>
              </a:rPr>
              <a:t>unmatched</a:t>
            </a:r>
            <a:endParaRPr lang="en-US" sz="1300" dirty="0"/>
          </a:p>
        </p:txBody>
      </p:sp>
      <p:sp>
        <p:nvSpPr>
          <p:cNvPr id="21" name="Text 19"/>
          <p:cNvSpPr txBox="1"/>
          <p:nvPr/>
        </p:nvSpPr>
        <p:spPr>
          <a:xfrm>
            <a:off x="548640" y="5989320"/>
            <a:ext cx="11064240" cy="320040"/>
          </a:xfrm>
          <a:prstGeom prst="rect">
            <a:avLst/>
          </a:prstGeom>
          <a:noFill/>
          <a:ln/>
        </p:spPr>
        <p:txBody>
          <a:bodyPr wrap="square" lIns="0" tIns="0" rIns="0" bIns="0" rtlCol="0" anchor="t"/>
          <a:lstStyle/>
          <a:p>
            <a:pPr algn="l" indent="0" marL="0">
              <a:buNone/>
            </a:pPr>
            <a:r>
              <a:rPr lang="en-US" sz="1300" i="1" dirty="0">
                <a:solidFill>
                  <a:srgbClr val="5B6577"/>
                </a:solidFill>
                <a:latin typeface="Calibri" pitchFamily="34" charset="0"/>
                <a:ea typeface="Calibri" pitchFamily="34" charset="-122"/>
                <a:cs typeface="Calibri" pitchFamily="34" charset="-120"/>
              </a:rPr>
              <a:t>Candidate mappings; thresholds still require human calibration.</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1F2A44"/>
                </a:solidFill>
                <a:latin typeface="Cambria" pitchFamily="34" charset="0"/>
                <a:ea typeface="Cambria" pitchFamily="34" charset="-122"/>
                <a:cs typeface="Cambria" pitchFamily="34" charset="-120"/>
              </a:rPr>
              <a:t>Broader architecture</a:t>
            </a:r>
            <a:endParaRPr lang="en-US" sz="3400" dirty="0"/>
          </a:p>
        </p:txBody>
      </p:sp>
      <p:sp>
        <p:nvSpPr>
          <p:cNvPr id="3" name="Text 1"/>
          <p:cNvSpPr txBox="1"/>
          <p:nvPr/>
        </p:nvSpPr>
        <p:spPr>
          <a:xfrm>
            <a:off x="548640" y="2880360"/>
            <a:ext cx="2286000" cy="1188720"/>
          </a:xfrm>
          <a:prstGeom prst="roundRect">
            <a:avLst>
              <a:gd name="adj" fmla="val 9231"/>
            </a:avLst>
          </a:prstGeom>
          <a:solidFill>
            <a:srgbClr val="1F2A44"/>
          </a:solidFill>
          <a:ln w="12700">
            <a:solidFill>
              <a:srgbClr val="1F2A44"/>
            </a:solidFill>
            <a:prstDash val="solid"/>
          </a:ln>
        </p:spPr>
        <p:txBody>
          <a:bodyPr wrap="square" lIns="76200" tIns="76200" rIns="76200" bIns="762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Canonical posting</a:t>
            </a:r>
            <a:endParaRPr lang="en-US" sz="1700" dirty="0"/>
          </a:p>
          <a:p>
            <a:pPr algn="ctr" indent="0" marL="0">
              <a:buNone/>
            </a:pPr>
            <a:r>
              <a:rPr lang="en-US" sz="1400" b="1" dirty="0">
                <a:solidFill>
                  <a:srgbClr val="FFFFFF"/>
                </a:solidFill>
                <a:latin typeface="Courier New" pitchFamily="34" charset="0"/>
                <a:ea typeface="Courier New" pitchFamily="34" charset="-122"/>
                <a:cs typeface="Courier New" pitchFamily="34" charset="-120"/>
              </a:rPr>
              <a:t>posting_id</a:t>
            </a:r>
            <a:endParaRPr lang="en-US" sz="1700" dirty="0"/>
          </a:p>
        </p:txBody>
      </p:sp>
      <p:sp>
        <p:nvSpPr>
          <p:cNvPr id="4" name="Text 2"/>
          <p:cNvSpPr txBox="1"/>
          <p:nvPr/>
        </p:nvSpPr>
        <p:spPr>
          <a:xfrm>
            <a:off x="3657600" y="1600200"/>
            <a:ext cx="2651760" cy="914400"/>
          </a:xfrm>
          <a:prstGeom prst="roundRect">
            <a:avLst>
              <a:gd name="adj" fmla="val 12000"/>
            </a:avLst>
          </a:prstGeom>
          <a:solidFill>
            <a:srgbClr val="D7EEEC"/>
          </a:solidFill>
          <a:ln w="12700">
            <a:solidFill>
              <a:srgbClr val="D7EEEC"/>
            </a:solidFill>
            <a:prstDash val="solid"/>
          </a:ln>
        </p:spPr>
        <p:txBody>
          <a:bodyPr wrap="square" lIns="76200" tIns="76200" rIns="76200" bIns="76200" rtlCol="0" anchor="ctr"/>
          <a:lstStyle/>
          <a:p>
            <a:pPr algn="ctr" indent="0" marL="0">
              <a:buNone/>
            </a:pPr>
            <a:r>
              <a:rPr lang="en-US" sz="1700" b="1" dirty="0">
                <a:solidFill>
                  <a:srgbClr val="1F2A44"/>
                </a:solidFill>
                <a:latin typeface="Calibri" pitchFamily="34" charset="0"/>
                <a:ea typeface="Calibri" pitchFamily="34" charset="-122"/>
                <a:cs typeface="Calibri" pitchFamily="34" charset="-120"/>
              </a:rPr>
              <a:t>Task extraction</a:t>
            </a:r>
            <a:endParaRPr lang="en-US" sz="1700" dirty="0"/>
          </a:p>
        </p:txBody>
      </p:sp>
      <p:sp>
        <p:nvSpPr>
          <p:cNvPr id="5" name="Text 3"/>
          <p:cNvSpPr txBox="1"/>
          <p:nvPr/>
        </p:nvSpPr>
        <p:spPr>
          <a:xfrm>
            <a:off x="7132320" y="1600200"/>
            <a:ext cx="2377440" cy="914400"/>
          </a:xfrm>
          <a:prstGeom prst="roundRect">
            <a:avLst>
              <a:gd name="adj" fmla="val 12000"/>
            </a:avLst>
          </a:prstGeom>
          <a:solidFill>
            <a:srgbClr val="0F7C7A"/>
          </a:solidFill>
          <a:ln w="12700">
            <a:solidFill>
              <a:srgbClr val="0F7C7A"/>
            </a:solidFill>
            <a:prstDash val="solid"/>
          </a:ln>
        </p:spPr>
        <p:txBody>
          <a:bodyPr wrap="square" lIns="76200" tIns="76200" rIns="76200" bIns="762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O*NET</a:t>
            </a:r>
            <a:endParaRPr lang="en-US" sz="1700" dirty="0"/>
          </a:p>
          <a:p>
            <a:pPr algn="ctr" indent="0" marL="0">
              <a:buNone/>
            </a:pPr>
            <a:r>
              <a:rPr lang="en-US" sz="1200" b="1" dirty="0">
                <a:solidFill>
                  <a:srgbClr val="FFFFFF"/>
                </a:solidFill>
                <a:latin typeface="Calibri" pitchFamily="34" charset="0"/>
                <a:ea typeface="Calibri" pitchFamily="34" charset="-122"/>
                <a:cs typeface="Calibri" pitchFamily="34" charset="-120"/>
              </a:rPr>
              <a:t>task IDs · SOC codes</a:t>
            </a:r>
            <a:endParaRPr lang="en-US" sz="1700" dirty="0"/>
          </a:p>
        </p:txBody>
      </p:sp>
      <p:sp>
        <p:nvSpPr>
          <p:cNvPr id="6" name="Text 4"/>
          <p:cNvSpPr txBox="1"/>
          <p:nvPr/>
        </p:nvSpPr>
        <p:spPr>
          <a:xfrm>
            <a:off x="3657600" y="4434840"/>
            <a:ext cx="2651760" cy="914400"/>
          </a:xfrm>
          <a:prstGeom prst="roundRect">
            <a:avLst>
              <a:gd name="adj" fmla="val 12000"/>
            </a:avLst>
          </a:prstGeom>
          <a:solidFill>
            <a:srgbClr val="FBEBD2"/>
          </a:solidFill>
          <a:ln w="12700">
            <a:solidFill>
              <a:srgbClr val="FBEBD2"/>
            </a:solidFill>
            <a:prstDash val="solid"/>
          </a:ln>
        </p:spPr>
        <p:txBody>
          <a:bodyPr wrap="square" lIns="76200" tIns="76200" rIns="76200" bIns="76200" rtlCol="0" anchor="ctr"/>
          <a:lstStyle/>
          <a:p>
            <a:pPr algn="ctr" indent="0" marL="0">
              <a:buNone/>
            </a:pPr>
            <a:r>
              <a:rPr lang="en-US" sz="1700" b="1" dirty="0">
                <a:solidFill>
                  <a:srgbClr val="1F2A44"/>
                </a:solidFill>
                <a:latin typeface="Calibri" pitchFamily="34" charset="0"/>
                <a:ea typeface="Calibri" pitchFamily="34" charset="-122"/>
                <a:cs typeface="Calibri" pitchFamily="34" charset="-120"/>
              </a:rPr>
              <a:t>Skill extraction</a:t>
            </a:r>
            <a:endParaRPr lang="en-US" sz="1700" dirty="0"/>
          </a:p>
          <a:p>
            <a:pPr algn="ctr" indent="0" marL="0">
              <a:buNone/>
            </a:pPr>
            <a:r>
              <a:rPr lang="en-US" sz="1200" b="1" dirty="0">
                <a:solidFill>
                  <a:srgbClr val="1F2A44"/>
                </a:solidFill>
                <a:latin typeface="Calibri" pitchFamily="34" charset="0"/>
                <a:ea typeface="Calibri" pitchFamily="34" charset="-122"/>
                <a:cs typeface="Calibri" pitchFamily="34" charset="-120"/>
              </a:rPr>
              <a:t>skill team</a:t>
            </a:r>
            <a:endParaRPr lang="en-US" sz="1700" dirty="0"/>
          </a:p>
        </p:txBody>
      </p:sp>
      <p:sp>
        <p:nvSpPr>
          <p:cNvPr id="7" name="Text 5"/>
          <p:cNvSpPr txBox="1"/>
          <p:nvPr/>
        </p:nvSpPr>
        <p:spPr>
          <a:xfrm>
            <a:off x="7132320" y="4434840"/>
            <a:ext cx="2377440" cy="914400"/>
          </a:xfrm>
          <a:prstGeom prst="roundRect">
            <a:avLst>
              <a:gd name="adj" fmla="val 12000"/>
            </a:avLst>
          </a:prstGeom>
          <a:solidFill>
            <a:srgbClr val="E39B2D"/>
          </a:solidFill>
          <a:ln w="12700">
            <a:solidFill>
              <a:srgbClr val="E39B2D"/>
            </a:solidFill>
            <a:prstDash val="solid"/>
          </a:ln>
        </p:spPr>
        <p:txBody>
          <a:bodyPr wrap="square" lIns="76200" tIns="76200" rIns="76200" bIns="76200" rtlCol="0" anchor="ctr"/>
          <a:lstStyle/>
          <a:p>
            <a:pPr algn="ctr" indent="0" marL="0">
              <a:buNone/>
            </a:pPr>
            <a:r>
              <a:rPr lang="en-US" sz="1700" b="1" dirty="0">
                <a:solidFill>
                  <a:srgbClr val="1F2A44"/>
                </a:solidFill>
                <a:latin typeface="Calibri" pitchFamily="34" charset="0"/>
                <a:ea typeface="Calibri" pitchFamily="34" charset="-122"/>
                <a:cs typeface="Calibri" pitchFamily="34" charset="-120"/>
              </a:rPr>
              <a:t>ESCO</a:t>
            </a:r>
            <a:endParaRPr lang="en-US" sz="1700" dirty="0"/>
          </a:p>
          <a:p>
            <a:pPr algn="ctr" indent="0" marL="0">
              <a:buNone/>
            </a:pPr>
            <a:r>
              <a:rPr lang="en-US" sz="1200" b="1" dirty="0">
                <a:solidFill>
                  <a:srgbClr val="1F2A44"/>
                </a:solidFill>
                <a:latin typeface="Calibri" pitchFamily="34" charset="0"/>
                <a:ea typeface="Calibri" pitchFamily="34" charset="-122"/>
                <a:cs typeface="Calibri" pitchFamily="34" charset="-120"/>
              </a:rPr>
              <a:t>concept URIs</a:t>
            </a:r>
            <a:endParaRPr lang="en-US" sz="1700" dirty="0"/>
          </a:p>
        </p:txBody>
      </p:sp>
      <p:sp>
        <p:nvSpPr>
          <p:cNvPr id="8" name="Text 6"/>
          <p:cNvSpPr txBox="1"/>
          <p:nvPr/>
        </p:nvSpPr>
        <p:spPr>
          <a:xfrm>
            <a:off x="10058400" y="2788920"/>
            <a:ext cx="1600200" cy="1371600"/>
          </a:xfrm>
          <a:prstGeom prst="roundRect">
            <a:avLst>
              <a:gd name="adj" fmla="val 8000"/>
            </a:avLst>
          </a:prstGeom>
          <a:solidFill>
            <a:srgbClr val="F1F3F6"/>
          </a:solidFill>
          <a:ln w="12700">
            <a:solidFill>
              <a:srgbClr val="8A94A6"/>
            </a:solidFill>
            <a:prstDash val="dash"/>
          </a:ln>
        </p:spPr>
        <p:txBody>
          <a:bodyPr wrap="square" lIns="76200" tIns="76200" rIns="76200" bIns="76200" rtlCol="0" anchor="ctr"/>
          <a:lstStyle/>
          <a:p>
            <a:pPr algn="ctr" indent="0" marL="0">
              <a:buNone/>
            </a:pPr>
            <a:r>
              <a:rPr lang="en-US" sz="1700" b="1" dirty="0">
                <a:solidFill>
                  <a:srgbClr val="1F2A44"/>
                </a:solidFill>
                <a:latin typeface="Calibri" pitchFamily="34" charset="0"/>
                <a:ea typeface="Calibri" pitchFamily="34" charset="-122"/>
                <a:cs typeface="Calibri" pitchFamily="34" charset="-120"/>
              </a:rPr>
              <a:t>Sprint 5</a:t>
            </a:r>
            <a:endParaRPr lang="en-US" sz="1700" dirty="0"/>
          </a:p>
          <a:p>
            <a:pPr algn="ctr" indent="0" marL="0">
              <a:buNone/>
            </a:pPr>
            <a:r>
              <a:rPr lang="en-US" sz="1300" b="1" dirty="0">
                <a:solidFill>
                  <a:srgbClr val="1F2A44"/>
                </a:solidFill>
                <a:latin typeface="Calibri" pitchFamily="34" charset="0"/>
                <a:ea typeface="Calibri" pitchFamily="34" charset="-122"/>
                <a:cs typeface="Calibri" pitchFamily="34" charset="-120"/>
              </a:rPr>
              <a:t>task–skill map</a:t>
            </a:r>
            <a:endParaRPr lang="en-US" sz="1700" dirty="0"/>
          </a:p>
        </p:txBody>
      </p:sp>
      <p:sp>
        <p:nvSpPr>
          <p:cNvPr id="9" name="Shape 7"/>
          <p:cNvSpPr/>
          <p:nvPr/>
        </p:nvSpPr>
        <p:spPr>
          <a:xfrm flipV="1">
            <a:off x="2880360" y="2057400"/>
            <a:ext cx="731520" cy="1143000"/>
          </a:xfrm>
          <a:prstGeom prst="line">
            <a:avLst/>
          </a:prstGeom>
          <a:noFill/>
          <a:ln w="28575">
            <a:solidFill>
              <a:srgbClr val="0F7C7A"/>
            </a:solidFill>
            <a:prstDash val="solid"/>
            <a:tailEnd type="triangle"/>
          </a:ln>
        </p:spPr>
      </p:sp>
      <p:sp>
        <p:nvSpPr>
          <p:cNvPr id="10" name="Shape 8"/>
          <p:cNvSpPr/>
          <p:nvPr/>
        </p:nvSpPr>
        <p:spPr>
          <a:xfrm>
            <a:off x="2880360" y="3749040"/>
            <a:ext cx="731520" cy="1143000"/>
          </a:xfrm>
          <a:prstGeom prst="line">
            <a:avLst/>
          </a:prstGeom>
          <a:noFill/>
          <a:ln w="28575">
            <a:solidFill>
              <a:srgbClr val="E39B2D"/>
            </a:solidFill>
            <a:prstDash val="solid"/>
            <a:tailEnd type="triangle"/>
          </a:ln>
        </p:spPr>
      </p:sp>
      <p:sp>
        <p:nvSpPr>
          <p:cNvPr id="11" name="Shape 9"/>
          <p:cNvSpPr/>
          <p:nvPr/>
        </p:nvSpPr>
        <p:spPr>
          <a:xfrm>
            <a:off x="6355080" y="2057400"/>
            <a:ext cx="731520" cy="0"/>
          </a:xfrm>
          <a:prstGeom prst="line">
            <a:avLst/>
          </a:prstGeom>
          <a:noFill/>
          <a:ln w="28575">
            <a:solidFill>
              <a:srgbClr val="0F7C7A"/>
            </a:solidFill>
            <a:prstDash val="solid"/>
            <a:tailEnd type="triangle"/>
          </a:ln>
        </p:spPr>
      </p:sp>
      <p:sp>
        <p:nvSpPr>
          <p:cNvPr id="12" name="Shape 10"/>
          <p:cNvSpPr/>
          <p:nvPr/>
        </p:nvSpPr>
        <p:spPr>
          <a:xfrm>
            <a:off x="6355080" y="4892040"/>
            <a:ext cx="731520" cy="0"/>
          </a:xfrm>
          <a:prstGeom prst="line">
            <a:avLst/>
          </a:prstGeom>
          <a:noFill/>
          <a:ln w="28575">
            <a:solidFill>
              <a:srgbClr val="E39B2D"/>
            </a:solidFill>
            <a:prstDash val="solid"/>
            <a:tailEnd type="triangle"/>
          </a:ln>
        </p:spPr>
      </p:sp>
      <p:sp>
        <p:nvSpPr>
          <p:cNvPr id="13" name="Shape 11"/>
          <p:cNvSpPr/>
          <p:nvPr/>
        </p:nvSpPr>
        <p:spPr>
          <a:xfrm>
            <a:off x="9555480" y="2194560"/>
            <a:ext cx="457200" cy="868680"/>
          </a:xfrm>
          <a:prstGeom prst="line">
            <a:avLst/>
          </a:prstGeom>
          <a:noFill/>
          <a:ln w="28575">
            <a:solidFill>
              <a:srgbClr val="8A94A6"/>
            </a:solidFill>
            <a:prstDash val="dash"/>
            <a:tailEnd type="triangle"/>
          </a:ln>
        </p:spPr>
      </p:sp>
      <p:sp>
        <p:nvSpPr>
          <p:cNvPr id="14" name="Shape 12"/>
          <p:cNvSpPr/>
          <p:nvPr/>
        </p:nvSpPr>
        <p:spPr>
          <a:xfrm flipV="1">
            <a:off x="9555480" y="3886200"/>
            <a:ext cx="457200" cy="868680"/>
          </a:xfrm>
          <a:prstGeom prst="line">
            <a:avLst/>
          </a:prstGeom>
          <a:noFill/>
          <a:ln w="28575">
            <a:solidFill>
              <a:srgbClr val="8A94A6"/>
            </a:solidFill>
            <a:prstDash val="dash"/>
            <a:tailEnd type="triangle"/>
          </a:ln>
        </p:spPr>
      </p:sp>
      <p:sp>
        <p:nvSpPr>
          <p:cNvPr id="15" name="Text 13"/>
          <p:cNvSpPr txBox="1"/>
          <p:nvPr/>
        </p:nvSpPr>
        <p:spPr>
          <a:xfrm>
            <a:off x="5486400" y="3200400"/>
            <a:ext cx="4480560" cy="548640"/>
          </a:xfrm>
          <a:prstGeom prst="rect">
            <a:avLst/>
          </a:prstGeom>
          <a:noFill/>
          <a:ln/>
        </p:spPr>
        <p:txBody>
          <a:bodyPr wrap="square" lIns="0" tIns="0" rIns="0" bIns="0" rtlCol="0" anchor="ctr"/>
          <a:lstStyle/>
          <a:p>
            <a:pPr algn="ctr" indent="0" marL="0">
              <a:buNone/>
            </a:pPr>
            <a:r>
              <a:rPr lang="en-US" sz="1400" b="1" dirty="0">
                <a:solidFill>
                  <a:srgbClr val="B8433A"/>
                </a:solidFill>
                <a:latin typeface="Calibri" pitchFamily="34" charset="0"/>
                <a:ea typeface="Calibri" pitchFamily="34" charset="-122"/>
                <a:cs typeface="Calibri" pitchFamily="34" charset="-120"/>
              </a:rPr>
              <a:t>No shared native ID between O*NET and ESCO</a:t>
            </a:r>
            <a:endParaRPr lang="en-US" sz="1400" dirty="0"/>
          </a:p>
        </p:txBody>
      </p:sp>
      <p:sp>
        <p:nvSpPr>
          <p:cNvPr id="16" name="Text 14"/>
          <p:cNvSpPr txBox="1"/>
          <p:nvPr/>
        </p:nvSpPr>
        <p:spPr>
          <a:xfrm>
            <a:off x="10012680" y="4297680"/>
            <a:ext cx="1691640" cy="548640"/>
          </a:xfrm>
          <a:prstGeom prst="rect">
            <a:avLst/>
          </a:prstGeom>
          <a:noFill/>
          <a:ln/>
        </p:spPr>
        <p:txBody>
          <a:bodyPr wrap="square" lIns="0" tIns="0" rIns="0" bIns="0" rtlCol="0" anchor="t"/>
          <a:lstStyle/>
          <a:p>
            <a:pPr algn="ctr" indent="0" marL="0">
              <a:buNone/>
            </a:pPr>
            <a:r>
              <a:rPr lang="en-US" sz="1100" i="1" dirty="0">
                <a:solidFill>
                  <a:srgbClr val="5B6577"/>
                </a:solidFill>
                <a:latin typeface="Calibri" pitchFamily="34" charset="0"/>
                <a:ea typeface="Calibri" pitchFamily="34" charset="-122"/>
                <a:cs typeface="Calibri" pitchFamily="34" charset="-120"/>
              </a:rPr>
              <a:t>Joined through shared posting evidence</a:t>
            </a:r>
            <a:endParaRPr lang="en-US" sz="1100" dirty="0"/>
          </a:p>
        </p:txBody>
      </p:sp>
      <p:sp>
        <p:nvSpPr>
          <p:cNvPr id="17" name="Text 15"/>
          <p:cNvSpPr txBox="1"/>
          <p:nvPr/>
        </p:nvSpPr>
        <p:spPr>
          <a:xfrm>
            <a:off x="548640" y="5897880"/>
            <a:ext cx="7315200" cy="320040"/>
          </a:xfrm>
          <a:prstGeom prst="rect">
            <a:avLst/>
          </a:prstGeom>
          <a:noFill/>
          <a:ln/>
        </p:spPr>
        <p:txBody>
          <a:bodyPr wrap="square" lIns="0" tIns="0" rIns="0" bIns="0" rtlCol="0" anchor="t"/>
          <a:lstStyle/>
          <a:p>
            <a:pPr algn="l" indent="0" marL="0">
              <a:buNone/>
            </a:pPr>
            <a:r>
              <a:rPr lang="en-US" sz="1200" dirty="0">
                <a:solidFill>
                  <a:srgbClr val="5B6577"/>
                </a:solidFill>
                <a:latin typeface="Calibri" pitchFamily="34" charset="0"/>
                <a:ea typeface="Calibri" pitchFamily="34" charset="-122"/>
                <a:cs typeface="Calibri" pitchFamily="34" charset="-120"/>
              </a:rPr>
              <a:t>Solid = built / in progress    Dashed = later sprint</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happens next</a:t>
            </a:r>
            <a:endParaRPr lang="en-US" sz="3800" dirty="0"/>
          </a:p>
        </p:txBody>
      </p:sp>
      <p:sp>
        <p:nvSpPr>
          <p:cNvPr id="3" name="Text 1"/>
          <p:cNvSpPr txBox="1"/>
          <p:nvPr/>
        </p:nvSpPr>
        <p:spPr>
          <a:xfrm>
            <a:off x="548640" y="1691640"/>
            <a:ext cx="2468880" cy="1325880"/>
          </a:xfrm>
          <a:prstGeom prst="roundRect">
            <a:avLst>
              <a:gd name="adj" fmla="val 8276"/>
            </a:avLst>
          </a:prstGeom>
          <a:solidFill>
            <a:srgbClr val="0F7C7A"/>
          </a:solidFill>
          <a:ln w="12700">
            <a:solidFill>
              <a:srgbClr val="0F7C7A"/>
            </a:solidFill>
            <a:prstDash val="solid"/>
          </a:ln>
        </p:spPr>
        <p:txBody>
          <a:bodyPr wrap="square" lIns="76200" tIns="76200" rIns="76200" bIns="762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100 human labels</a:t>
            </a:r>
            <a:endParaRPr lang="en-US" sz="1700" dirty="0"/>
          </a:p>
          <a:p>
            <a:pPr algn="ctr" indent="0" marL="0">
              <a:buNone/>
            </a:pPr>
            <a:r>
              <a:rPr lang="en-US" sz="1200" b="1" dirty="0">
                <a:solidFill>
                  <a:srgbClr val="FFFFFF"/>
                </a:solidFill>
                <a:latin typeface="Calibri" pitchFamily="34" charset="0"/>
                <a:ea typeface="Calibri" pitchFamily="34" charset="-122"/>
                <a:cs typeface="Calibri" pitchFamily="34" charset="-120"/>
              </a:rPr>
              <a:t>+ 20-posting blind audit</a:t>
            </a:r>
            <a:endParaRPr lang="en-US" sz="1700" dirty="0"/>
          </a:p>
        </p:txBody>
      </p:sp>
      <p:sp>
        <p:nvSpPr>
          <p:cNvPr id="4" name="Shape 2"/>
          <p:cNvSpPr/>
          <p:nvPr/>
        </p:nvSpPr>
        <p:spPr>
          <a:xfrm>
            <a:off x="3063240" y="2354580"/>
            <a:ext cx="274320" cy="0"/>
          </a:xfrm>
          <a:prstGeom prst="line">
            <a:avLst/>
          </a:prstGeom>
          <a:noFill/>
          <a:ln w="28575">
            <a:solidFill>
              <a:srgbClr val="AEB6C6"/>
            </a:solidFill>
            <a:prstDash val="solid"/>
            <a:tailEnd type="triangle"/>
          </a:ln>
        </p:spPr>
      </p:sp>
      <p:sp>
        <p:nvSpPr>
          <p:cNvPr id="5" name="Text 3"/>
          <p:cNvSpPr txBox="1"/>
          <p:nvPr/>
        </p:nvSpPr>
        <p:spPr>
          <a:xfrm>
            <a:off x="3383280" y="1691640"/>
            <a:ext cx="2468880" cy="1325880"/>
          </a:xfrm>
          <a:prstGeom prst="roundRect">
            <a:avLst>
              <a:gd name="adj" fmla="val 8276"/>
            </a:avLst>
          </a:prstGeom>
          <a:solidFill>
            <a:srgbClr val="0F7C7A"/>
          </a:solidFill>
          <a:ln w="12700">
            <a:solidFill>
              <a:srgbClr val="0F7C7A"/>
            </a:solidFill>
            <a:prstDash val="solid"/>
          </a:ln>
        </p:spPr>
        <p:txBody>
          <a:bodyPr wrap="square" lIns="76200" tIns="76200" rIns="76200" bIns="762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Precision / recall / F1</a:t>
            </a:r>
            <a:endParaRPr lang="en-US" sz="1700" dirty="0"/>
          </a:p>
          <a:p>
            <a:pPr algn="ctr" indent="0" marL="0">
              <a:buNone/>
            </a:pPr>
            <a:r>
              <a:rPr lang="en-US" sz="1200" b="1" dirty="0">
                <a:solidFill>
                  <a:srgbClr val="FFFFFF"/>
                </a:solidFill>
                <a:latin typeface="Calibri" pitchFamily="34" charset="0"/>
                <a:ea typeface="Calibri" pitchFamily="34" charset="-122"/>
                <a:cs typeface="Calibri" pitchFamily="34" charset="-120"/>
              </a:rPr>
              <a:t>validate · agreement · evaluate</a:t>
            </a:r>
            <a:endParaRPr lang="en-US" sz="1700" dirty="0"/>
          </a:p>
        </p:txBody>
      </p:sp>
      <p:sp>
        <p:nvSpPr>
          <p:cNvPr id="6" name="Shape 4"/>
          <p:cNvSpPr/>
          <p:nvPr/>
        </p:nvSpPr>
        <p:spPr>
          <a:xfrm>
            <a:off x="5897880" y="2354580"/>
            <a:ext cx="274320" cy="0"/>
          </a:xfrm>
          <a:prstGeom prst="line">
            <a:avLst/>
          </a:prstGeom>
          <a:noFill/>
          <a:ln w="28575">
            <a:solidFill>
              <a:srgbClr val="AEB6C6"/>
            </a:solidFill>
            <a:prstDash val="solid"/>
            <a:tailEnd type="triangle"/>
          </a:ln>
        </p:spPr>
      </p:sp>
      <p:sp>
        <p:nvSpPr>
          <p:cNvPr id="7" name="Text 5"/>
          <p:cNvSpPr txBox="1"/>
          <p:nvPr/>
        </p:nvSpPr>
        <p:spPr>
          <a:xfrm>
            <a:off x="6217920" y="1691640"/>
            <a:ext cx="2468880" cy="1325880"/>
          </a:xfrm>
          <a:prstGeom prst="roundRect">
            <a:avLst>
              <a:gd name="adj" fmla="val 8276"/>
            </a:avLst>
          </a:prstGeom>
          <a:solidFill>
            <a:srgbClr val="0F7C7A"/>
          </a:solidFill>
          <a:ln w="12700">
            <a:solidFill>
              <a:srgbClr val="0F7C7A"/>
            </a:solidFill>
            <a:prstDash val="solid"/>
          </a:ln>
        </p:spPr>
        <p:txBody>
          <a:bodyPr wrap="square" lIns="76200" tIns="76200" rIns="76200" bIns="762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Error analysis</a:t>
            </a:r>
            <a:endParaRPr lang="en-US" sz="1700" dirty="0"/>
          </a:p>
          <a:p>
            <a:pPr algn="ctr" indent="0" marL="0">
              <a:buNone/>
            </a:pPr>
            <a:r>
              <a:rPr lang="en-US" sz="1200" b="1" dirty="0">
                <a:solidFill>
                  <a:srgbClr val="FFFFFF"/>
                </a:solidFill>
                <a:latin typeface="Calibri" pitchFamily="34" charset="0"/>
                <a:ea typeface="Calibri" pitchFamily="34" charset="-122"/>
                <a:cs typeface="Calibri" pitchFamily="34" charset="-120"/>
              </a:rPr>
              <a:t>quality report · update this deck</a:t>
            </a:r>
            <a:endParaRPr lang="en-US" sz="1700" dirty="0"/>
          </a:p>
        </p:txBody>
      </p:sp>
      <p:sp>
        <p:nvSpPr>
          <p:cNvPr id="8" name="Shape 6"/>
          <p:cNvSpPr/>
          <p:nvPr/>
        </p:nvSpPr>
        <p:spPr>
          <a:xfrm>
            <a:off x="8732520" y="2354580"/>
            <a:ext cx="274320" cy="0"/>
          </a:xfrm>
          <a:prstGeom prst="line">
            <a:avLst/>
          </a:prstGeom>
          <a:noFill/>
          <a:ln w="28575">
            <a:solidFill>
              <a:srgbClr val="AEB6C6"/>
            </a:solidFill>
            <a:prstDash val="solid"/>
            <a:tailEnd type="triangle"/>
          </a:ln>
        </p:spPr>
      </p:sp>
      <p:sp>
        <p:nvSpPr>
          <p:cNvPr id="9" name="Text 7"/>
          <p:cNvSpPr txBox="1"/>
          <p:nvPr/>
        </p:nvSpPr>
        <p:spPr>
          <a:xfrm>
            <a:off x="9052560" y="1691640"/>
            <a:ext cx="2468880" cy="1325880"/>
          </a:xfrm>
          <a:prstGeom prst="roundRect">
            <a:avLst>
              <a:gd name="adj" fmla="val 8276"/>
            </a:avLst>
          </a:prstGeom>
          <a:solidFill>
            <a:srgbClr val="2E3B5C"/>
          </a:solidFill>
          <a:ln w="12700">
            <a:solidFill>
              <a:srgbClr val="AEB6C6"/>
            </a:solidFill>
            <a:prstDash val="dash"/>
          </a:ln>
        </p:spPr>
        <p:txBody>
          <a:bodyPr wrap="square" lIns="76200" tIns="76200" rIns="76200" bIns="762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Sprint 3</a:t>
            </a:r>
            <a:endParaRPr lang="en-US" sz="1700" dirty="0"/>
          </a:p>
          <a:p>
            <a:pPr algn="ctr" indent="0" marL="0">
              <a:buNone/>
            </a:pPr>
            <a:r>
              <a:rPr lang="en-US" sz="1200" b="1" dirty="0">
                <a:solidFill>
                  <a:srgbClr val="FFFFFF"/>
                </a:solidFill>
                <a:latin typeface="Calibri" pitchFamily="34" charset="0"/>
                <a:ea typeface="Calibri" pitchFamily="34" charset="-122"/>
                <a:cs typeface="Calibri" pitchFamily="34" charset="-120"/>
              </a:rPr>
              <a:t>embeddings + clustering</a:t>
            </a:r>
            <a:endParaRPr lang="en-US" sz="1700" dirty="0"/>
          </a:p>
        </p:txBody>
      </p:sp>
      <p:sp>
        <p:nvSpPr>
          <p:cNvPr id="10" name="Text 8"/>
          <p:cNvSpPr txBox="1"/>
          <p:nvPr/>
        </p:nvSpPr>
        <p:spPr>
          <a:xfrm>
            <a:off x="548640" y="3520440"/>
            <a:ext cx="3429000" cy="1188720"/>
          </a:xfrm>
          <a:prstGeom prst="roundRect">
            <a:avLst>
              <a:gd name="adj" fmla="val 9231"/>
            </a:avLst>
          </a:prstGeom>
          <a:solidFill>
            <a:srgbClr val="1F2A44"/>
          </a:solidFill>
          <a:ln w="19050">
            <a:solidFill>
              <a:srgbClr val="E39B2D"/>
            </a:solidFill>
            <a:prstDash val="dash"/>
          </a:ln>
        </p:spPr>
        <p:txBody>
          <a:bodyPr wrap="square" lIns="76200" tIns="76200" rIns="76200" bIns="76200" rtlCol="0" anchor="ctr"/>
          <a:lstStyle/>
          <a:p>
            <a:pPr algn="ctr" indent="0" marL="0">
              <a:buNone/>
            </a:pPr>
            <a:r>
              <a:rPr lang="en-US" sz="2200" b="1" dirty="0">
                <a:solidFill>
                  <a:srgbClr val="E39B2D"/>
                </a:solidFill>
                <a:latin typeface="Calibri" pitchFamily="34" charset="0"/>
                <a:ea typeface="Calibri" pitchFamily="34" charset="-122"/>
                <a:cs typeface="Calibri" pitchFamily="34" charset="-120"/>
              </a:rPr>
              <a:t>Precision</a:t>
            </a:r>
            <a:endParaRPr lang="en-US" sz="1600" dirty="0"/>
          </a:p>
          <a:p>
            <a:pPr algn="ctr" indent="0" marL="0">
              <a:buNone/>
            </a:pPr>
            <a:r>
              <a:rPr lang="en-US" sz="1500" b="1" i="1" dirty="0">
                <a:solidFill>
                  <a:srgbClr val="E39B2D"/>
                </a:solidFill>
                <a:latin typeface="Calibri" pitchFamily="34" charset="0"/>
                <a:ea typeface="Calibri" pitchFamily="34" charset="-122"/>
                <a:cs typeface="Calibri" pitchFamily="34" charset="-120"/>
              </a:rPr>
              <a:t>pending human labels</a:t>
            </a:r>
            <a:endParaRPr lang="en-US" sz="1600" dirty="0"/>
          </a:p>
        </p:txBody>
      </p:sp>
      <p:sp>
        <p:nvSpPr>
          <p:cNvPr id="11" name="Text 9"/>
          <p:cNvSpPr txBox="1"/>
          <p:nvPr/>
        </p:nvSpPr>
        <p:spPr>
          <a:xfrm>
            <a:off x="4297680" y="3520440"/>
            <a:ext cx="3429000" cy="1188720"/>
          </a:xfrm>
          <a:prstGeom prst="roundRect">
            <a:avLst>
              <a:gd name="adj" fmla="val 9231"/>
            </a:avLst>
          </a:prstGeom>
          <a:solidFill>
            <a:srgbClr val="1F2A44"/>
          </a:solidFill>
          <a:ln w="19050">
            <a:solidFill>
              <a:srgbClr val="E39B2D"/>
            </a:solidFill>
            <a:prstDash val="dash"/>
          </a:ln>
        </p:spPr>
        <p:txBody>
          <a:bodyPr wrap="square" lIns="76200" tIns="76200" rIns="76200" bIns="76200" rtlCol="0" anchor="ctr"/>
          <a:lstStyle/>
          <a:p>
            <a:pPr algn="ctr" indent="0" marL="0">
              <a:buNone/>
            </a:pPr>
            <a:r>
              <a:rPr lang="en-US" sz="2200" b="1" dirty="0">
                <a:solidFill>
                  <a:srgbClr val="E39B2D"/>
                </a:solidFill>
                <a:latin typeface="Calibri" pitchFamily="34" charset="0"/>
                <a:ea typeface="Calibri" pitchFamily="34" charset="-122"/>
                <a:cs typeface="Calibri" pitchFamily="34" charset="-120"/>
              </a:rPr>
              <a:t>Recall</a:t>
            </a:r>
            <a:endParaRPr lang="en-US" sz="1600" dirty="0"/>
          </a:p>
          <a:p>
            <a:pPr algn="ctr" indent="0" marL="0">
              <a:buNone/>
            </a:pPr>
            <a:r>
              <a:rPr lang="en-US" sz="1500" b="1" i="1" dirty="0">
                <a:solidFill>
                  <a:srgbClr val="E39B2D"/>
                </a:solidFill>
                <a:latin typeface="Calibri" pitchFamily="34" charset="0"/>
                <a:ea typeface="Calibri" pitchFamily="34" charset="-122"/>
                <a:cs typeface="Calibri" pitchFamily="34" charset="-120"/>
              </a:rPr>
              <a:t>pending human labels</a:t>
            </a:r>
            <a:endParaRPr lang="en-US" sz="1600" dirty="0"/>
          </a:p>
        </p:txBody>
      </p:sp>
      <p:sp>
        <p:nvSpPr>
          <p:cNvPr id="12" name="Text 10"/>
          <p:cNvSpPr txBox="1"/>
          <p:nvPr/>
        </p:nvSpPr>
        <p:spPr>
          <a:xfrm>
            <a:off x="8046720" y="3520440"/>
            <a:ext cx="3429000" cy="1188720"/>
          </a:xfrm>
          <a:prstGeom prst="roundRect">
            <a:avLst>
              <a:gd name="adj" fmla="val 9231"/>
            </a:avLst>
          </a:prstGeom>
          <a:solidFill>
            <a:srgbClr val="1F2A44"/>
          </a:solidFill>
          <a:ln w="19050">
            <a:solidFill>
              <a:srgbClr val="E39B2D"/>
            </a:solidFill>
            <a:prstDash val="dash"/>
          </a:ln>
        </p:spPr>
        <p:txBody>
          <a:bodyPr wrap="square" lIns="76200" tIns="76200" rIns="76200" bIns="76200" rtlCol="0" anchor="ctr"/>
          <a:lstStyle/>
          <a:p>
            <a:pPr algn="ctr" indent="0" marL="0">
              <a:buNone/>
            </a:pPr>
            <a:r>
              <a:rPr lang="en-US" sz="2200" b="1" dirty="0">
                <a:solidFill>
                  <a:srgbClr val="E39B2D"/>
                </a:solidFill>
                <a:latin typeface="Calibri" pitchFamily="34" charset="0"/>
                <a:ea typeface="Calibri" pitchFamily="34" charset="-122"/>
                <a:cs typeface="Calibri" pitchFamily="34" charset="-120"/>
              </a:rPr>
              <a:t>F1</a:t>
            </a:r>
            <a:endParaRPr lang="en-US" sz="1600" dirty="0"/>
          </a:p>
          <a:p>
            <a:pPr algn="ctr" indent="0" marL="0">
              <a:buNone/>
            </a:pPr>
            <a:r>
              <a:rPr lang="en-US" sz="1500" b="1" i="1" dirty="0">
                <a:solidFill>
                  <a:srgbClr val="E39B2D"/>
                </a:solidFill>
                <a:latin typeface="Calibri" pitchFamily="34" charset="0"/>
                <a:ea typeface="Calibri" pitchFamily="34" charset="-122"/>
                <a:cs typeface="Calibri" pitchFamily="34" charset="-120"/>
              </a:rPr>
              <a:t>pending human labels</a:t>
            </a:r>
            <a:endParaRPr lang="en-US" sz="1600" dirty="0"/>
          </a:p>
        </p:txBody>
      </p:sp>
      <p:sp>
        <p:nvSpPr>
          <p:cNvPr id="13" name="Text 11"/>
          <p:cNvSpPr txBox="1"/>
          <p:nvPr/>
        </p:nvSpPr>
        <p:spPr>
          <a:xfrm>
            <a:off x="548640" y="5120640"/>
            <a:ext cx="11064240" cy="365760"/>
          </a:xfrm>
          <a:prstGeom prst="rect">
            <a:avLst/>
          </a:prstGeom>
          <a:noFill/>
          <a:ln/>
        </p:spPr>
        <p:txBody>
          <a:bodyPr wrap="square" lIns="0" tIns="0" rIns="0" bIns="0" rtlCol="0" anchor="t"/>
          <a:lstStyle/>
          <a:p>
            <a:pPr algn="l" indent="0" marL="0">
              <a:buNone/>
            </a:pPr>
            <a:r>
              <a:rPr lang="en-US" sz="1500" dirty="0">
                <a:solidFill>
                  <a:srgbClr val="FFFFFF"/>
                </a:solidFill>
                <a:latin typeface="Calibri" pitchFamily="34" charset="0"/>
                <a:ea typeface="Calibri" pitchFamily="34" charset="-122"/>
                <a:cs typeface="Calibri" pitchFamily="34" charset="-120"/>
              </a:rPr>
              <a:t>Before the meeting: teammate labels all 100 postings  ·  second annotator labels the 20 audit postings</a:t>
            </a:r>
            <a:endParaRPr lang="en-US" sz="1500" dirty="0"/>
          </a:p>
        </p:txBody>
      </p:sp>
      <p:sp>
        <p:nvSpPr>
          <p:cNvPr id="14" name="Text 12"/>
          <p:cNvSpPr txBox="1"/>
          <p:nvPr/>
        </p:nvSpPr>
        <p:spPr>
          <a:xfrm>
            <a:off x="548640" y="5577840"/>
            <a:ext cx="11064240" cy="365760"/>
          </a:xfrm>
          <a:prstGeom prst="rect">
            <a:avLst/>
          </a:prstGeom>
          <a:noFill/>
          <a:ln/>
        </p:spPr>
        <p:txBody>
          <a:bodyPr wrap="square" lIns="0" tIns="0" rIns="0" bIns="0" rtlCol="0" anchor="t"/>
          <a:lstStyle/>
          <a:p>
            <a:pPr algn="l" indent="0" marL="0">
              <a:buNone/>
            </a:pPr>
            <a:r>
              <a:rPr lang="en-US" sz="1300" dirty="0">
                <a:solidFill>
                  <a:srgbClr val="AEB6C6"/>
                </a:solidFill>
                <a:latin typeface="Calibri" pitchFamily="34" charset="0"/>
                <a:ea typeface="Calibri" pitchFamily="34" charset="-122"/>
                <a:cs typeface="Calibri" pitchFamily="34" charset="-120"/>
              </a:rPr>
              <a:t>Optional: Groq adjudication resumes after its daily quota resets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C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Sprint 2 - Task Extraction - Current Status</dc:title>
  <dc:subject>PptxGenJS Presentation</dc:subject>
  <dc:creator>IE7945 Taxonomy of Work team</dc:creator>
  <cp:lastModifiedBy>IE7945 Taxonomy of Work team</cp:lastModifiedBy>
  <cp:revision>1</cp:revision>
  <dcterms:created xsi:type="dcterms:W3CDTF">2026-10-08T21:55:28Z</dcterms:created>
  <dcterms:modified xsi:type="dcterms:W3CDTF">2026-10-08T21:55:28Z</dcterms:modified>
</cp:coreProperties>
</file>